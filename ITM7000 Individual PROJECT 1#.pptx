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35"/>
  </p:notesMasterIdLst>
  <p:handoutMasterIdLst>
    <p:handoutMasterId r:id="rId36"/>
  </p:handoutMasterIdLst>
  <p:sldIdLst>
    <p:sldId id="312" r:id="rId5"/>
    <p:sldId id="337" r:id="rId6"/>
    <p:sldId id="307" r:id="rId7"/>
    <p:sldId id="282" r:id="rId8"/>
    <p:sldId id="326" r:id="rId9"/>
    <p:sldId id="328" r:id="rId10"/>
    <p:sldId id="331" r:id="rId11"/>
    <p:sldId id="323" r:id="rId12"/>
    <p:sldId id="324" r:id="rId13"/>
    <p:sldId id="304" r:id="rId14"/>
    <p:sldId id="325" r:id="rId15"/>
    <p:sldId id="327" r:id="rId16"/>
    <p:sldId id="332" r:id="rId17"/>
    <p:sldId id="333" r:id="rId18"/>
    <p:sldId id="329" r:id="rId19"/>
    <p:sldId id="334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315" r:id="rId29"/>
    <p:sldId id="335" r:id="rId30"/>
    <p:sldId id="336" r:id="rId31"/>
    <p:sldId id="338" r:id="rId32"/>
    <p:sldId id="297" r:id="rId33"/>
    <p:sldId id="347" r:id="rId3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5388" autoAdjust="0"/>
  </p:normalViewPr>
  <p:slideViewPr>
    <p:cSldViewPr snapToGrid="0" snapToObjects="1">
      <p:cViewPr varScale="1">
        <p:scale>
          <a:sx n="101" d="100"/>
          <a:sy n="101" d="100"/>
        </p:scale>
        <p:origin x="127" y="51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9A32B-0D62-01F0-D4E9-9C1056D4F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72F8E-9EF5-F6A4-F3EB-EDFBC3FAC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0A0CC-5A18-2CF1-FD15-CC9040980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399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90C53-F8A6-A9DE-14A6-B565FDB95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4E624-8AB2-9F67-D865-B00D87F1A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CE7C0-81FA-8897-46C4-54CD2A96B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309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b="0" i="0" dirty="0">
                <a:effectLst/>
                <a:latin typeface="georgia" panose="02040502050405020303" pitchFamily="18" charset="0"/>
              </a:rPr>
              <a:t>ITM7000 </a:t>
            </a:r>
            <a:r>
              <a:rPr lang="en-US" altLang="zh-CN" b="0" i="0" dirty="0">
                <a:effectLst/>
                <a:latin typeface="georgia" panose="02040502050405020303" pitchFamily="18" charset="0"/>
              </a:rPr>
              <a:t>Master project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859B6-8E4B-6574-3D08-504C7AED16DB}"/>
              </a:ext>
            </a:extLst>
          </p:cNvPr>
          <p:cNvSpPr/>
          <p:nvPr/>
        </p:nvSpPr>
        <p:spPr>
          <a:xfrm>
            <a:off x="1524001" y="6547854"/>
            <a:ext cx="2470484" cy="304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Dr. Qizhen Gu (Kimi)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9C968-51CC-CD30-54E0-8D124E864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61569"/>
            <a:ext cx="6583680" cy="1531357"/>
          </a:xfrm>
        </p:spPr>
        <p:txBody>
          <a:bodyPr/>
          <a:lstStyle/>
          <a:p>
            <a:r>
              <a:rPr lang="en-US" dirty="0"/>
              <a:t>Dr. Qizhen </a:t>
            </a:r>
            <a:r>
              <a:rPr lang="en-US" dirty="0" err="1"/>
              <a:t>gu</a:t>
            </a:r>
            <a:r>
              <a:rPr lang="en-US" dirty="0"/>
              <a:t> (</a:t>
            </a:r>
            <a:r>
              <a:rPr lang="en-US" dirty="0" err="1"/>
              <a:t>kimi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D24A5-A5F1-A7F8-64C5-4F311C399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38935"/>
            <a:ext cx="6583680" cy="3207344"/>
          </a:xfrm>
        </p:spPr>
        <p:txBody>
          <a:bodyPr/>
          <a:lstStyle/>
          <a:p>
            <a:r>
              <a:rPr lang="en-US" dirty="0"/>
              <a:t>BBA-Major Marketing; Minor Management AU</a:t>
            </a:r>
          </a:p>
          <a:p>
            <a:r>
              <a:rPr lang="en-US" dirty="0"/>
              <a:t>MBA-AU; M.Sc.-TSM</a:t>
            </a:r>
          </a:p>
          <a:p>
            <a:r>
              <a:rPr lang="en-US" dirty="0"/>
              <a:t>Ph.D. Innovative Technology Management AU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D3F3B-87BC-339A-7BD0-5BA8AE52C5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B7019B-1237-3C18-A009-2CA9C7F70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854301"/>
              </p:ext>
            </p:extLst>
          </p:nvPr>
        </p:nvGraphicFramePr>
        <p:xfrm>
          <a:off x="914400" y="4180741"/>
          <a:ext cx="8128000" cy="2077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4947">
                  <a:extLst>
                    <a:ext uri="{9D8B030D-6E8A-4147-A177-3AD203B41FA5}">
                      <a16:colId xmlns:a16="http://schemas.microsoft.com/office/drawing/2014/main" val="1363190756"/>
                    </a:ext>
                  </a:extLst>
                </a:gridCol>
                <a:gridCol w="2433053">
                  <a:extLst>
                    <a:ext uri="{9D8B030D-6E8A-4147-A177-3AD203B41FA5}">
                      <a16:colId xmlns:a16="http://schemas.microsoft.com/office/drawing/2014/main" val="292429701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</a:rPr>
                        <a:t>Recent Publication</a:t>
                      </a:r>
                      <a:endParaRPr lang="en-US" sz="14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282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chemeClr val="tx1"/>
                          </a:solidFill>
                          <a:effectLst/>
                        </a:rPr>
                        <a:t>"Incorporating AI Literacy and AI Anxiety into TAM: Unraveling Chinese Scholars' Behavioral Intentions Toward Adopting AI-Assisted Literature Reading," in IEEE Access</a:t>
                      </a:r>
                      <a:endParaRPr 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SCI Q2</a:t>
                      </a:r>
                    </a:p>
                    <a:p>
                      <a:r>
                        <a:rPr lang="en-US" sz="11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SCOPUS Q1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814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Factors Impacting Satisfaction and Continuance Intention of MOOCs Learning among Medical Students in Chengdu, China. Local Administration 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TCI2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30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Factors Influencing User’s Continuance Intention Towards E-CNY Payment in Shanghai, China. International Journal of Sociologies and Anthropologies Science Reviews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dirty="0"/>
                        <a:t>TCI1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9606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1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 Game Players’ Behavioral Intention to Use Facial Recognition Login System in Shanghai, China. Scholar: Human Sciences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dirty="0"/>
                        <a:t>TCI1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377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019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How </a:t>
            </a:r>
            <a:r>
              <a:rPr lang="en-US" altLang="zh-CN" dirty="0"/>
              <a:t>do </a:t>
            </a:r>
            <a:r>
              <a:rPr lang="en-US"/>
              <a:t>we choose </a:t>
            </a:r>
            <a:r>
              <a:rPr lang="en-US" dirty="0"/>
              <a:t>our topic?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sz="3200" dirty="0"/>
              <a:t>selecting individual research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4006866"/>
          </a:xfrm>
        </p:spPr>
        <p:txBody>
          <a:bodyPr>
            <a:normAutofit/>
          </a:bodyPr>
          <a:lstStyle/>
          <a:p>
            <a:r>
              <a:rPr lang="en-US" dirty="0"/>
              <a:t>Step 1: Identify Personal Interest and Motivation</a:t>
            </a:r>
          </a:p>
          <a:p>
            <a:r>
              <a:rPr lang="en-US" dirty="0"/>
              <a:t>Step 2: Conduct a Preliminary Literature Scan</a:t>
            </a:r>
          </a:p>
          <a:p>
            <a:r>
              <a:rPr lang="en-US" dirty="0"/>
              <a:t>Step 3: Define the Scope Clearly</a:t>
            </a:r>
          </a:p>
          <a:p>
            <a:r>
              <a:rPr lang="en-US" dirty="0"/>
              <a:t>Step 4: Apply a Relevant Theoretical Framework</a:t>
            </a:r>
          </a:p>
          <a:p>
            <a:r>
              <a:rPr lang="en-US" strike="sngStrike" dirty="0"/>
              <a:t>Step 5: Determine Data Availability and Collection Feasibility</a:t>
            </a:r>
          </a:p>
          <a:p>
            <a:r>
              <a:rPr lang="en-US" strike="sngStrike" dirty="0"/>
              <a:t>Step 6: Ensure Practical Relevance and Contribution</a:t>
            </a:r>
          </a:p>
          <a:p>
            <a:r>
              <a:rPr lang="en-US" strike="sngStrike" dirty="0"/>
              <a:t>Step 7: Ensure Research Originality and Avoid Duplication</a:t>
            </a:r>
          </a:p>
          <a:p>
            <a:r>
              <a:rPr lang="en-US" strike="sngStrike" dirty="0"/>
              <a:t>Step 8: Assess Alignment with Course Objectives</a:t>
            </a:r>
          </a:p>
          <a:p>
            <a:r>
              <a:rPr lang="en-US" strike="sngStrike" dirty="0"/>
              <a:t>Step 9: Draft a Concise Research Proposal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7109D-53D4-8186-1140-74A41E332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587F-7792-004D-FD48-2FB208019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sz="3200" dirty="0"/>
              <a:t>selecting individual research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E41E3-1EDD-D8A2-CF18-E2399A5FB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40068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Step 1: Identify Personal Interest and Motivation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Select a topic that genuinely interests you, aligns with your career aspirations, or addresses a practical business challenge you are passionate about.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Consider how motivated you feel about the topic—this motivation will sustain your efforts throughout the research process.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Understand the background &amp; Have enough respondents to answer your questionnaire</a:t>
            </a:r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B615FD2-E3A5-E6D9-F92C-E0B5DCF5B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56002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D12E2-F861-F01F-A5EF-B24EEDC72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selecting individual research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D8013-D058-C96A-EF35-6CE485846A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Step 2: Conduct a Preliminary Literature Scan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Briefly scan academic journals, databases(e.g., Scopus, Web of Science, Google Scholar) and recent industry reports to identify trending and significant topics.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Focus on recent research within the last five years to ensure the relevance.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DBAE4-7E5E-5CC1-44B0-A0081CC07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89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FD6B-A2B9-CE3D-2FEE-778DD72E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FF3F9-F9BB-F19A-B493-2F114EC6DF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326C583-0986-D1CE-4DFC-1B7C6452F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07549"/>
            <a:ext cx="11115801" cy="5950451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4864354-85D2-24FF-016C-C16964C43AC7}"/>
              </a:ext>
            </a:extLst>
          </p:cNvPr>
          <p:cNvSpPr txBox="1"/>
          <p:nvPr/>
        </p:nvSpPr>
        <p:spPr>
          <a:xfrm>
            <a:off x="1836821" y="432577"/>
            <a:ext cx="61013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https://www.emerald.com/insight/</a:t>
            </a:r>
          </a:p>
        </p:txBody>
      </p:sp>
    </p:spTree>
    <p:extLst>
      <p:ext uri="{BB962C8B-B14F-4D97-AF65-F5344CB8AC3E}">
        <p14:creationId xmlns:p14="http://schemas.microsoft.com/office/powerpoint/2010/main" val="4128997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3F670-DF5B-C5D5-C126-60EBCEFA3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CA943B-E0E2-16D8-8A4D-B3B1ED667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58" y="414866"/>
            <a:ext cx="10641064" cy="618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26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BBB2-EE16-6B9F-D979-EB3CD7F9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F0DE3-E0CC-4CF8-DB6C-02A1D57ECD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6A6D89-7515-0E08-6709-C3724D66FB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10" t="6933" b="26113"/>
          <a:stretch/>
        </p:blipFill>
        <p:spPr>
          <a:xfrm>
            <a:off x="0" y="2122906"/>
            <a:ext cx="11141138" cy="408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70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AE2A-C4BD-A2BA-C5BF-5DC694B59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5CCB9-5DAD-718F-638B-6C4731099E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E630B98-1FCC-4B6D-3A4B-180DB4095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5974" y="521187"/>
            <a:ext cx="8545095" cy="6336813"/>
          </a:xfrm>
        </p:spPr>
      </p:pic>
    </p:spTree>
    <p:extLst>
      <p:ext uri="{BB962C8B-B14F-4D97-AF65-F5344CB8AC3E}">
        <p14:creationId xmlns:p14="http://schemas.microsoft.com/office/powerpoint/2010/main" val="970190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04A93-2907-F02A-A2B9-C7DD4178B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2FC0E-F7B0-A665-7054-B7E3A8F86D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1E8DB7-EFC3-78D4-AC47-3A62D8D69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124"/>
            <a:ext cx="10053220" cy="674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710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08FAA-464A-5875-309C-D83438DE1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selecting individual research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623F0-5BB5-36F0-3F35-A5D98E45B5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Step 3: Define the Scope Clearly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Narrow your broad interests into specific areas (e.g., E-Commerce and Online Consumer Behavior; Information Security and Privacy).</a:t>
            </a:r>
          </a:p>
          <a:p>
            <a:pPr lvl="1"/>
            <a:r>
              <a:rPr lang="en-US" dirty="0"/>
              <a:t>A well-defined topic ensures clarity and manageability in your research project.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FA039-9E3D-7161-1E44-81143AB7BB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80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D9071-7BBB-42D0-621E-6D24F000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Step 3: Define the Scope Clearly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3D03A-04E8-A019-57DC-7C7551EA79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6648E7-E9C8-F472-950F-9B0C16345A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79590" y="2254709"/>
            <a:ext cx="8518054" cy="3404832"/>
          </a:xfrm>
        </p:spPr>
      </p:pic>
    </p:spTree>
    <p:extLst>
      <p:ext uri="{BB962C8B-B14F-4D97-AF65-F5344CB8AC3E}">
        <p14:creationId xmlns:p14="http://schemas.microsoft.com/office/powerpoint/2010/main" val="2637660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F984-9230-B87A-3F4E-AE2D95388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Step 3: Define the Scope Clearly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2D0E4-08A5-692C-72D7-36437A920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CD9F876-CC62-EB82-437B-99EA18515D3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7684" y="3805507"/>
            <a:ext cx="5454316" cy="278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93C3C31-F950-0AAF-E9FC-669FBE0EC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1971226"/>
            <a:ext cx="5277518" cy="305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EB4D60-A365-6EEB-052C-9799427D9CAB}"/>
              </a:ext>
            </a:extLst>
          </p:cNvPr>
          <p:cNvSpPr txBox="1"/>
          <p:nvPr/>
        </p:nvSpPr>
        <p:spPr>
          <a:xfrm>
            <a:off x="2540000" y="6603273"/>
            <a:ext cx="9234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Source: </a:t>
            </a:r>
            <a:r>
              <a:rPr lang="en-US" sz="1200" dirty="0"/>
              <a:t>https://www.smartinsights.com/social-media-marketing/social-media-strategy/new-global-social-media-research/</a:t>
            </a:r>
          </a:p>
        </p:txBody>
      </p:sp>
    </p:spTree>
    <p:extLst>
      <p:ext uri="{BB962C8B-B14F-4D97-AF65-F5344CB8AC3E}">
        <p14:creationId xmlns:p14="http://schemas.microsoft.com/office/powerpoint/2010/main" val="2560162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35CB-FDB0-3CEB-7897-B6AE72440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selecting individual research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1E498-4DAF-7E2F-97EF-1BFDC485A6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en-US" b="1" dirty="0"/>
              <a:t>Step 4: Apply a Relevant Theoretical Framework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Choose an established theoretical model, such as </a:t>
            </a:r>
            <a:r>
              <a:rPr lang="en-US" u="sng" dirty="0"/>
              <a:t>Stimulus-Organism-Response (SOR), Technology Acceptance Model (TAM), Unified Theory of Acceptance and Use of Technology (UTAUT), or Theory of Planned Behavior (TPB),</a:t>
            </a:r>
            <a:r>
              <a:rPr lang="en-US" dirty="0"/>
              <a:t> to structure your research logically.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Ensure the framework suits your chosen topic, helping you identify clear independent variables (IVs) </a:t>
            </a:r>
            <a:r>
              <a:rPr lang="en-US" b="1" dirty="0"/>
              <a:t>(at least three IVS)</a:t>
            </a:r>
            <a:r>
              <a:rPr lang="zh-CN" altLang="en-US" b="1" dirty="0"/>
              <a:t> </a:t>
            </a:r>
            <a:r>
              <a:rPr lang="en-US" dirty="0"/>
              <a:t>, dependent variables (DVs), and mediators or moderators if applicable.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71000-62CD-4B7D-8541-0F4A1C3125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63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2EE286-10BB-65D9-701E-1DC417278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040" y="3786665"/>
            <a:ext cx="4991231" cy="25418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92BF88-E134-A930-2475-EBF11819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Theoretical Framework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29AF8-EF9B-414B-5ABC-E8A6A86B4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00961D-AE35-EF34-C1A2-97281D60C8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357654" y="2107802"/>
            <a:ext cx="5562746" cy="2449350"/>
          </a:xfrm>
        </p:spPr>
      </p:pic>
    </p:spTree>
    <p:extLst>
      <p:ext uri="{BB962C8B-B14F-4D97-AF65-F5344CB8AC3E}">
        <p14:creationId xmlns:p14="http://schemas.microsoft.com/office/powerpoint/2010/main" val="3154032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892FC-2D76-41A1-0D3C-96EF65B2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measurement items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6F86F-2AF8-A6B6-686E-D1FFFA22FB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4D0AD9C-4BB4-F8EA-7849-F4FACBA9AD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77703" y="2180024"/>
            <a:ext cx="6157428" cy="4004643"/>
          </a:xfrm>
        </p:spPr>
      </p:pic>
    </p:spTree>
    <p:extLst>
      <p:ext uri="{BB962C8B-B14F-4D97-AF65-F5344CB8AC3E}">
        <p14:creationId xmlns:p14="http://schemas.microsoft.com/office/powerpoint/2010/main" val="1988997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D303-F49C-B0D7-3D38-5A291AF37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 build a conceptual framework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03274-E031-D823-9A68-6A5E83CCB0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conceptual</a:t>
            </a:r>
            <a:r>
              <a:rPr lang="zh-CN" altLang="en-US" dirty="0"/>
              <a:t> </a:t>
            </a:r>
            <a:r>
              <a:rPr lang="en-US" altLang="zh-CN" dirty="0"/>
              <a:t>framework will be based on our theoretical frameworks</a:t>
            </a:r>
          </a:p>
          <a:p>
            <a:pPr>
              <a:lnSpc>
                <a:spcPct val="150000"/>
              </a:lnSpc>
            </a:pPr>
            <a:r>
              <a:rPr lang="en-US" dirty="0"/>
              <a:t>These frameworks need to be : 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 similar field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With the same dependent variables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Double check the definitions, are the same as in your research? </a:t>
            </a:r>
          </a:p>
          <a:p>
            <a:pPr marL="338328" lvl="1" indent="0">
              <a:lnSpc>
                <a:spcPct val="150000"/>
              </a:lnSpc>
              <a:buNone/>
            </a:pPr>
            <a:r>
              <a:rPr lang="en-US" dirty="0"/>
              <a:t>Let’s say, I want to study  </a:t>
            </a:r>
            <a:r>
              <a:rPr lang="en-US" dirty="0">
                <a:latin typeface="Open Sans" panose="020F0502020204030204" pitchFamily="34" charset="0"/>
              </a:rPr>
              <a:t>Re</a:t>
            </a:r>
            <a:r>
              <a:rPr lang="en-US" dirty="0">
                <a:latin typeface="Open Sans" panose="020B0606030504020204" pitchFamily="34" charset="0"/>
              </a:rPr>
              <a:t>p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urchase </a:t>
            </a:r>
            <a:r>
              <a:rPr lang="en-US" dirty="0">
                <a:latin typeface="Open Sans" panose="020B0606030504020204" pitchFamily="34" charset="0"/>
              </a:rPr>
              <a:t>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ntention</a:t>
            </a:r>
          </a:p>
          <a:p>
            <a:pPr marL="338328" lvl="1" indent="0">
              <a:lnSpc>
                <a:spcPct val="150000"/>
              </a:lnSpc>
              <a:buNone/>
            </a:pPr>
            <a:endParaRPr lang="en-US" b="0" i="0" dirty="0">
              <a:effectLst/>
              <a:latin typeface="Open Sans" panose="020F0502020204030204" pitchFamily="34" charset="0"/>
            </a:endParaRPr>
          </a:p>
          <a:p>
            <a:pPr marL="338328" lvl="1" indent="0">
              <a:lnSpc>
                <a:spcPct val="150000"/>
              </a:lnSpc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DF2E8-3FA9-0FCB-869F-D590AB996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558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297AABC7-E91D-4E7B-394E-094F87359E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33791" y="2315283"/>
            <a:ext cx="7337129" cy="323063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C02E69-A08F-D9AB-A3AA-F54223D4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Theoretical Framework1#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496EC-FBC3-C88E-9650-C655A4D3A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292397-7567-F531-5146-FA70826CC0CD}"/>
              </a:ext>
            </a:extLst>
          </p:cNvPr>
          <p:cNvSpPr/>
          <p:nvPr/>
        </p:nvSpPr>
        <p:spPr>
          <a:xfrm>
            <a:off x="8821109" y="3189695"/>
            <a:ext cx="1076308" cy="5521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2D446E-17FC-6824-A194-E464B3031E30}"/>
              </a:ext>
            </a:extLst>
          </p:cNvPr>
          <p:cNvSpPr/>
          <p:nvPr/>
        </p:nvSpPr>
        <p:spPr>
          <a:xfrm>
            <a:off x="8749022" y="4229777"/>
            <a:ext cx="1220482" cy="5521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24F411-FB45-468F-ACA9-284DE5DA7C56}"/>
              </a:ext>
            </a:extLst>
          </p:cNvPr>
          <p:cNvSpPr/>
          <p:nvPr/>
        </p:nvSpPr>
        <p:spPr>
          <a:xfrm>
            <a:off x="6211807" y="3209985"/>
            <a:ext cx="1076308" cy="4799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92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14FBB7-86C5-37CE-9241-65CA80290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225" y="2180024"/>
            <a:ext cx="6605212" cy="33638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0CE1E1-DD50-D9C5-E46B-B4BD6E07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Theoretical Framework2#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D7BFA-8890-FC2F-5AD4-B4084EC7C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935BDB-FB46-6664-D01B-8C4CBAAE5CCF}"/>
              </a:ext>
            </a:extLst>
          </p:cNvPr>
          <p:cNvSpPr/>
          <p:nvPr/>
        </p:nvSpPr>
        <p:spPr>
          <a:xfrm>
            <a:off x="7498782" y="2575470"/>
            <a:ext cx="1117600" cy="5941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8D454C-137D-105A-9AD4-AF190A0CCCBD}"/>
              </a:ext>
            </a:extLst>
          </p:cNvPr>
          <p:cNvSpPr/>
          <p:nvPr/>
        </p:nvSpPr>
        <p:spPr>
          <a:xfrm>
            <a:off x="5765602" y="3803567"/>
            <a:ext cx="928496" cy="418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CBB38F-0888-6500-883D-788220085897}"/>
              </a:ext>
            </a:extLst>
          </p:cNvPr>
          <p:cNvSpPr/>
          <p:nvPr/>
        </p:nvSpPr>
        <p:spPr>
          <a:xfrm>
            <a:off x="9335509" y="3803567"/>
            <a:ext cx="928495" cy="6059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98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62BF-6152-8F56-8A76-E2E301E7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conceptual framework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6F023-9787-EA20-3F3E-EFC12D1698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4321BAB-1A6F-E4EC-A6D1-B787E7DBDA6C}"/>
              </a:ext>
            </a:extLst>
          </p:cNvPr>
          <p:cNvGrpSpPr/>
          <p:nvPr/>
        </p:nvGrpSpPr>
        <p:grpSpPr>
          <a:xfrm>
            <a:off x="4317998" y="2433471"/>
            <a:ext cx="4719053" cy="3130160"/>
            <a:chOff x="4317998" y="2433471"/>
            <a:chExt cx="4719053" cy="313016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D989F14-70FD-5FF2-1D34-0BA27C8BFE38}"/>
                </a:ext>
              </a:extLst>
            </p:cNvPr>
            <p:cNvGrpSpPr/>
            <p:nvPr/>
          </p:nvGrpSpPr>
          <p:grpSpPr>
            <a:xfrm>
              <a:off x="4317998" y="2433471"/>
              <a:ext cx="4719053" cy="3130160"/>
              <a:chOff x="4318000" y="2468591"/>
              <a:chExt cx="4719053" cy="313016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73E81BE-F7FA-FE58-74F9-BE980693FD20}"/>
                  </a:ext>
                </a:extLst>
              </p:cNvPr>
              <p:cNvSpPr/>
              <p:nvPr/>
            </p:nvSpPr>
            <p:spPr>
              <a:xfrm>
                <a:off x="4318000" y="2468591"/>
                <a:ext cx="1689768" cy="72857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Order Convenience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C73E6AE-7FE4-8184-6DD5-D0372B365209}"/>
                  </a:ext>
                </a:extLst>
              </p:cNvPr>
              <p:cNvSpPr/>
              <p:nvPr/>
            </p:nvSpPr>
            <p:spPr>
              <a:xfrm>
                <a:off x="7347285" y="4495131"/>
                <a:ext cx="1689768" cy="72857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Satisfaction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ECDBEA1-3E40-4079-B0D3-CD6A7B2AE735}"/>
                  </a:ext>
                </a:extLst>
              </p:cNvPr>
              <p:cNvSpPr/>
              <p:nvPr/>
            </p:nvSpPr>
            <p:spPr>
              <a:xfrm>
                <a:off x="7347285" y="2954532"/>
                <a:ext cx="1689768" cy="72857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Repurchase Intention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E689E5C-4D1C-768A-D751-84FD16BD5B69}"/>
                  </a:ext>
                </a:extLst>
              </p:cNvPr>
              <p:cNvSpPr/>
              <p:nvPr/>
            </p:nvSpPr>
            <p:spPr>
              <a:xfrm>
                <a:off x="4318000" y="3656374"/>
                <a:ext cx="1689768" cy="72857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Perceive Value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4ECD774-0991-AA98-4A40-92AAC3C66C06}"/>
                  </a:ext>
                </a:extLst>
              </p:cNvPr>
              <p:cNvSpPr/>
              <p:nvPr/>
            </p:nvSpPr>
            <p:spPr>
              <a:xfrm>
                <a:off x="4318000" y="4870172"/>
                <a:ext cx="1689768" cy="72857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Service Encounter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3169A872-1655-FAF2-AA9F-E028C092726E}"/>
                  </a:ext>
                </a:extLst>
              </p:cNvPr>
              <p:cNvCxnSpPr>
                <a:cxnSpLocks/>
                <a:endCxn id="7" idx="1"/>
              </p:cNvCxnSpPr>
              <p:nvPr/>
            </p:nvCxnSpPr>
            <p:spPr>
              <a:xfrm flipV="1">
                <a:off x="6007768" y="3318822"/>
                <a:ext cx="1339517" cy="6797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6DDD7AAC-7999-4D16-FA2D-3A1C2C001373}"/>
                  </a:ext>
                </a:extLst>
              </p:cNvPr>
              <p:cNvCxnSpPr>
                <a:cxnSpLocks/>
                <a:stCxn id="5" idx="3"/>
                <a:endCxn id="7" idx="1"/>
              </p:cNvCxnSpPr>
              <p:nvPr/>
            </p:nvCxnSpPr>
            <p:spPr>
              <a:xfrm>
                <a:off x="6007768" y="2832881"/>
                <a:ext cx="1339517" cy="4859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9C46E1CD-192F-5968-4878-90EDC8937610}"/>
                  </a:ext>
                </a:extLst>
              </p:cNvPr>
              <p:cNvCxnSpPr>
                <a:cxnSpLocks/>
                <a:stCxn id="5" idx="3"/>
                <a:endCxn id="6" idx="1"/>
              </p:cNvCxnSpPr>
              <p:nvPr/>
            </p:nvCxnSpPr>
            <p:spPr>
              <a:xfrm>
                <a:off x="6007768" y="2832881"/>
                <a:ext cx="1339517" cy="20265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4E76BB17-2A43-589D-514F-837BF29298A5}"/>
                  </a:ext>
                </a:extLst>
              </p:cNvPr>
              <p:cNvCxnSpPr>
                <a:cxnSpLocks/>
                <a:stCxn id="9" idx="3"/>
                <a:endCxn id="7" idx="1"/>
              </p:cNvCxnSpPr>
              <p:nvPr/>
            </p:nvCxnSpPr>
            <p:spPr>
              <a:xfrm flipV="1">
                <a:off x="6007768" y="3318822"/>
                <a:ext cx="1339517" cy="191564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73B6648-100D-DEE9-2AB1-59968D304CD1}"/>
                  </a:ext>
                </a:extLst>
              </p:cNvPr>
              <p:cNvCxnSpPr>
                <a:cxnSpLocks/>
                <a:stCxn id="6" idx="0"/>
                <a:endCxn id="7" idx="2"/>
              </p:cNvCxnSpPr>
              <p:nvPr/>
            </p:nvCxnSpPr>
            <p:spPr>
              <a:xfrm flipV="1">
                <a:off x="8192169" y="3683111"/>
                <a:ext cx="0" cy="8120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20DE863-3440-BC89-09D8-71CBE255F6C5}"/>
                  </a:ext>
                </a:extLst>
              </p:cNvPr>
              <p:cNvSpPr txBox="1"/>
              <p:nvPr/>
            </p:nvSpPr>
            <p:spPr>
              <a:xfrm>
                <a:off x="6007768" y="2558264"/>
                <a:ext cx="5174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H1 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F547113-536A-D582-5FD8-2810B84E5FE4}"/>
                  </a:ext>
                </a:extLst>
              </p:cNvPr>
              <p:cNvSpPr txBox="1"/>
              <p:nvPr/>
            </p:nvSpPr>
            <p:spPr>
              <a:xfrm>
                <a:off x="6020466" y="3539276"/>
                <a:ext cx="5694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H3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184D517-2A6E-AC64-88BA-869D855FAC38}"/>
                  </a:ext>
                </a:extLst>
              </p:cNvPr>
              <p:cNvSpPr txBox="1"/>
              <p:nvPr/>
            </p:nvSpPr>
            <p:spPr>
              <a:xfrm>
                <a:off x="6330646" y="3174987"/>
                <a:ext cx="5220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H2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02AF76-D0F0-4A41-B060-D682D9AFF4AE}"/>
                  </a:ext>
                </a:extLst>
              </p:cNvPr>
              <p:cNvSpPr txBox="1"/>
              <p:nvPr/>
            </p:nvSpPr>
            <p:spPr>
              <a:xfrm>
                <a:off x="8144040" y="3899657"/>
                <a:ext cx="74462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H6</a:t>
                </a:r>
              </a:p>
            </p:txBody>
          </p:sp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2820874-DFAB-B91F-3660-20FAEC3BBDBF}"/>
                </a:ext>
              </a:extLst>
            </p:cNvPr>
            <p:cNvCxnSpPr>
              <a:cxnSpLocks/>
              <a:stCxn id="9" idx="0"/>
              <a:endCxn id="8" idx="2"/>
            </p:cNvCxnSpPr>
            <p:nvPr/>
          </p:nvCxnSpPr>
          <p:spPr>
            <a:xfrm flipV="1">
              <a:off x="5162882" y="4349833"/>
              <a:ext cx="0" cy="4852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E052EA2-F3F1-24A0-FB75-ADD954E3D338}"/>
                </a:ext>
              </a:extLst>
            </p:cNvPr>
            <p:cNvSpPr txBox="1"/>
            <p:nvPr/>
          </p:nvSpPr>
          <p:spPr>
            <a:xfrm>
              <a:off x="6206830" y="4229916"/>
              <a:ext cx="5694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H4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120029D-74D4-F51D-C44F-7DDCA7ED49A8}"/>
                </a:ext>
              </a:extLst>
            </p:cNvPr>
            <p:cNvSpPr txBox="1"/>
            <p:nvPr/>
          </p:nvSpPr>
          <p:spPr>
            <a:xfrm>
              <a:off x="5180739" y="4460011"/>
              <a:ext cx="5694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H5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F3EE0E8-2797-B158-E454-953ECBA7EAB6}"/>
              </a:ext>
            </a:extLst>
          </p:cNvPr>
          <p:cNvSpPr txBox="1"/>
          <p:nvPr/>
        </p:nvSpPr>
        <p:spPr>
          <a:xfrm>
            <a:off x="7347283" y="5421299"/>
            <a:ext cx="3343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only can combine or link the variables with the linkage from the theoretical framework. </a:t>
            </a:r>
          </a:p>
        </p:txBody>
      </p:sp>
    </p:spTree>
    <p:extLst>
      <p:ext uri="{BB962C8B-B14F-4D97-AF65-F5344CB8AC3E}">
        <p14:creationId xmlns:p14="http://schemas.microsoft.com/office/powerpoint/2010/main" val="3617140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C6894-49A9-F58E-9266-CD2C05E6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84D2E-B5FA-BAD8-BEB1-5074DCB404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Order Convenience </a:t>
            </a:r>
            <a:r>
              <a:rPr lang="zh-CN" altLang="en-US" dirty="0"/>
              <a:t>→ </a:t>
            </a:r>
            <a:r>
              <a:rPr lang="en-US" dirty="0"/>
              <a:t>Repurchase Intention</a:t>
            </a:r>
          </a:p>
          <a:p>
            <a:r>
              <a:rPr lang="en-US" dirty="0"/>
              <a:t>Order Convenience </a:t>
            </a:r>
            <a:r>
              <a:rPr lang="zh-CN" altLang="en-US" dirty="0"/>
              <a:t>→ </a:t>
            </a:r>
            <a:r>
              <a:rPr lang="en-US" dirty="0"/>
              <a:t>Satisfaction</a:t>
            </a:r>
          </a:p>
          <a:p>
            <a:r>
              <a:rPr lang="en-US" dirty="0"/>
              <a:t>Perceive Value </a:t>
            </a:r>
            <a:r>
              <a:rPr lang="zh-CN" altLang="en-US" dirty="0"/>
              <a:t>→ </a:t>
            </a:r>
            <a:r>
              <a:rPr lang="en-US" dirty="0"/>
              <a:t>Repurchase Intention</a:t>
            </a:r>
          </a:p>
          <a:p>
            <a:r>
              <a:rPr lang="en-US" dirty="0"/>
              <a:t>Service Encounter </a:t>
            </a:r>
            <a:r>
              <a:rPr lang="zh-CN" altLang="en-US" dirty="0"/>
              <a:t>→</a:t>
            </a:r>
            <a:r>
              <a:rPr lang="en-US" dirty="0"/>
              <a:t> Perceive Value</a:t>
            </a:r>
          </a:p>
          <a:p>
            <a:r>
              <a:rPr lang="en-US" dirty="0"/>
              <a:t>Service Encounter </a:t>
            </a:r>
            <a:r>
              <a:rPr lang="zh-CN" altLang="en-US" dirty="0"/>
              <a:t>→ </a:t>
            </a:r>
            <a:r>
              <a:rPr lang="en-US" dirty="0"/>
              <a:t>Repurchase Intention</a:t>
            </a:r>
          </a:p>
          <a:p>
            <a:r>
              <a:rPr lang="en-US" dirty="0"/>
              <a:t>Satisfaction</a:t>
            </a:r>
            <a:r>
              <a:rPr lang="zh-CN" altLang="en-US" dirty="0"/>
              <a:t>→ </a:t>
            </a:r>
            <a:r>
              <a:rPr lang="en-US" dirty="0"/>
              <a:t>Repurchase Intention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7F24B-FA86-36D6-CB4F-BEC86BBE4E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679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9960-ED86-17B1-19AA-21680C92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ITEMS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190E9-DF61-FA7D-D42B-760A5A91A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D232B36-B729-2B11-CE46-356E277920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3469" r="10244" b="46957"/>
          <a:stretch/>
        </p:blipFill>
        <p:spPr>
          <a:xfrm>
            <a:off x="3349193" y="2051438"/>
            <a:ext cx="3674703" cy="3824529"/>
          </a:xfrm>
        </p:spPr>
      </p:pic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8786859E-099C-ABC2-341B-96BFE55BF6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03" t="52553" r="9807"/>
          <a:stretch/>
        </p:blipFill>
        <p:spPr>
          <a:xfrm>
            <a:off x="7023896" y="2051437"/>
            <a:ext cx="4086711" cy="382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818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DA9CD-D358-5B98-5CD4-0D999DCD7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ITEMS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44D0DA1-6A5E-6234-1F7D-BBE6ADB4AE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331373" y="2180024"/>
            <a:ext cx="6353692" cy="386575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252B1-0887-C42C-D3B2-F76992D7D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426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Chapters of the research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Chapter 1: introduction</a:t>
            </a:r>
          </a:p>
          <a:p>
            <a:r>
              <a:rPr lang="en-US" dirty="0"/>
              <a:t>1.1 Background of Study	</a:t>
            </a:r>
          </a:p>
          <a:p>
            <a:r>
              <a:rPr lang="en-US" dirty="0"/>
              <a:t>1.2 Statement of problem </a:t>
            </a:r>
          </a:p>
          <a:p>
            <a:r>
              <a:rPr lang="en-US" dirty="0"/>
              <a:t>1.3 Research Objectives	</a:t>
            </a:r>
          </a:p>
          <a:p>
            <a:r>
              <a:rPr lang="en-US" dirty="0"/>
              <a:t>1.4 Research Questions </a:t>
            </a:r>
          </a:p>
          <a:p>
            <a:r>
              <a:rPr lang="en-US" dirty="0"/>
              <a:t>1.5 Scope of Research	 </a:t>
            </a:r>
          </a:p>
          <a:p>
            <a:r>
              <a:rPr lang="en-US" dirty="0"/>
              <a:t>1.6 Research Limitations	 </a:t>
            </a:r>
          </a:p>
          <a:p>
            <a:r>
              <a:rPr lang="en-US" dirty="0"/>
              <a:t>1.7 Significance of the Study	 </a:t>
            </a:r>
          </a:p>
          <a:p>
            <a:r>
              <a:rPr lang="en-US" dirty="0"/>
              <a:t>1.8 Definition of Terms	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Chapter 2 : Literature review</a:t>
            </a:r>
          </a:p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2.1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Theories Related to Each Variable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2.2 Related Review Literature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Definition of each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Relationship between variables 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</a:rPr>
              <a:t>2.3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Previous Studies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AF9C-1750-3093-F71D-5423AF905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Chapters of the research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53DAC4-8D75-E150-AC7F-37B0B29587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7C9DD1-E5B5-C9AC-9D6B-C6ED9601FD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Chapter 3 Research framework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3.1 Theoretical frameworks</a:t>
            </a:r>
          </a:p>
          <a:p>
            <a:r>
              <a:rPr lang="en-US" dirty="0">
                <a:latin typeface="Times New Roman" panose="02020603050405020304" pitchFamily="18" charset="0"/>
              </a:rPr>
              <a:t>3.2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Conceptual framework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</a:rPr>
              <a:t>3.3 Research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Hypotheses</a:t>
            </a:r>
          </a:p>
          <a:p>
            <a:r>
              <a:rPr lang="en-US" dirty="0">
                <a:latin typeface="Times New Roman" panose="02020603050405020304" pitchFamily="18" charset="0"/>
              </a:rPr>
              <a:t>3.4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Operationalization table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7BE389-DE44-9469-B433-5B964B68D08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Chapter 4 Research methodology</a:t>
            </a:r>
          </a:p>
          <a:p>
            <a:r>
              <a:rPr lang="en-US" dirty="0"/>
              <a:t>4.1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 design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4.2 Sampling procedure </a:t>
            </a:r>
          </a:p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4.3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Research Instrument/ Questionnaire Design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4.4 Data Collection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4.5 Statistical Treatment of Data</a:t>
            </a:r>
          </a:p>
        </p:txBody>
      </p:sp>
    </p:spTree>
    <p:extLst>
      <p:ext uri="{BB962C8B-B14F-4D97-AF65-F5344CB8AC3E}">
        <p14:creationId xmlns:p14="http://schemas.microsoft.com/office/powerpoint/2010/main" val="870558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649C-631B-824F-EB45-888BC75D6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Chapters of the research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C0B52B-E42B-1CB4-9996-6BDEBF14B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2BA54-121E-DC2A-D765-7781FF89D9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US" altLang="zh-CN" dirty="0"/>
              <a:t>hapter 5 Research result</a:t>
            </a:r>
          </a:p>
          <a:p>
            <a:r>
              <a:rPr lang="en-US" dirty="0"/>
              <a:t>5.1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Reliability testing</a:t>
            </a:r>
          </a:p>
          <a:p>
            <a:r>
              <a:rPr lang="en-US" dirty="0">
                <a:latin typeface="Times New Roman" panose="02020603050405020304" pitchFamily="18" charset="0"/>
              </a:rPr>
              <a:t>5.2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Descriptive analysis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</a:rPr>
              <a:t>5.3 </a:t>
            </a:r>
            <a:r>
              <a:rPr 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Mean and Standard Deviation for Descriptive Analysis</a:t>
            </a:r>
          </a:p>
          <a:p>
            <a:r>
              <a:rPr 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5.4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Hypothesis Testing Results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4E719-EC7C-6938-B2CA-9B5A31F4ED1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Chapter 6 Discussion and recommendation</a:t>
            </a:r>
          </a:p>
          <a:p>
            <a:r>
              <a:rPr lang="en-US" dirty="0"/>
              <a:t>6.1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Discussion and conclusion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6.2 Recommendations based on Finding</a:t>
            </a:r>
          </a:p>
          <a:p>
            <a:r>
              <a:rPr lang="en-US" dirty="0">
                <a:latin typeface="Times New Roman" panose="02020603050405020304" pitchFamily="18" charset="0"/>
              </a:rPr>
              <a:t>6.3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Future studies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320900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2C62-FE7F-E187-E553-EA18030FC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1#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1BAC80-5DD1-0799-9703-810F54EF3F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D33FC-BD62-A16B-553C-71BE47D6D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7095958" cy="3720337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Research title: “Factors impact on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DV</a:t>
            </a:r>
            <a:r>
              <a:rPr lang="en-US" dirty="0"/>
              <a:t>: The Mediating Role of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mediator factor </a:t>
            </a:r>
            <a:r>
              <a:rPr lang="en-US" dirty="0"/>
              <a:t>Among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target audience </a:t>
            </a:r>
            <a:r>
              <a:rPr lang="en-US" dirty="0"/>
              <a:t>in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location</a:t>
            </a:r>
            <a:r>
              <a:rPr lang="en-US" dirty="0"/>
              <a:t>"</a:t>
            </a:r>
          </a:p>
          <a:p>
            <a:pPr marL="342900" indent="-342900">
              <a:buAutoNum type="arabicPeriod"/>
            </a:pPr>
            <a:r>
              <a:rPr lang="en-US" dirty="0"/>
              <a:t>Target population</a:t>
            </a:r>
          </a:p>
          <a:p>
            <a:pPr marL="342900" indent="-342900">
              <a:buAutoNum type="arabicPeriod"/>
            </a:pPr>
            <a:r>
              <a:rPr lang="en-US" dirty="0"/>
              <a:t>Theoretical frameworks (at least 2)</a:t>
            </a:r>
          </a:p>
          <a:p>
            <a:pPr marL="342900" indent="-342900">
              <a:buAutoNum type="arabicPeriod"/>
            </a:pPr>
            <a:r>
              <a:rPr lang="en-US" dirty="0"/>
              <a:t>Conceptual framework (build based on theoretical framework)</a:t>
            </a:r>
          </a:p>
          <a:p>
            <a:pPr marL="342900" indent="-342900">
              <a:buAutoNum type="arabicPeriod"/>
            </a:pPr>
            <a:r>
              <a:rPr lang="en-US" dirty="0"/>
              <a:t>Variables: at least three IVs, one DV, better to have a mediator</a:t>
            </a:r>
          </a:p>
          <a:p>
            <a:pPr marL="342900" indent="-342900">
              <a:buAutoNum type="arabicPeriod"/>
            </a:pPr>
            <a:r>
              <a:rPr lang="en-US" dirty="0"/>
              <a:t>And the measurement scale item based on your variables (borrow from pervious researches)</a:t>
            </a:r>
          </a:p>
          <a:p>
            <a:pPr marL="342900" indent="-342900">
              <a:buAutoNum type="arabicPeriod"/>
            </a:pPr>
            <a:r>
              <a:rPr lang="en-US" dirty="0"/>
              <a:t>Submit before next Monday. </a:t>
            </a:r>
          </a:p>
        </p:txBody>
      </p:sp>
    </p:spTree>
    <p:extLst>
      <p:ext uri="{BB962C8B-B14F-4D97-AF65-F5344CB8AC3E}">
        <p14:creationId xmlns:p14="http://schemas.microsoft.com/office/powerpoint/2010/main" val="4162644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Cordia New" panose="020B0304020202020204" pitchFamily="34" charset="-34"/>
              </a:rPr>
              <a:t>Faculty member of </a:t>
            </a:r>
            <a:r>
              <a:rPr lang="en-US" sz="1800" dirty="0">
                <a:latin typeface="Calibri" panose="020F0502020204030204" pitchFamily="34" charset="0"/>
                <a:ea typeface="等线" panose="02010600030101010101" pitchFamily="2" charset="-122"/>
                <a:cs typeface="Cordia New" panose="020B0304020202020204" pitchFamily="34" charset="-34"/>
              </a:rPr>
              <a:t>ITM</a:t>
            </a:r>
            <a:endParaRPr lang="en-US" sz="1800" dirty="0">
              <a:effectLst/>
              <a:latin typeface="Calibri" panose="020F0502020204030204" pitchFamily="34" charset="0"/>
              <a:ea typeface="等线" panose="02010600030101010101" pitchFamily="2" charset="-122"/>
              <a:cs typeface="Cordia New" panose="020B0304020202020204" pitchFamily="34" charset="-34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ordia New" panose="020B0304020202020204" pitchFamily="34" charset="-34"/>
              </a:rPr>
              <a:t>guqizhen@au.edu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3A02-F1CD-4EDC-6FC2-39B27D380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US" altLang="zh-CN" dirty="0"/>
              <a:t>uest speaker</a:t>
            </a:r>
            <a:br>
              <a:rPr lang="en-US" altLang="zh-CN" dirty="0"/>
            </a:br>
            <a:r>
              <a:rPr lang="en-US" altLang="zh-CN" dirty="0" err="1"/>
              <a:t>Prof.Dr.lars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55E92-D042-6CD2-7E36-36492A6570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Wed,4 June 2025</a:t>
            </a:r>
          </a:p>
          <a:p>
            <a:r>
              <a:rPr lang="en-US" dirty="0"/>
              <a:t>AI BASED TECHNOLOGY AND SMART MARKETING</a:t>
            </a:r>
          </a:p>
          <a:p>
            <a:r>
              <a:rPr lang="en-US" dirty="0"/>
              <a:t>A72 HUAMAK CAMPUS, 10:00-11:45</a:t>
            </a:r>
          </a:p>
        </p:txBody>
      </p:sp>
    </p:spTree>
    <p:extLst>
      <p:ext uri="{BB962C8B-B14F-4D97-AF65-F5344CB8AC3E}">
        <p14:creationId xmlns:p14="http://schemas.microsoft.com/office/powerpoint/2010/main" val="284766089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{273FF5E8-D330-4081-9A14-EF3138E780D2}tf78438558_win32</Template>
  <TotalTime>565</TotalTime>
  <Words>948</Words>
  <Application>Microsoft Office PowerPoint</Application>
  <PresentationFormat>Widescreen</PresentationFormat>
  <Paragraphs>162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Arial Black</vt:lpstr>
      <vt:lpstr>Calibri</vt:lpstr>
      <vt:lpstr>georgia</vt:lpstr>
      <vt:lpstr>Open Sans</vt:lpstr>
      <vt:lpstr>Sabon Next LT</vt:lpstr>
      <vt:lpstr>Times New Roman</vt:lpstr>
      <vt:lpstr>Custom</vt:lpstr>
      <vt:lpstr>ITM7000 Master project</vt:lpstr>
      <vt:lpstr>Dr. Qizhen gu (kimi)</vt:lpstr>
      <vt:lpstr>How do we choose our topic?</vt:lpstr>
      <vt:lpstr>selecting individual research topics</vt:lpstr>
      <vt:lpstr>selecting individual research topics</vt:lpstr>
      <vt:lpstr>selecting individual research topics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selecting individual research topics</vt:lpstr>
      <vt:lpstr>Step 3: Define the Scope Clearly</vt:lpstr>
      <vt:lpstr>Step 3: Define the Scope Clearly</vt:lpstr>
      <vt:lpstr>selecting individual research topics</vt:lpstr>
      <vt:lpstr>Theoretical Framework</vt:lpstr>
      <vt:lpstr>Variable measurement items</vt:lpstr>
      <vt:lpstr>To build a conceptual framework</vt:lpstr>
      <vt:lpstr>Theoretical Framework1#</vt:lpstr>
      <vt:lpstr>Theoretical Framework2#</vt:lpstr>
      <vt:lpstr>conceptual framework</vt:lpstr>
      <vt:lpstr>Research hypothesis</vt:lpstr>
      <vt:lpstr>MEASUREMENT ITEMS</vt:lpstr>
      <vt:lpstr>MEASUREMENT ITEMS</vt:lpstr>
      <vt:lpstr>Chapters of the research</vt:lpstr>
      <vt:lpstr>Chapters of the research</vt:lpstr>
      <vt:lpstr>Chapters of the research</vt:lpstr>
      <vt:lpstr>Assignment 1# </vt:lpstr>
      <vt:lpstr>Thank  you</vt:lpstr>
      <vt:lpstr>Guest speaker Prof.Dr.lars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 Qizhen</dc:creator>
  <cp:lastModifiedBy>Gu Qizhen</cp:lastModifiedBy>
  <cp:revision>14</cp:revision>
  <dcterms:created xsi:type="dcterms:W3CDTF">2025-05-11T13:14:21Z</dcterms:created>
  <dcterms:modified xsi:type="dcterms:W3CDTF">2025-05-22T07:28:05Z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