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22"/>
  </p:notesMasterIdLst>
  <p:handoutMasterIdLst>
    <p:handoutMasterId r:id="rId23"/>
  </p:handoutMasterIdLst>
  <p:sldIdLst>
    <p:sldId id="312" r:id="rId5"/>
    <p:sldId id="304" r:id="rId6"/>
    <p:sldId id="282" r:id="rId7"/>
    <p:sldId id="324" r:id="rId8"/>
    <p:sldId id="325" r:id="rId9"/>
    <p:sldId id="326" r:id="rId10"/>
    <p:sldId id="327" r:id="rId11"/>
    <p:sldId id="328" r:id="rId12"/>
    <p:sldId id="329" r:id="rId13"/>
    <p:sldId id="330" r:id="rId14"/>
    <p:sldId id="314" r:id="rId15"/>
    <p:sldId id="348" r:id="rId16"/>
    <p:sldId id="315" r:id="rId17"/>
    <p:sldId id="332" r:id="rId18"/>
    <p:sldId id="319" r:id="rId19"/>
    <p:sldId id="333" r:id="rId20"/>
    <p:sldId id="347" r:id="rId21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15" autoAdjust="0"/>
    <p:restoredTop sz="95388" autoAdjust="0"/>
  </p:normalViewPr>
  <p:slideViewPr>
    <p:cSldViewPr snapToGrid="0" snapToObjects="1">
      <p:cViewPr varScale="1">
        <p:scale>
          <a:sx n="101" d="100"/>
          <a:sy n="101" d="100"/>
        </p:scale>
        <p:origin x="175" y="51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670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7422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8A180-CC1B-F854-0165-A5A028FCE6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219227-D34C-7842-B860-76F23B9993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69BC55-A1F5-AFC2-EA6D-1476DCF7B0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76749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01387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9790" y="810227"/>
            <a:ext cx="6392421" cy="3831221"/>
          </a:xfrm>
        </p:spPr>
        <p:txBody>
          <a:bodyPr anchor="ctr"/>
          <a:lstStyle/>
          <a:p>
            <a:r>
              <a:rPr lang="en-US" b="0" i="0" dirty="0">
                <a:effectLst/>
                <a:latin typeface="georgia" panose="02040502050405020303" pitchFamily="18" charset="0"/>
              </a:rPr>
              <a:t>ITM7000 </a:t>
            </a:r>
            <a:r>
              <a:rPr lang="en-US" altLang="zh-CN" b="0" i="0" dirty="0">
                <a:effectLst/>
                <a:latin typeface="georgia" panose="02040502050405020303" pitchFamily="18" charset="0"/>
              </a:rPr>
              <a:t>Master project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4E859B6-8E4B-6574-3D08-504C7AED16DB}"/>
              </a:ext>
            </a:extLst>
          </p:cNvPr>
          <p:cNvSpPr/>
          <p:nvPr/>
        </p:nvSpPr>
        <p:spPr>
          <a:xfrm>
            <a:off x="1524001" y="6547854"/>
            <a:ext cx="2470484" cy="3048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Dr. Qizhen Gu (Kimi)</a:t>
            </a:r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6583680" cy="1531357"/>
          </a:xfrm>
        </p:spPr>
        <p:txBody>
          <a:bodyPr/>
          <a:lstStyle/>
          <a:p>
            <a:r>
              <a:rPr lang="en-US" dirty="0"/>
              <a:t>RESEARCH PAPER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834640"/>
            <a:ext cx="6583680" cy="3207344"/>
          </a:xfrm>
        </p:spPr>
        <p:txBody>
          <a:bodyPr>
            <a:normAutofit lnSpcReduction="10000"/>
          </a:bodyPr>
          <a:lstStyle/>
          <a:p>
            <a:r>
              <a:rPr lang="en-US" dirty="0"/>
              <a:t>Chapter 1: introduction</a:t>
            </a:r>
          </a:p>
          <a:p>
            <a:r>
              <a:rPr lang="en-US" dirty="0"/>
              <a:t>Chapter 2 : Literature review</a:t>
            </a:r>
          </a:p>
          <a:p>
            <a:r>
              <a:rPr lang="en-US" dirty="0"/>
              <a:t>Chapter 3 Research framework</a:t>
            </a:r>
          </a:p>
          <a:p>
            <a:r>
              <a:rPr lang="en-US" dirty="0"/>
              <a:t>Chapter 4 Research methodology</a:t>
            </a:r>
          </a:p>
          <a:p>
            <a:r>
              <a:rPr lang="en-US" dirty="0"/>
              <a:t>C</a:t>
            </a:r>
            <a:r>
              <a:rPr lang="en-US" altLang="zh-CN" dirty="0"/>
              <a:t>hapter 5 Research result</a:t>
            </a:r>
          </a:p>
          <a:p>
            <a:r>
              <a:rPr lang="en-US" dirty="0"/>
              <a:t>Chapter 6 Discussion and recommendation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565" y="1057274"/>
            <a:ext cx="7965461" cy="994164"/>
          </a:xfrm>
        </p:spPr>
        <p:txBody>
          <a:bodyPr/>
          <a:lstStyle/>
          <a:p>
            <a:r>
              <a:rPr lang="en-US" dirty="0"/>
              <a:t>Chapter 1: 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11C33-898C-4414-4665-5136EB6FC1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60565" y="2303029"/>
            <a:ext cx="7965460" cy="34976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1.1 Background of Study - </a:t>
            </a:r>
            <a:r>
              <a:rPr lang="en-US" sz="2000" dirty="0"/>
              <a:t>Broad Context and Introduction</a:t>
            </a:r>
          </a:p>
          <a:p>
            <a:pPr lvl="1"/>
            <a:r>
              <a:rPr lang="en-US" dirty="0"/>
              <a:t>Begin by introducing the broader field or subject area clearly</a:t>
            </a:r>
          </a:p>
          <a:p>
            <a:pPr lvl="1"/>
            <a:r>
              <a:rPr lang="en-US" dirty="0"/>
              <a:t>Provide general background information that sets the stage and gives readers a solid foundation.</a:t>
            </a:r>
          </a:p>
          <a:p>
            <a:pPr lvl="1"/>
            <a:r>
              <a:rPr lang="en-US" dirty="0"/>
              <a:t>Clearly state current trends, statistics, or practices that underscore the relevance of your research topic.</a:t>
            </a:r>
          </a:p>
          <a:p>
            <a:pPr lvl="1"/>
            <a:r>
              <a:rPr lang="en-US" dirty="0"/>
              <a:t>Clearly define and justify your chosen research context (e.g., country, industry, demographic group)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94FF72B7-0438-3641-5939-75128934B0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97953-7CDF-883A-839D-70A35ABF6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Chapter 1: 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A527EB-1E67-E5AB-F96A-53B1BD34DAB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1800" b="1" kern="1200" dirty="0">
                <a:solidFill>
                  <a:srgbClr val="1F2C8F"/>
                </a:solidFill>
                <a:effectLst/>
                <a:latin typeface="Sabon Next LT" panose="02000500000000000000" pitchFamily="2" charset="0"/>
                <a:ea typeface="+mn-ea"/>
                <a:cs typeface="+mn-cs"/>
              </a:rPr>
              <a:t>Normally, </a:t>
            </a:r>
            <a:r>
              <a:rPr lang="en-US" sz="1800" kern="1200" dirty="0">
                <a:solidFill>
                  <a:srgbClr val="1F2C8F"/>
                </a:solidFill>
                <a:effectLst/>
                <a:latin typeface="Sabon Next LT" panose="02000500000000000000" pitchFamily="2" charset="0"/>
                <a:ea typeface="+mn-ea"/>
                <a:cs typeface="+mn-cs"/>
              </a:rPr>
              <a:t>this part talks about current market share situations based on 3 levels: </a:t>
            </a:r>
            <a:r>
              <a:rPr lang="en-US" sz="1800" b="1" kern="1200" dirty="0">
                <a:solidFill>
                  <a:srgbClr val="1F2C8F"/>
                </a:solidFill>
                <a:effectLst/>
                <a:latin typeface="Sabon Next LT" panose="02000500000000000000" pitchFamily="2" charset="0"/>
                <a:ea typeface="+mn-ea"/>
                <a:cs typeface="+mn-cs"/>
              </a:rPr>
              <a:t>International</a:t>
            </a:r>
            <a:r>
              <a:rPr lang="en-US" sz="1800" kern="1200" dirty="0">
                <a:solidFill>
                  <a:srgbClr val="1F2C8F"/>
                </a:solidFill>
                <a:effectLst/>
                <a:latin typeface="Sabon Next LT" panose="02000500000000000000" pitchFamily="2" charset="0"/>
                <a:ea typeface="+mn-ea"/>
                <a:cs typeface="+mn-cs"/>
              </a:rPr>
              <a:t>, </a:t>
            </a:r>
            <a:r>
              <a:rPr lang="en-US" sz="1800" b="1" kern="1200" dirty="0">
                <a:solidFill>
                  <a:srgbClr val="1F2C8F"/>
                </a:solidFill>
                <a:effectLst/>
                <a:latin typeface="Sabon Next LT" panose="02000500000000000000" pitchFamily="2" charset="0"/>
                <a:ea typeface="+mn-ea"/>
                <a:cs typeface="+mn-cs"/>
              </a:rPr>
              <a:t>Asia</a:t>
            </a:r>
            <a:r>
              <a:rPr lang="en-US" sz="1800" kern="1200" dirty="0">
                <a:solidFill>
                  <a:srgbClr val="1F2C8F"/>
                </a:solidFill>
                <a:effectLst/>
                <a:latin typeface="Sabon Next LT" panose="02000500000000000000" pitchFamily="2" charset="0"/>
                <a:ea typeface="+mn-ea"/>
                <a:cs typeface="+mn-cs"/>
              </a:rPr>
              <a:t>, and </a:t>
            </a:r>
            <a:r>
              <a:rPr lang="en-US" sz="1800" b="1" kern="1200" dirty="0">
                <a:solidFill>
                  <a:srgbClr val="1F2C8F"/>
                </a:solidFill>
                <a:effectLst/>
                <a:latin typeface="Sabon Next LT" panose="02000500000000000000" pitchFamily="2" charset="0"/>
                <a:ea typeface="+mn-ea"/>
                <a:cs typeface="+mn-cs"/>
              </a:rPr>
              <a:t>local country </a:t>
            </a:r>
            <a:r>
              <a:rPr lang="en-US" sz="1800" kern="1200" dirty="0">
                <a:solidFill>
                  <a:srgbClr val="1F2C8F"/>
                </a:solidFill>
                <a:effectLst/>
                <a:latin typeface="Sabon Next LT" panose="02000500000000000000" pitchFamily="2" charset="0"/>
                <a:ea typeface="+mn-ea"/>
                <a:cs typeface="+mn-cs"/>
              </a:rPr>
              <a:t>using data and figures</a:t>
            </a:r>
            <a:endParaRPr lang="en-US" dirty="0">
              <a:effectLst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770A0D-5076-135B-85C3-7D01131FC9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2050" name="Picture 2" descr="81,900+ World Map With Countries Stock Photos, Pictures &amp; Royalty-Free  Images - iStock | World map with countries vector, World map with countries  names, World map with countries name">
            <a:extLst>
              <a:ext uri="{FF2B5EF4-FFF2-40B4-BE49-F238E27FC236}">
                <a16:creationId xmlns:a16="http://schemas.microsoft.com/office/drawing/2014/main" id="{5B2CD98E-F649-F81F-0E85-E97AB3A7BF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072" y="2908479"/>
            <a:ext cx="5951829" cy="38803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79967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E9C60-8F80-45D0-4A1B-1DB09D56E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Chapter 1: 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7225A6-66FD-98CE-3B0B-50EB3B1F15A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b="1" dirty="0"/>
              <a:t>1.2 Statement of problem </a:t>
            </a:r>
          </a:p>
          <a:p>
            <a:pPr>
              <a:lnSpc>
                <a:spcPct val="150000"/>
              </a:lnSpc>
            </a:pPr>
            <a:r>
              <a:rPr lang="en-US" dirty="0"/>
              <a:t>Clearly and briefly state the broader problem</a:t>
            </a:r>
          </a:p>
          <a:p>
            <a:pPr>
              <a:lnSpc>
                <a:spcPct val="150000"/>
              </a:lnSpc>
            </a:pPr>
            <a:r>
              <a:rPr lang="en-US" dirty="0"/>
              <a:t>Highlight the specific gap or deficiency in current knowledge</a:t>
            </a:r>
          </a:p>
          <a:p>
            <a:pPr>
              <a:lnSpc>
                <a:spcPct val="150000"/>
              </a:lnSpc>
            </a:pPr>
            <a:r>
              <a:rPr lang="en-US" dirty="0"/>
              <a:t>Explain clearly why the current state of research is incomplete.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dirty="0"/>
              <a:t>The current problem of the company or product or service is facing.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dirty="0"/>
              <a:t>Why your specific research topic is needed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454B0C-041C-7486-2FC6-EF4495021E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60039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141CE-6688-4F95-5376-2D924C2BA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Chapter 1: 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36910B-5221-7516-0E48-64AAF0AEF8F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numCol="2"/>
          <a:lstStyle/>
          <a:p>
            <a:pPr marL="0" indent="0">
              <a:buNone/>
            </a:pPr>
            <a:r>
              <a:rPr lang="en-US" sz="2000" b="1" dirty="0"/>
              <a:t>1.3 Research Objectives </a:t>
            </a:r>
          </a:p>
          <a:p>
            <a:r>
              <a:rPr lang="en-US" sz="1600" b="1" dirty="0"/>
              <a:t>Specific and Clear:</a:t>
            </a:r>
            <a:r>
              <a:rPr lang="en-US" sz="1600" dirty="0"/>
              <a:t> Clearly state what you aim to examine.</a:t>
            </a:r>
          </a:p>
          <a:p>
            <a:r>
              <a:rPr lang="en-US" sz="1600" b="1" dirty="0"/>
              <a:t>Measurable:</a:t>
            </a:r>
            <a:r>
              <a:rPr lang="en-US" sz="1600" dirty="0"/>
              <a:t> Can be answered through quantitative data.</a:t>
            </a:r>
          </a:p>
          <a:p>
            <a:r>
              <a:rPr lang="en-US" sz="1600" b="1" dirty="0"/>
              <a:t>Reflects Relationship or Impact:</a:t>
            </a:r>
            <a:r>
              <a:rPr lang="en-US" sz="1600" dirty="0"/>
              <a:t> Typically involves examining relationships or causal effects between variables.</a:t>
            </a:r>
          </a:p>
          <a:p>
            <a:pPr marL="0" indent="0">
              <a:buNone/>
            </a:pPr>
            <a:r>
              <a:rPr lang="en-US" dirty="0"/>
              <a:t>Ex. What is the impact of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sz="2000" b="1" dirty="0"/>
              <a:t>1.4 Research Questions </a:t>
            </a:r>
          </a:p>
          <a:p>
            <a:r>
              <a:rPr lang="en-US" dirty="0"/>
              <a:t>SMART : Specific; Measurable; Achievable; Relevant; Time-bound.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Ex. To examine the impact of</a:t>
            </a:r>
          </a:p>
          <a:p>
            <a:pPr marL="0" indent="0">
              <a:buNone/>
            </a:pPr>
            <a:r>
              <a:rPr lang="en-US" dirty="0"/>
              <a:t>Ex. To determine the mediating effect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EEAB21-9C1E-AA58-77D4-AB468FF8E6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08152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B374B-B9CE-C4B3-0C0E-0634D2E67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Chapter 1: 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7A171E-263C-34A3-5EFB-EED61D7A6EB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b="1" dirty="0"/>
              <a:t>1.5 Scope of Research</a:t>
            </a:r>
          </a:p>
          <a:p>
            <a:r>
              <a:rPr lang="en-US" b="1" dirty="0"/>
              <a:t>Geographic Location:</a:t>
            </a:r>
            <a:r>
              <a:rPr lang="en-US" dirty="0"/>
              <a:t> Country, city, region, or market of focus.</a:t>
            </a:r>
          </a:p>
          <a:p>
            <a:r>
              <a:rPr lang="en-US" b="1" dirty="0"/>
              <a:t>Population:</a:t>
            </a:r>
            <a:r>
              <a:rPr lang="en-US" dirty="0"/>
              <a:t> Specify clearly your study’s target respondents</a:t>
            </a:r>
          </a:p>
          <a:p>
            <a:r>
              <a:rPr lang="en-US" b="1" dirty="0"/>
              <a:t>Variables of Interest:</a:t>
            </a:r>
            <a:r>
              <a:rPr lang="en-US" dirty="0"/>
              <a:t> Clearly list the independent, dependent, and mediating variables.</a:t>
            </a:r>
          </a:p>
          <a:p>
            <a:r>
              <a:rPr lang="en-US" b="1" dirty="0"/>
              <a:t>Methodology:</a:t>
            </a:r>
            <a:r>
              <a:rPr lang="en-US" dirty="0"/>
              <a:t> Indicate briefly the research method (quantitative survey descriptive; reliability;  MLR)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206256-786D-8005-6DBA-4216F95C7D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80249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CAEC6-1B02-B6B5-1B94-4B644A7E6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Chapter 1: 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E417F-6CE7-017D-1D1C-8D47E09339D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b="1" dirty="0"/>
              <a:t>1.6 Research Limitations</a:t>
            </a:r>
          </a:p>
          <a:p>
            <a:r>
              <a:rPr lang="en-US" dirty="0"/>
              <a:t>Methodological Limitations - related to chosen research design, data collection techniques, or analysis methods.</a:t>
            </a:r>
          </a:p>
          <a:p>
            <a:r>
              <a:rPr lang="en-US" dirty="0"/>
              <a:t>Sampling Limitations - regarding sampling techniques, sample size, representativeness, or generalizability.</a:t>
            </a:r>
          </a:p>
          <a:p>
            <a:r>
              <a:rPr lang="en-US" dirty="0"/>
              <a:t>Measurement Limitations - due to survey/questionnaire biases, self-reporting issues</a:t>
            </a:r>
          </a:p>
          <a:p>
            <a:r>
              <a:rPr lang="en-US" dirty="0"/>
              <a:t>Geographical Limitations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0DEC9B-EB9B-1082-726C-8FD2F7C7A2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96846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B1745-BE67-E6CD-9B66-DC692892E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Chapter 1: 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C0FBD0-F1A0-CAE2-C91A-C84976C3F0A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b="1" dirty="0"/>
              <a:t>1.7 Significance of the Study</a:t>
            </a:r>
          </a:p>
          <a:p>
            <a:r>
              <a:rPr lang="en-US" dirty="0"/>
              <a:t>Theoretical Significance</a:t>
            </a:r>
            <a:r>
              <a:rPr lang="en-US" b="1" dirty="0"/>
              <a:t>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Explain how your research fills gaps in existing literature or extends theory</a:t>
            </a:r>
            <a:endParaRPr lang="en-US" b="1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Describe clearly how your study advances or enriches theoretical knowledge</a:t>
            </a:r>
          </a:p>
          <a:p>
            <a:r>
              <a:rPr lang="en-US" dirty="0"/>
              <a:t>Practical Significance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Describe clearly how your study benefits stakeholders such as businesses, consumers, marketers, or policymakers.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Highlight clearly the real-world implications of your findings.</a:t>
            </a:r>
          </a:p>
          <a:p>
            <a:pPr lvl="1"/>
            <a:endParaRPr lang="en-U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662941-5C88-95DB-B9AB-972A86086A8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22148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3E577-A305-771C-2E84-1FF5443A3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kern="1200" cap="all" baseline="0" dirty="0">
                <a:solidFill>
                  <a:srgbClr val="1F2C8F"/>
                </a:solidFill>
                <a:effectLst/>
                <a:latin typeface="Arial Black" panose="020B0A04020102020204" pitchFamily="34" charset="0"/>
                <a:ea typeface="+mj-ea"/>
                <a:cs typeface="Arial" panose="020B0604020202020204" pitchFamily="34" charset="0"/>
              </a:rPr>
              <a:t>Chapter 1: introduction</a:t>
            </a:r>
            <a:endParaRPr lang="en-US" sz="6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F7F2F5-69D6-B01B-C417-8BE8A073DA2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 of terms</a:t>
            </a:r>
            <a:endParaRPr lang="en-US" sz="2400" b="1" dirty="0"/>
          </a:p>
          <a:p>
            <a:pPr>
              <a:lnSpc>
                <a:spcPct val="150000"/>
              </a:lnSpc>
            </a:pPr>
            <a:r>
              <a:rPr lang="en-US" dirty="0"/>
              <a:t>Alphabetically List Each Term</a:t>
            </a:r>
          </a:p>
          <a:p>
            <a:pPr>
              <a:lnSpc>
                <a:spcPct val="150000"/>
              </a:lnSpc>
            </a:pPr>
            <a:r>
              <a:rPr lang="en-US" dirty="0"/>
              <a:t>Provides clear, operational definitions of the specific terms or concepts used within your study.</a:t>
            </a:r>
          </a:p>
          <a:p>
            <a:pPr>
              <a:lnSpc>
                <a:spcPct val="150000"/>
              </a:lnSpc>
            </a:pPr>
            <a:r>
              <a:rPr lang="en-US" dirty="0"/>
              <a:t>Each Term: provide one, most suitable definition.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8A34FC-F9C8-39D8-74B0-0972FB0022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3251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10199-C129-11F0-56F2-2D1AED21C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4809" y="1057274"/>
            <a:ext cx="7043617" cy="2520217"/>
          </a:xfrm>
        </p:spPr>
        <p:txBody>
          <a:bodyPr/>
          <a:lstStyle/>
          <a:p>
            <a:pPr algn="l">
              <a:spcAft>
                <a:spcPts val="1800"/>
              </a:spcAft>
            </a:pPr>
            <a:r>
              <a:rPr lang="en-US" dirty="0"/>
              <a:t>Sampling Methods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0AEC4F-E711-8552-9C34-82C1514A1E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DD6BDC-E008-6AB7-55A1-46ED9BCF054F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364808" y="3808750"/>
            <a:ext cx="7043618" cy="2233233"/>
          </a:xfrm>
        </p:spPr>
        <p:txBody>
          <a:bodyPr/>
          <a:lstStyle/>
          <a:p>
            <a:r>
              <a:rPr lang="en-US" dirty="0"/>
              <a:t>Probability &amp; Non-Probability sampling</a:t>
            </a:r>
          </a:p>
        </p:txBody>
      </p:sp>
    </p:spTree>
    <p:extLst>
      <p:ext uri="{BB962C8B-B14F-4D97-AF65-F5344CB8AC3E}">
        <p14:creationId xmlns:p14="http://schemas.microsoft.com/office/powerpoint/2010/main" val="11317180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EFC9F02-FD32-0982-B454-C07ED9DC7F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6" name="Picture 2" descr="Sampling Procedures">
            <a:extLst>
              <a:ext uri="{FF2B5EF4-FFF2-40B4-BE49-F238E27FC236}">
                <a16:creationId xmlns:a16="http://schemas.microsoft.com/office/drawing/2014/main" id="{033C0592-41C3-D6D0-D3A7-A48091D9DE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7891" y="580333"/>
            <a:ext cx="6114037" cy="5827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80435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A34A6-22BC-27A4-2C79-EE98A4943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834636"/>
            <a:ext cx="7796464" cy="718222"/>
          </a:xfrm>
        </p:spPr>
        <p:txBody>
          <a:bodyPr/>
          <a:lstStyle/>
          <a:p>
            <a:r>
              <a:rPr lang="en-US" sz="3200" b="1" kern="1200" cap="all" baseline="0" dirty="0">
                <a:solidFill>
                  <a:srgbClr val="1F2C8F"/>
                </a:solidFill>
                <a:effectLst/>
                <a:latin typeface="Arial Black" panose="020B0A04020102020204" pitchFamily="34" charset="0"/>
                <a:ea typeface="+mj-ea"/>
                <a:cs typeface="+mj-cs"/>
              </a:rPr>
              <a:t>Sampling Methods</a:t>
            </a:r>
            <a:endParaRPr lang="en-US" sz="5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67C004-8B72-C872-98FB-00A2A584D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3074" name="Picture 2" descr="Sampling Methods">
            <a:extLst>
              <a:ext uri="{FF2B5EF4-FFF2-40B4-BE49-F238E27FC236}">
                <a16:creationId xmlns:a16="http://schemas.microsoft.com/office/drawing/2014/main" id="{13725744-D925-9FF8-FB46-9938AAF1494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41" t="14897" r="8007" b="6177"/>
          <a:stretch/>
        </p:blipFill>
        <p:spPr bwMode="auto">
          <a:xfrm>
            <a:off x="438264" y="1841882"/>
            <a:ext cx="7970172" cy="4465483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5972CFA-D834-FC28-ECDF-D37D772F7D20}"/>
              </a:ext>
            </a:extLst>
          </p:cNvPr>
          <p:cNvSpPr txBox="1"/>
          <p:nvPr/>
        </p:nvSpPr>
        <p:spPr>
          <a:xfrm>
            <a:off x="730438" y="6596390"/>
            <a:ext cx="51455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/>
              <a:t>https://www.questionpro.com/blog/types-of-sampling-methods/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24685957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460074-C31C-65E5-E811-635672CE7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FC1F241-2893-5D06-87EB-70B493209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563" y="1089213"/>
            <a:ext cx="9879437" cy="980844"/>
          </a:xfrm>
        </p:spPr>
        <p:txBody>
          <a:bodyPr/>
          <a:lstStyle/>
          <a:p>
            <a:r>
              <a:rPr lang="en-US" dirty="0"/>
              <a:t>Non-Probability sampling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9CAE77B7-5D97-19C5-9EE5-0AE3BCDCFBBE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5087938" y="2332038"/>
          <a:ext cx="6345236" cy="3068014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227408">
                  <a:extLst>
                    <a:ext uri="{9D8B030D-6E8A-4147-A177-3AD203B41FA5}">
                      <a16:colId xmlns:a16="http://schemas.microsoft.com/office/drawing/2014/main" val="180956085"/>
                    </a:ext>
                  </a:extLst>
                </a:gridCol>
                <a:gridCol w="4117828">
                  <a:extLst>
                    <a:ext uri="{9D8B030D-6E8A-4147-A177-3AD203B41FA5}">
                      <a16:colId xmlns:a16="http://schemas.microsoft.com/office/drawing/2014/main" val="1180706872"/>
                    </a:ext>
                  </a:extLst>
                </a:gridCol>
              </a:tblGrid>
              <a:tr h="606129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Sampling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Definition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9142786"/>
                  </a:ext>
                </a:extLst>
              </a:tr>
              <a:tr h="606129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600" b="0" kern="1200" dirty="0">
                          <a:solidFill>
                            <a:schemeClr val="accent6"/>
                          </a:solidFill>
                          <a:latin typeface="+mn-lt"/>
                          <a:ea typeface="+mn-ea"/>
                          <a:cs typeface="+mn-cs"/>
                        </a:rPr>
                        <a:t>Convenience Sampling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600" b="0" kern="1200" dirty="0">
                          <a:solidFill>
                            <a:schemeClr val="accent6"/>
                          </a:solidFill>
                          <a:latin typeface="+mn-lt"/>
                          <a:ea typeface="+mn-ea"/>
                          <a:cs typeface="+mn-cs"/>
                        </a:rPr>
                        <a:t>Who are readily available to the researcher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8576737"/>
                  </a:ext>
                </a:extLst>
              </a:tr>
              <a:tr h="643498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600" b="0" kern="1200" dirty="0">
                          <a:solidFill>
                            <a:schemeClr val="accent6"/>
                          </a:solidFill>
                          <a:latin typeface="+mn-lt"/>
                          <a:ea typeface="+mn-ea"/>
                          <a:cs typeface="+mn-cs"/>
                        </a:rPr>
                        <a:t>Purposive (Judgmental) Sampling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600" b="0" kern="1200" dirty="0">
                          <a:solidFill>
                            <a:schemeClr val="accent6"/>
                          </a:solidFill>
                          <a:latin typeface="+mn-lt"/>
                          <a:ea typeface="+mn-ea"/>
                          <a:cs typeface="+mn-cs"/>
                        </a:rPr>
                        <a:t>Specific characteristics or purpose relevant to the study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6410507"/>
                  </a:ext>
                </a:extLst>
              </a:tr>
              <a:tr h="606129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600" b="0" kern="1200" dirty="0">
                          <a:solidFill>
                            <a:schemeClr val="accent6"/>
                          </a:solidFill>
                          <a:latin typeface="+mn-lt"/>
                          <a:ea typeface="+mn-ea"/>
                          <a:cs typeface="+mn-cs"/>
                        </a:rPr>
                        <a:t>Snowball Sampling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600" b="0" kern="1200" dirty="0" err="1">
                          <a:solidFill>
                            <a:schemeClr val="accent6"/>
                          </a:solidFill>
                          <a:latin typeface="+mn-lt"/>
                          <a:ea typeface="+mn-ea"/>
                          <a:cs typeface="+mn-cs"/>
                        </a:rPr>
                        <a:t>Existing</a:t>
                      </a:r>
                      <a:r>
                        <a:rPr lang="fr-FR" sz="1600" b="0" kern="1200" dirty="0">
                          <a:solidFill>
                            <a:schemeClr val="accent6"/>
                          </a:solidFill>
                          <a:latin typeface="+mn-lt"/>
                          <a:ea typeface="+mn-ea"/>
                          <a:cs typeface="+mn-cs"/>
                        </a:rPr>
                        <a:t> participants recuit future participants</a:t>
                      </a:r>
                      <a:endParaRPr lang="en-US" sz="1600" b="0" kern="1200" dirty="0">
                        <a:solidFill>
                          <a:schemeClr val="accent6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8116840"/>
                  </a:ext>
                </a:extLst>
              </a:tr>
              <a:tr h="606129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600" b="0" kern="1200" dirty="0">
                          <a:solidFill>
                            <a:schemeClr val="accent6"/>
                          </a:solidFill>
                          <a:latin typeface="+mn-lt"/>
                          <a:ea typeface="+mn-ea"/>
                          <a:cs typeface="+mn-cs"/>
                        </a:rPr>
                        <a:t>Quota Sampling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600" b="0" kern="1200" dirty="0">
                          <a:solidFill>
                            <a:schemeClr val="accent6"/>
                          </a:solidFill>
                          <a:latin typeface="+mn-lt"/>
                          <a:ea typeface="+mn-ea"/>
                          <a:cs typeface="+mn-cs"/>
                        </a:rPr>
                        <a:t>Pre-specified quotas for subgroups within the population.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3592559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F04171D-5156-906B-761B-BE383D1469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4D7EC2C-9114-7C4A-9A36-8A4ACF398C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50564" y="2331958"/>
            <a:ext cx="2975217" cy="3798309"/>
          </a:xfrm>
        </p:spPr>
        <p:txBody>
          <a:bodyPr/>
          <a:lstStyle/>
          <a:p>
            <a:r>
              <a:rPr lang="en-US" dirty="0"/>
              <a:t>Sampling technique in which </a:t>
            </a:r>
            <a:r>
              <a:rPr lang="en-US" b="1" dirty="0"/>
              <a:t>not all individuals </a:t>
            </a:r>
            <a:r>
              <a:rPr lang="en-US" dirty="0"/>
              <a:t>in the target population </a:t>
            </a:r>
            <a:r>
              <a:rPr lang="en-US" b="1" dirty="0"/>
              <a:t>have an equal chance of being selected</a:t>
            </a:r>
            <a:r>
              <a:rPr lang="en-US" dirty="0"/>
              <a:t> as participants.</a:t>
            </a:r>
          </a:p>
          <a:p>
            <a:r>
              <a:rPr lang="en-US" b="1" dirty="0"/>
              <a:t>Easier access </a:t>
            </a:r>
            <a:r>
              <a:rPr lang="en-US" dirty="0"/>
              <a:t>to participants and is often </a:t>
            </a:r>
            <a:r>
              <a:rPr lang="en-US" b="1" dirty="0"/>
              <a:t>less costly </a:t>
            </a:r>
            <a:r>
              <a:rPr lang="en-US" dirty="0"/>
              <a:t>and time-consuming, it may introduce </a:t>
            </a:r>
            <a:r>
              <a:rPr lang="en-US" b="1" dirty="0"/>
              <a:t>sampling bias</a:t>
            </a:r>
            <a:r>
              <a:rPr lang="en-US" dirty="0"/>
              <a:t> and </a:t>
            </a:r>
            <a:r>
              <a:rPr lang="en-US" b="1" dirty="0"/>
              <a:t>limit the generalizability </a:t>
            </a:r>
            <a:r>
              <a:rPr lang="en-US" dirty="0"/>
              <a:t>of findings.</a:t>
            </a:r>
          </a:p>
        </p:txBody>
      </p:sp>
    </p:spTree>
    <p:extLst>
      <p:ext uri="{BB962C8B-B14F-4D97-AF65-F5344CB8AC3E}">
        <p14:creationId xmlns:p14="http://schemas.microsoft.com/office/powerpoint/2010/main" val="21607890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136FCF6-982C-CC37-9625-3EBFC7E7D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563" y="1089213"/>
            <a:ext cx="9879437" cy="980844"/>
          </a:xfrm>
        </p:spPr>
        <p:txBody>
          <a:bodyPr/>
          <a:lstStyle/>
          <a:p>
            <a:r>
              <a:rPr lang="en-US" dirty="0"/>
              <a:t>Probability sampling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4DB3991E-0605-C20E-53AD-D64E13638DA5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971120478"/>
              </p:ext>
            </p:extLst>
          </p:nvPr>
        </p:nvGraphicFramePr>
        <p:xfrm>
          <a:off x="4882332" y="2332038"/>
          <a:ext cx="6543693" cy="3284845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005427">
                  <a:extLst>
                    <a:ext uri="{9D8B030D-6E8A-4147-A177-3AD203B41FA5}">
                      <a16:colId xmlns:a16="http://schemas.microsoft.com/office/drawing/2014/main" val="180956085"/>
                    </a:ext>
                  </a:extLst>
                </a:gridCol>
                <a:gridCol w="4538266">
                  <a:extLst>
                    <a:ext uri="{9D8B030D-6E8A-4147-A177-3AD203B41FA5}">
                      <a16:colId xmlns:a16="http://schemas.microsoft.com/office/drawing/2014/main" val="1180706872"/>
                    </a:ext>
                  </a:extLst>
                </a:gridCol>
              </a:tblGrid>
              <a:tr h="606129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Sampling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Definition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9142786"/>
                  </a:ext>
                </a:extLst>
              </a:tr>
              <a:tr h="606129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600" kern="1200" dirty="0">
                          <a:solidFill>
                            <a:schemeClr val="accent6"/>
                          </a:solidFill>
                          <a:latin typeface="+mn-lt"/>
                          <a:ea typeface="+mn-ea"/>
                          <a:cs typeface="+mn-cs"/>
                        </a:rPr>
                        <a:t>Simple Random Sampling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600" kern="1200" dirty="0">
                          <a:solidFill>
                            <a:schemeClr val="accent6"/>
                          </a:solidFill>
                          <a:latin typeface="+mn-lt"/>
                          <a:ea typeface="+mn-ea"/>
                          <a:cs typeface="+mn-cs"/>
                        </a:rPr>
                        <a:t>Every member of the population has equal chance of being selected (lucky draw)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8576737"/>
                  </a:ext>
                </a:extLst>
              </a:tr>
              <a:tr h="643498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600" kern="1200" dirty="0">
                          <a:solidFill>
                            <a:schemeClr val="accent6"/>
                          </a:solidFill>
                          <a:latin typeface="+mn-lt"/>
                          <a:ea typeface="+mn-ea"/>
                          <a:cs typeface="+mn-cs"/>
                        </a:rPr>
                        <a:t>Systematic Sampling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600" kern="1200" dirty="0">
                          <a:solidFill>
                            <a:schemeClr val="accent6"/>
                          </a:solidFill>
                          <a:latin typeface="+mn-lt"/>
                          <a:ea typeface="+mn-ea"/>
                          <a:cs typeface="+mn-cs"/>
                        </a:rPr>
                        <a:t>Every member of the population is selected from a list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6410507"/>
                  </a:ext>
                </a:extLst>
              </a:tr>
              <a:tr h="606129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600" kern="1200" dirty="0">
                          <a:solidFill>
                            <a:schemeClr val="accent6"/>
                          </a:solidFill>
                          <a:latin typeface="+mn-lt"/>
                          <a:ea typeface="+mn-ea"/>
                          <a:cs typeface="+mn-cs"/>
                        </a:rPr>
                        <a:t>Stratified Sampling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600" kern="1200" dirty="0">
                          <a:solidFill>
                            <a:schemeClr val="accent6"/>
                          </a:solidFill>
                          <a:latin typeface="+mn-lt"/>
                          <a:ea typeface="+mn-ea"/>
                          <a:cs typeface="+mn-cs"/>
                        </a:rPr>
                        <a:t>Divided into subgroups based on specific characteristics, using random samples for each subgroup.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8116840"/>
                  </a:ext>
                </a:extLst>
              </a:tr>
              <a:tr h="606129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600" kern="1200" dirty="0">
                          <a:solidFill>
                            <a:schemeClr val="accent6"/>
                          </a:solidFill>
                          <a:latin typeface="+mn-lt"/>
                          <a:ea typeface="+mn-ea"/>
                          <a:cs typeface="+mn-cs"/>
                        </a:rPr>
                        <a:t>Cluster Sampling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600" kern="1200" dirty="0">
                          <a:solidFill>
                            <a:schemeClr val="accent6"/>
                          </a:solidFill>
                          <a:latin typeface="+mn-lt"/>
                          <a:ea typeface="+mn-ea"/>
                          <a:cs typeface="+mn-cs"/>
                        </a:rPr>
                        <a:t>population is divided into clusters (often geographically)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3592559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13EEC9-16E3-6C86-97D0-A7EC7EA09C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DBD94BE-43DC-DD43-2F24-A0F53C7460A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50564" y="2331958"/>
            <a:ext cx="2975217" cy="3798309"/>
          </a:xfrm>
        </p:spPr>
        <p:txBody>
          <a:bodyPr/>
          <a:lstStyle/>
          <a:p>
            <a:r>
              <a:rPr lang="en-US" b="1" dirty="0"/>
              <a:t>Every member </a:t>
            </a:r>
            <a:r>
              <a:rPr lang="en-US" dirty="0"/>
              <a:t>of the target population has a </a:t>
            </a:r>
            <a:r>
              <a:rPr lang="en-US" b="1" dirty="0"/>
              <a:t>known, non-zero chance </a:t>
            </a:r>
            <a:r>
              <a:rPr lang="en-US" dirty="0"/>
              <a:t>of being </a:t>
            </a:r>
            <a:r>
              <a:rPr lang="en-US" b="1" dirty="0"/>
              <a:t>selected</a:t>
            </a:r>
            <a:r>
              <a:rPr lang="en-US" dirty="0"/>
              <a:t> as part of the study sample. </a:t>
            </a:r>
          </a:p>
          <a:p>
            <a:r>
              <a:rPr lang="en-US" b="1" dirty="0"/>
              <a:t>Gold standard </a:t>
            </a:r>
            <a:r>
              <a:rPr lang="en-US" dirty="0"/>
              <a:t>in quantitative research because it reduces selection bias and enhances the </a:t>
            </a:r>
            <a:r>
              <a:rPr lang="en-US" b="1" dirty="0"/>
              <a:t>validity and reliability.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99961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1" y="849782"/>
            <a:ext cx="5715000" cy="2727709"/>
          </a:xfrm>
        </p:spPr>
        <p:txBody>
          <a:bodyPr/>
          <a:lstStyle/>
          <a:p>
            <a:r>
              <a:rPr lang="en-US" dirty="0"/>
              <a:t>Thank </a:t>
            </a:r>
            <a:br>
              <a:rPr lang="en-US" dirty="0"/>
            </a:br>
            <a:r>
              <a:rPr lang="en-US" dirty="0"/>
              <a:t>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B5CEF2-E667-BBB5-2EA6-C06F93B6DE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1" y="3813606"/>
            <a:ext cx="5715000" cy="2234642"/>
          </a:xfrm>
        </p:spPr>
        <p:txBody>
          <a:bodyPr/>
          <a:lstStyle/>
          <a:p>
            <a:r>
              <a:rPr lang="en-US" sz="1800" dirty="0">
                <a:effectLst/>
                <a:latin typeface="Calibri" panose="020F0502020204030204" pitchFamily="34" charset="0"/>
                <a:ea typeface="等线" panose="02010600030101010101" pitchFamily="2" charset="-122"/>
                <a:cs typeface="Cordia New" panose="020B0304020202020204" pitchFamily="34" charset="-34"/>
              </a:rPr>
              <a:t>Faculty member of </a:t>
            </a:r>
            <a:r>
              <a:rPr lang="en-US" sz="1800" dirty="0">
                <a:latin typeface="Calibri" panose="020F0502020204030204" pitchFamily="34" charset="0"/>
                <a:ea typeface="等线" panose="02010600030101010101" pitchFamily="2" charset="-122"/>
                <a:cs typeface="Cordia New" panose="020B0304020202020204" pitchFamily="34" charset="-34"/>
              </a:rPr>
              <a:t>ITM</a:t>
            </a:r>
            <a:endParaRPr lang="en-US" sz="1800" dirty="0">
              <a:effectLst/>
              <a:latin typeface="Calibri" panose="020F0502020204030204" pitchFamily="34" charset="0"/>
              <a:ea typeface="等线" panose="02010600030101010101" pitchFamily="2" charset="-122"/>
              <a:cs typeface="Cordia New" panose="020B0304020202020204" pitchFamily="34" charset="-34"/>
            </a:endParaRPr>
          </a:p>
          <a:p>
            <a:r>
              <a:rPr lang="en-US" sz="18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Cordia New" panose="020B0304020202020204" pitchFamily="34" charset="-34"/>
              </a:rPr>
              <a:t>guqizhen@au.edu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45360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E3A02-F1CD-4EDC-6FC2-39B27D3806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</a:t>
            </a:r>
            <a:r>
              <a:rPr lang="en-US" altLang="zh-CN" dirty="0"/>
              <a:t>uest speaker</a:t>
            </a:r>
            <a:br>
              <a:rPr lang="en-US" altLang="zh-CN" dirty="0"/>
            </a:br>
            <a:r>
              <a:rPr lang="en-US" altLang="zh-CN" dirty="0" err="1"/>
              <a:t>Prof.Dr.lars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155E92-D042-6CD2-7E36-36492A6570C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Wed,4 June 2025</a:t>
            </a:r>
          </a:p>
          <a:p>
            <a:r>
              <a:rPr lang="en-US" dirty="0"/>
              <a:t>AI BASED TECHNOLOGY AND SMART MARKETING</a:t>
            </a:r>
          </a:p>
          <a:p>
            <a:r>
              <a:rPr lang="en-US" dirty="0"/>
              <a:t>A72 HUAMAK CAMPUS, 10:00-11:45</a:t>
            </a:r>
          </a:p>
        </p:txBody>
      </p:sp>
    </p:spTree>
    <p:extLst>
      <p:ext uri="{BB962C8B-B14F-4D97-AF65-F5344CB8AC3E}">
        <p14:creationId xmlns:p14="http://schemas.microsoft.com/office/powerpoint/2010/main" val="2847660897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{273FF5E8-D330-4081-9A14-EF3138E780D2}tf78438558_win32</Template>
  <TotalTime>208</TotalTime>
  <Words>751</Words>
  <Application>Microsoft Office PowerPoint</Application>
  <PresentationFormat>Widescreen</PresentationFormat>
  <Paragraphs>114</Paragraphs>
  <Slides>17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Arial</vt:lpstr>
      <vt:lpstr>Arial Black</vt:lpstr>
      <vt:lpstr>Calibri</vt:lpstr>
      <vt:lpstr>georgia</vt:lpstr>
      <vt:lpstr>Sabon Next LT</vt:lpstr>
      <vt:lpstr>Times New Roman</vt:lpstr>
      <vt:lpstr>Wingdings</vt:lpstr>
      <vt:lpstr>Custom</vt:lpstr>
      <vt:lpstr>ITM7000 Master project</vt:lpstr>
      <vt:lpstr>RESEARCH PAPER</vt:lpstr>
      <vt:lpstr>Chapter 1: introduction</vt:lpstr>
      <vt:lpstr>Chapter 1: introduction</vt:lpstr>
      <vt:lpstr>Chapter 1: introduction</vt:lpstr>
      <vt:lpstr>Chapter 1: introduction</vt:lpstr>
      <vt:lpstr>Chapter 1: introduction</vt:lpstr>
      <vt:lpstr>Chapter 1: introduction</vt:lpstr>
      <vt:lpstr>Chapter 1: introduction</vt:lpstr>
      <vt:lpstr>Chapter 1: introduction</vt:lpstr>
      <vt:lpstr>Sampling Methods</vt:lpstr>
      <vt:lpstr>PowerPoint Presentation</vt:lpstr>
      <vt:lpstr>Sampling Methods</vt:lpstr>
      <vt:lpstr>Non-Probability sampling</vt:lpstr>
      <vt:lpstr>Probability sampling</vt:lpstr>
      <vt:lpstr>Thank  you</vt:lpstr>
      <vt:lpstr>Guest speaker Prof.Dr.lars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Gu Qizhen</dc:creator>
  <cp:lastModifiedBy>Gu Qizhen</cp:lastModifiedBy>
  <cp:revision>5</cp:revision>
  <dcterms:created xsi:type="dcterms:W3CDTF">2025-05-18T09:29:06Z</dcterms:created>
  <dcterms:modified xsi:type="dcterms:W3CDTF">2025-05-31T08:25:50Z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