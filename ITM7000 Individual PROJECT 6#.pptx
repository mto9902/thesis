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23" r:id="rId5"/>
    <p:sldId id="304" r:id="rId6"/>
    <p:sldId id="282" r:id="rId7"/>
    <p:sldId id="324" r:id="rId8"/>
    <p:sldId id="325" r:id="rId9"/>
    <p:sldId id="326" r:id="rId10"/>
    <p:sldId id="327" r:id="rId11"/>
    <p:sldId id="328" r:id="rId12"/>
    <p:sldId id="331" r:id="rId13"/>
    <p:sldId id="329" r:id="rId14"/>
    <p:sldId id="330" r:id="rId15"/>
    <p:sldId id="332" r:id="rId16"/>
    <p:sldId id="333" r:id="rId17"/>
    <p:sldId id="334" r:id="rId18"/>
    <p:sldId id="29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5388" autoAdjust="0"/>
  </p:normalViewPr>
  <p:slideViewPr>
    <p:cSldViewPr snapToGrid="0" snapToObjects="1">
      <p:cViewPr varScale="1">
        <p:scale>
          <a:sx n="104" d="100"/>
          <a:sy n="104" d="100"/>
        </p:scale>
        <p:origin x="62" y="123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F315C-07C7-F210-2012-6165128E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46F79-AF9B-5A84-E54C-99D23398D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BE398-965D-0C1A-DB9D-546090F20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344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tm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E859B6-8E4B-6574-3D08-504C7AED16DB}"/>
              </a:ext>
            </a:extLst>
          </p:cNvPr>
          <p:cNvSpPr/>
          <p:nvPr/>
        </p:nvSpPr>
        <p:spPr>
          <a:xfrm>
            <a:off x="1524001" y="6547854"/>
            <a:ext cx="2470484" cy="3048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Dr. Qizhen Gu (Kimi)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7899638-06A5-FE80-93BC-A8FB8841070D}"/>
              </a:ext>
            </a:extLst>
          </p:cNvPr>
          <p:cNvSpPr txBox="1">
            <a:spLocks/>
          </p:cNvSpPr>
          <p:nvPr/>
        </p:nvSpPr>
        <p:spPr>
          <a:xfrm>
            <a:off x="3052190" y="962627"/>
            <a:ext cx="6392421" cy="3831221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latin typeface="georgia" panose="02040502050405020303" pitchFamily="18" charset="0"/>
              </a:rPr>
              <a:t>ITM7000 </a:t>
            </a:r>
            <a:r>
              <a:rPr lang="en-US" altLang="zh-CN" b="0">
                <a:latin typeface="georgia" panose="02040502050405020303" pitchFamily="18" charset="0"/>
              </a:rPr>
              <a:t>Master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570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RESEARCH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strike="sngStrike" dirty="0"/>
              <a:t>Chapter 1: introduction</a:t>
            </a:r>
          </a:p>
          <a:p>
            <a:r>
              <a:rPr lang="en-US" strike="sngStrike" dirty="0"/>
              <a:t>Chapter 2 : Literature review</a:t>
            </a:r>
          </a:p>
          <a:p>
            <a:r>
              <a:rPr lang="en-US" strike="sngStrike" dirty="0"/>
              <a:t>Chapter 3 Research framework</a:t>
            </a:r>
          </a:p>
          <a:p>
            <a:r>
              <a:rPr lang="en-US" strike="sngStrike" dirty="0"/>
              <a:t>Chapter 4 Research methodology</a:t>
            </a:r>
          </a:p>
          <a:p>
            <a:r>
              <a:rPr lang="en-US" dirty="0"/>
              <a:t>C</a:t>
            </a:r>
            <a:r>
              <a:rPr lang="en-US" altLang="zh-CN" dirty="0"/>
              <a:t>hapter 5 Research result</a:t>
            </a:r>
          </a:p>
          <a:p>
            <a:r>
              <a:rPr lang="en-US" dirty="0"/>
              <a:t>Chapter 6 Discussion and recommendation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sz="3200" dirty="0"/>
              <a:t>C</a:t>
            </a:r>
            <a:r>
              <a:rPr lang="en-US" altLang="zh-CN" sz="3200" dirty="0"/>
              <a:t>hapter 5 Research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5.1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Reliability testing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</a:rPr>
              <a:t>5.2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Descriptive analysis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</a:rPr>
              <a:t>5.3 </a:t>
            </a:r>
            <a:r>
              <a:rPr 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Mean and Standard Deviation for Descriptive Analysis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5.4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Hypothesis Testing Results</a:t>
            </a:r>
            <a:endParaRPr lang="en-US" sz="2000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7B7F-9AE1-2B78-58C2-F1B94E4D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5EBA-4EF0-8752-0160-423656CD3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Reliability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EACB0-FAE0-11F9-CB79-97C585CBC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Cronbach's α. If it is ≥0.7, the questionnaire with this variable has no problem.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this value is &lt; 0.7, it indicates that the questionnaire does not have sufficient reliability. 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various methods for remediation.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First, look for references. Some literatures emphasize that a value of Cronbach's α ≥0.6 meets the requirements.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Secondly, data can be collected again and tested again.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Thirdly, you can look at the table within the red box. Here it shows what the value of Cronbach's α will become if a certain problem is removed.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5D337414-A08B-30E7-8D85-537A98344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16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7543-C0CB-901D-A435-B6C4CABB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5.2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Descriptive analysis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18C78F5-01BA-F500-50A3-82635C4BC4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60565" y="2106351"/>
            <a:ext cx="4642879" cy="264529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FE609-40A9-4A44-A4F4-59D26C2B64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335EEB-D434-F2D0-0D36-3DE212ACC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565" y="4751649"/>
            <a:ext cx="4642879" cy="15090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ACBB04-E803-2F89-2019-6B9D57EAF9C0}"/>
              </a:ext>
            </a:extLst>
          </p:cNvPr>
          <p:cNvSpPr txBox="1"/>
          <p:nvPr/>
        </p:nvSpPr>
        <p:spPr>
          <a:xfrm>
            <a:off x="8103444" y="2333464"/>
            <a:ext cx="352945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Present descriptive statistics (frequencies, percentages) for demographic data (e.g., gender, age, education, position).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tables or charts for clarity.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399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B201-658D-D6F8-476A-2E8C7984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</a:rPr>
              <a:t>5.3 </a:t>
            </a:r>
            <a:r>
              <a:rPr 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Mean and Standard Deviation for Descriptive Analysis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37FD-EC50-54D7-436C-421DD106D5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Report means, standard deviations, and other relevant descriptive statistics for each study variable. (we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combine the Cronbach’s Alpha in the table)</a:t>
            </a:r>
          </a:p>
          <a:p>
            <a:r>
              <a:rPr lang="en-US" dirty="0"/>
              <a:t>The mean can help with us when we make recommendation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1A9F4-D537-7200-DAF9-53FC3041F5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279A75-C525-89F0-EA49-38353E7897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610"/>
          <a:stretch>
            <a:fillRect/>
          </a:stretch>
        </p:blipFill>
        <p:spPr>
          <a:xfrm>
            <a:off x="3252185" y="3282319"/>
            <a:ext cx="4191110" cy="1919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B8E1CD-2D35-F17D-C3C9-8FA2201817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445"/>
          <a:stretch>
            <a:fillRect/>
          </a:stretch>
        </p:blipFill>
        <p:spPr>
          <a:xfrm>
            <a:off x="7443295" y="3282319"/>
            <a:ext cx="4191110" cy="282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E8E34-5B9C-BFC5-D8EF-BBB301F7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D8AB2-39EE-2821-BEBF-43B31D79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5.4 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Hypothesis Testing Results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6F6C1-E2E3-6AB1-6FAA-7432B78AA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18CEA4-BD9A-B9ED-E35D-ABF7A0F865B8}"/>
              </a:ext>
            </a:extLst>
          </p:cNvPr>
          <p:cNvGrpSpPr/>
          <p:nvPr/>
        </p:nvGrpSpPr>
        <p:grpSpPr>
          <a:xfrm>
            <a:off x="3503851" y="2293648"/>
            <a:ext cx="4724107" cy="3209492"/>
            <a:chOff x="1154429" y="1915317"/>
            <a:chExt cx="4724107" cy="3209492"/>
          </a:xfrm>
        </p:grpSpPr>
        <p:pic>
          <p:nvPicPr>
            <p:cNvPr id="12" name="Content Placeholder 4">
              <a:extLst>
                <a:ext uri="{FF2B5EF4-FFF2-40B4-BE49-F238E27FC236}">
                  <a16:creationId xmlns:a16="http://schemas.microsoft.com/office/drawing/2014/main" id="{210BE459-058C-0BD3-8EBE-F6A7CC10F4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2309"/>
            <a:stretch/>
          </p:blipFill>
          <p:spPr>
            <a:xfrm>
              <a:off x="1154429" y="1915317"/>
              <a:ext cx="4724107" cy="320532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C69B80F-00C7-B801-6442-FA5A449F8E83}"/>
                </a:ext>
              </a:extLst>
            </p:cNvPr>
            <p:cNvSpPr/>
            <p:nvPr/>
          </p:nvSpPr>
          <p:spPr>
            <a:xfrm>
              <a:off x="2743201" y="2759629"/>
              <a:ext cx="385762" cy="5407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DDE9EC-0CE3-BBE4-E695-2D1DB15D6ED2}"/>
                </a:ext>
              </a:extLst>
            </p:cNvPr>
            <p:cNvSpPr/>
            <p:nvPr/>
          </p:nvSpPr>
          <p:spPr>
            <a:xfrm>
              <a:off x="5203032" y="4437658"/>
              <a:ext cx="450410" cy="68715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209D71-9E87-27FE-9764-8DBDD9F01272}"/>
                </a:ext>
              </a:extLst>
            </p:cNvPr>
            <p:cNvSpPr/>
            <p:nvPr/>
          </p:nvSpPr>
          <p:spPr>
            <a:xfrm>
              <a:off x="4248581" y="4411862"/>
              <a:ext cx="450410" cy="68715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3B924393-7DA5-B6B6-329F-224420A09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37" r="39178" b="1652"/>
          <a:stretch>
            <a:fillRect/>
          </a:stretch>
        </p:blipFill>
        <p:spPr>
          <a:xfrm>
            <a:off x="6554943" y="2228893"/>
            <a:ext cx="3070606" cy="204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19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Vs Icon Stock Illustrations – 16,796 Vs Icon Stock Illustrations, Vectors &amp;  Clipart - Dreamstime">
            <a:extLst>
              <a:ext uri="{FF2B5EF4-FFF2-40B4-BE49-F238E27FC236}">
                <a16:creationId xmlns:a16="http://schemas.microsoft.com/office/drawing/2014/main" id="{55D7DA35-94EC-0BE8-6FCD-CF768811F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659" y="4416123"/>
            <a:ext cx="1089795" cy="1089795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66B127-5FDC-D281-3C9F-B63A3D1C7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5.4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Hypothesis Testing Results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E0F04-9252-9B89-2303-160580D552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Report results for each research hypothesis (regression coefficients, p-values)</a:t>
            </a:r>
          </a:p>
          <a:p>
            <a:r>
              <a:rPr lang="en-US" dirty="0"/>
              <a:t>Clearly state whether each hypothesis is supported, using statistical evidence.</a:t>
            </a:r>
          </a:p>
          <a:p>
            <a:r>
              <a:rPr lang="en-US" dirty="0"/>
              <a:t>Use tables and figures to present key results (summary tables of regression, VIF table)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5F6EA-0F8A-9F2D-7228-D5514E8F0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6CC143-E9D8-9E5C-6BAC-3C09B6A1B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95" y="4365011"/>
            <a:ext cx="4425159" cy="119201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E2AA77-3D91-7F8D-CB34-BBCBD5C26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055" y="3951343"/>
            <a:ext cx="4463260" cy="160568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137076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D5D29-862C-25B5-D660-112D890C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Additional Analyses (if any)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5158-DD26-C5C5-127D-B74B158591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Report results of mediation (some of your research might use mediation analysis)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2F45A-6B96-95C0-57C7-28EC66AE7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65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746A-1184-EEB5-D80F-027520910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6 Discussion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94033-8626-294C-0636-32C19B895C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/>
              <a:t>6.1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Discussion and conclusion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6.2 Recommendations based on Finding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</a:rPr>
              <a:t>6.3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Future studies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References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320A7-71CB-AE74-E511-DD76BB3644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024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9FC16-3812-3A9C-99F5-70B0F804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B1091-76FE-D6CA-2589-8246ED6C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</a:t>
            </a:r>
            <a:r>
              <a:rPr lang="en-US" sz="3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639C7-4BDF-68C9-C2B3-6F10D0F727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For each research question or hypothesis, interpret the results:</a:t>
            </a:r>
          </a:p>
          <a:p>
            <a:r>
              <a:rPr lang="en-US" b="1" dirty="0"/>
              <a:t>Compare your findings</a:t>
            </a:r>
            <a:r>
              <a:rPr lang="en-US" dirty="0"/>
              <a:t> with previous literature (agreements, contradictions). </a:t>
            </a:r>
          </a:p>
          <a:p>
            <a:r>
              <a:rPr lang="en-US" b="1" dirty="0"/>
              <a:t>Explain possible reasons</a:t>
            </a:r>
            <a:r>
              <a:rPr lang="en-US" dirty="0"/>
              <a:t> for your results. (If the result is conflicted with previous study we need to explain why as the research designer. )</a:t>
            </a:r>
          </a:p>
          <a:p>
            <a:r>
              <a:rPr lang="en-US" dirty="0"/>
              <a:t>Highlight </a:t>
            </a:r>
            <a:r>
              <a:rPr lang="en-US" b="1" dirty="0"/>
              <a:t>unexpected results</a:t>
            </a:r>
            <a:r>
              <a:rPr lang="en-US" dirty="0"/>
              <a:t> or surprises.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56FC3-CCC4-869C-5FCF-B5ED20DEED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72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704F0-6492-38E6-E59A-D4CBC475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78CE2-14E3-F210-AB75-9585CC46A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6.2 Recommendations based on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1310C-CBF1-3E4D-22C7-F429D5973F7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Theoretical Implications</a:t>
            </a:r>
          </a:p>
          <a:p>
            <a:pPr lvl="1"/>
            <a:r>
              <a:rPr lang="en-US" dirty="0"/>
              <a:t>Discuss how your findings contribute to existing theories or models.</a:t>
            </a:r>
          </a:p>
          <a:p>
            <a:pPr lvl="1"/>
            <a:r>
              <a:rPr lang="en-US" dirty="0"/>
              <a:t>Identify any new conceptual insights or extensions to current frameworks.</a:t>
            </a:r>
          </a:p>
          <a:p>
            <a:r>
              <a:rPr lang="en-US" b="1" dirty="0"/>
              <a:t>Practical Implications</a:t>
            </a:r>
          </a:p>
          <a:p>
            <a:pPr lvl="1"/>
            <a:r>
              <a:rPr lang="en-US" dirty="0"/>
              <a:t>Offer actionable recommendations for practitioners, managers, policymakers, or IT leaders (e.g., “Organizations should invest in digital skills training because…”).</a:t>
            </a:r>
          </a:p>
          <a:p>
            <a:pPr lvl="1"/>
            <a:r>
              <a:rPr lang="en-US" dirty="0"/>
              <a:t>Explain how results can improve current practice, strategies, or decision-making.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2EAED-557E-A465-4C81-32EC68CC36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1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9AA8-5823-F86B-27A2-C2E36C03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6.3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Future studies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4A483-BF0F-E5F9-C803-A329CE4075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Limitations of the Study</a:t>
            </a:r>
          </a:p>
          <a:p>
            <a:pPr lvl="1"/>
            <a:r>
              <a:rPr lang="en-US" dirty="0"/>
              <a:t>Acknowledge major limitations (methodological, sample, measurement, etc.).</a:t>
            </a:r>
          </a:p>
          <a:p>
            <a:pPr lvl="1"/>
            <a:r>
              <a:rPr lang="en-US" dirty="0"/>
              <a:t>Discuss how they may affect interpretation and generalizability.</a:t>
            </a:r>
          </a:p>
          <a:p>
            <a:r>
              <a:rPr lang="en-US" b="1" dirty="0"/>
              <a:t>Suggestions for Future Research</a:t>
            </a:r>
          </a:p>
          <a:p>
            <a:pPr lvl="1"/>
            <a:r>
              <a:rPr lang="en-US" dirty="0"/>
              <a:t>Propose ways to address limitations in future studies.</a:t>
            </a:r>
          </a:p>
          <a:p>
            <a:pPr lvl="1"/>
            <a:r>
              <a:rPr lang="en-US" dirty="0"/>
              <a:t>Recommend new questions, variables, or contexts for further exploration.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FB30B-4801-6E83-7F90-C301FEAECD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474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BA41-12E7-9A05-AFF4-77D3C691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br>
              <a:rPr lang="en-US" dirty="0"/>
            </a:b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AED7B0-5562-3CCF-963D-7D5C41AE36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856045" y="1524329"/>
            <a:ext cx="3885626" cy="523754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A8AFB-C902-FAF9-7DC2-765227E296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240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等线" panose="02010600030101010101" pitchFamily="2" charset="-122"/>
                <a:cs typeface="Cordia New" panose="020B0304020202020204" pitchFamily="34" charset="-34"/>
              </a:rPr>
              <a:t>Faculty member of </a:t>
            </a:r>
            <a:r>
              <a:rPr lang="en-US" sz="1800" dirty="0">
                <a:latin typeface="Calibri" panose="020F0502020204030204" pitchFamily="34" charset="0"/>
                <a:ea typeface="等线" panose="02010600030101010101" pitchFamily="2" charset="-122"/>
                <a:cs typeface="Cordia New" panose="020B0304020202020204" pitchFamily="34" charset="-34"/>
              </a:rPr>
              <a:t>ITM</a:t>
            </a:r>
            <a:endParaRPr lang="en-US" sz="1800" dirty="0">
              <a:effectLst/>
              <a:latin typeface="Calibri" panose="020F0502020204030204" pitchFamily="34" charset="0"/>
              <a:ea typeface="等线" panose="02010600030101010101" pitchFamily="2" charset="-122"/>
              <a:cs typeface="Cordia New" panose="020B0304020202020204" pitchFamily="34" charset="-34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Cordia New" panose="020B0304020202020204" pitchFamily="34" charset="-34"/>
              </a:rPr>
              <a:t>guqizhen@au.edu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{844A74F0-43F9-4AB6-8384-BCD44ED93BC4}TF8a9b5915-b8c7-461e-8cdd-693d48b5e323ce9b6712_win32-ed29711e7285</Template>
  <TotalTime>474</TotalTime>
  <Words>547</Words>
  <Application>Microsoft Office PowerPoint</Application>
  <PresentationFormat>Widescreen</PresentationFormat>
  <Paragraphs>76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georgia</vt:lpstr>
      <vt:lpstr>Sabon Next LT</vt:lpstr>
      <vt:lpstr>Times New Roman</vt:lpstr>
      <vt:lpstr>Custom</vt:lpstr>
      <vt:lpstr>PowerPoint Presentation</vt:lpstr>
      <vt:lpstr>RESEARCH PAPER</vt:lpstr>
      <vt:lpstr>Chapter 5 Research result</vt:lpstr>
      <vt:lpstr>5.1 Reliability testing</vt:lpstr>
      <vt:lpstr>5.2 Descriptive analysis</vt:lpstr>
      <vt:lpstr>5.3 Mean and Standard Deviation for Descriptive Analysis</vt:lpstr>
      <vt:lpstr>5.4 Hypothesis Testing Results</vt:lpstr>
      <vt:lpstr>5.4 Hypothesis Testing Results</vt:lpstr>
      <vt:lpstr>Additional Analyses (if any)</vt:lpstr>
      <vt:lpstr>Chapter 6 Discussion and recommendation</vt:lpstr>
      <vt:lpstr>6.1 Discussion and conclusion</vt:lpstr>
      <vt:lpstr>6.2 Recommendations based on Finding</vt:lpstr>
      <vt:lpstr>6.3  Future studies</vt:lpstr>
      <vt:lpstr>References 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 Qizhen</dc:creator>
  <cp:lastModifiedBy>Gu Qizhen</cp:lastModifiedBy>
  <cp:revision>2</cp:revision>
  <dcterms:created xsi:type="dcterms:W3CDTF">2025-06-08T10:14:49Z</dcterms:created>
  <dcterms:modified xsi:type="dcterms:W3CDTF">2025-06-29T06:20:22Z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