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40"/>
  </p:notesMasterIdLst>
  <p:handoutMasterIdLst>
    <p:handoutMasterId r:id="rId41"/>
  </p:handoutMasterIdLst>
  <p:sldIdLst>
    <p:sldId id="312" r:id="rId5"/>
    <p:sldId id="304" r:id="rId6"/>
    <p:sldId id="282" r:id="rId7"/>
    <p:sldId id="324" r:id="rId8"/>
    <p:sldId id="325" r:id="rId9"/>
    <p:sldId id="326" r:id="rId10"/>
    <p:sldId id="327" r:id="rId11"/>
    <p:sldId id="328" r:id="rId12"/>
    <p:sldId id="330" r:id="rId13"/>
    <p:sldId id="329" r:id="rId14"/>
    <p:sldId id="353" r:id="rId15"/>
    <p:sldId id="331" r:id="rId16"/>
    <p:sldId id="334" r:id="rId17"/>
    <p:sldId id="335" r:id="rId18"/>
    <p:sldId id="336" r:id="rId19"/>
    <p:sldId id="337" r:id="rId20"/>
    <p:sldId id="345" r:id="rId21"/>
    <p:sldId id="338" r:id="rId22"/>
    <p:sldId id="346" r:id="rId23"/>
    <p:sldId id="339" r:id="rId24"/>
    <p:sldId id="354" r:id="rId25"/>
    <p:sldId id="355" r:id="rId26"/>
    <p:sldId id="356" r:id="rId27"/>
    <p:sldId id="342" r:id="rId28"/>
    <p:sldId id="347" r:id="rId29"/>
    <p:sldId id="348" r:id="rId30"/>
    <p:sldId id="349" r:id="rId31"/>
    <p:sldId id="350" r:id="rId32"/>
    <p:sldId id="351" r:id="rId33"/>
    <p:sldId id="352" r:id="rId34"/>
    <p:sldId id="357" r:id="rId35"/>
    <p:sldId id="358" r:id="rId36"/>
    <p:sldId id="359" r:id="rId37"/>
    <p:sldId id="332" r:id="rId38"/>
    <p:sldId id="297" r:id="rId39"/>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5388" autoAdjust="0"/>
  </p:normalViewPr>
  <p:slideViewPr>
    <p:cSldViewPr snapToGrid="0" snapToObjects="1">
      <p:cViewPr varScale="1">
        <p:scale>
          <a:sx n="101" d="100"/>
          <a:sy n="101" d="100"/>
        </p:scale>
        <p:origin x="175" y="51"/>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www.kenpro.org/sample-size-" TargetMode="External"/><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image" Target="../media/image19.tmp"/><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4.tmp"/><Relationship Id="rId2" Type="http://schemas.openxmlformats.org/officeDocument/2006/relationships/image" Target="../media/image33.tmp"/><Relationship Id="rId1" Type="http://schemas.openxmlformats.org/officeDocument/2006/relationships/slideLayout" Target="../slideLayouts/slideLayout5.xml"/><Relationship Id="rId4" Type="http://schemas.openxmlformats.org/officeDocument/2006/relationships/image" Target="../media/image35.tmp"/></Relationships>
</file>

<file path=ppt/slides/_rels/slide29.xml.rels><?xml version="1.0" encoding="UTF-8" standalone="yes"?>
<Relationships xmlns="http://schemas.openxmlformats.org/package/2006/relationships"><Relationship Id="rId2" Type="http://schemas.openxmlformats.org/officeDocument/2006/relationships/image" Target="../media/image36.tmp"/><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36.tmp"/><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7.tmp"/><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b="0" i="0" dirty="0">
                <a:effectLst/>
                <a:latin typeface="georgia" panose="02040502050405020303" pitchFamily="18" charset="0"/>
              </a:rPr>
              <a:t>ITM7000 </a:t>
            </a:r>
            <a:r>
              <a:rPr lang="en-US" altLang="zh-CN" b="0" i="0" dirty="0">
                <a:effectLst/>
                <a:latin typeface="georgia" panose="02040502050405020303" pitchFamily="18" charset="0"/>
              </a:rPr>
              <a:t>Master project</a:t>
            </a:r>
            <a:endParaRPr lang="en-US" dirty="0"/>
          </a:p>
        </p:txBody>
      </p:sp>
      <p:sp>
        <p:nvSpPr>
          <p:cNvPr id="3" name="Rectangle 2">
            <a:extLst>
              <a:ext uri="{FF2B5EF4-FFF2-40B4-BE49-F238E27FC236}">
                <a16:creationId xmlns:a16="http://schemas.microsoft.com/office/drawing/2014/main" id="{14E859B6-8E4B-6574-3D08-504C7AED16DB}"/>
              </a:ext>
            </a:extLst>
          </p:cNvPr>
          <p:cNvSpPr/>
          <p:nvPr/>
        </p:nvSpPr>
        <p:spPr>
          <a:xfrm>
            <a:off x="1524001" y="6547854"/>
            <a:ext cx="2470484" cy="3048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Dr. Qizhen Gu (Kimi)</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sz="2800" dirty="0"/>
              <a:t>Chapter 4 Research methodology</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normAutofit/>
          </a:bodyPr>
          <a:lstStyle/>
          <a:p>
            <a:r>
              <a:rPr lang="en-US" dirty="0"/>
              <a:t>4.1 </a:t>
            </a:r>
            <a:r>
              <a:rPr lang="en-US" sz="2400" dirty="0">
                <a:effectLst/>
                <a:latin typeface="Times New Roman" panose="02020603050405020304" pitchFamily="18" charset="0"/>
                <a:ea typeface="Times New Roman" panose="02020603050405020304" pitchFamily="18" charset="0"/>
              </a:rPr>
              <a:t>Research design</a:t>
            </a:r>
          </a:p>
          <a:p>
            <a:r>
              <a:rPr lang="en-US" sz="2400" dirty="0">
                <a:effectLst/>
                <a:latin typeface="Times New Roman" panose="02020603050405020304" pitchFamily="18" charset="0"/>
                <a:ea typeface="Times New Roman" panose="02020603050405020304" pitchFamily="18" charset="0"/>
              </a:rPr>
              <a:t>4.2 Sampling procedure </a:t>
            </a:r>
          </a:p>
          <a:p>
            <a:r>
              <a:rPr lang="en-US" dirty="0">
                <a:latin typeface="Times New Roman" panose="02020603050405020304" pitchFamily="18" charset="0"/>
                <a:ea typeface="Times New Roman" panose="02020603050405020304" pitchFamily="18" charset="0"/>
              </a:rPr>
              <a:t>4.3 </a:t>
            </a:r>
            <a:r>
              <a:rPr lang="en-US" sz="2400" dirty="0">
                <a:effectLst/>
                <a:latin typeface="Times New Roman" panose="02020603050405020304" pitchFamily="18" charset="0"/>
                <a:ea typeface="Times New Roman" panose="02020603050405020304" pitchFamily="18" charset="0"/>
              </a:rPr>
              <a:t>Research Instrument/ Questionnaire Design</a:t>
            </a:r>
            <a:endParaRPr lang="en-US" dirty="0">
              <a:latin typeface="Times New Roman" panose="02020603050405020304" pitchFamily="18" charset="0"/>
              <a:ea typeface="Times New Roman" panose="02020603050405020304" pitchFamily="18" charset="0"/>
            </a:endParaRPr>
          </a:p>
          <a:p>
            <a:r>
              <a:rPr lang="en-US" sz="2400" dirty="0">
                <a:effectLst/>
                <a:latin typeface="Times New Roman" panose="02020603050405020304" pitchFamily="18" charset="0"/>
                <a:ea typeface="Times New Roman" panose="02020603050405020304" pitchFamily="18" charset="0"/>
              </a:rPr>
              <a:t>4.4 Data Collection</a:t>
            </a:r>
          </a:p>
          <a:p>
            <a:r>
              <a:rPr lang="en-US" sz="2400" dirty="0">
                <a:effectLst/>
                <a:latin typeface="Times New Roman" panose="02020603050405020304" pitchFamily="18" charset="0"/>
                <a:ea typeface="Times New Roman" panose="02020603050405020304" pitchFamily="18" charset="0"/>
              </a:rPr>
              <a:t>4.5 Statistical Treatment of Data</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dirty="0"/>
              <a:t>4.1 Research Design</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2303029"/>
            <a:ext cx="7965460" cy="3497698"/>
          </a:xfrm>
        </p:spPr>
        <p:txBody>
          <a:bodyPr>
            <a:normAutofit/>
          </a:bodyPr>
          <a:lstStyle/>
          <a:p>
            <a:r>
              <a:rPr lang="en-US" dirty="0"/>
              <a:t>To describe the overall method that you used to integrate the different components of your study in a coherent and logical way.</a:t>
            </a:r>
          </a:p>
          <a:p>
            <a:r>
              <a:rPr lang="en-US" dirty="0"/>
              <a:t>Ensuring you effectively address the research problem.</a:t>
            </a:r>
          </a:p>
          <a:p>
            <a:pPr marL="0" indent="0">
              <a:buNone/>
            </a:pPr>
            <a:r>
              <a:rPr lang="en-US" b="1" dirty="0"/>
              <a:t>Key Elements:</a:t>
            </a:r>
          </a:p>
          <a:p>
            <a:pPr lvl="1">
              <a:buFont typeface="+mj-lt"/>
              <a:buAutoNum type="arabicPeriod"/>
            </a:pPr>
            <a:r>
              <a:rPr lang="en-US" b="1" dirty="0"/>
              <a:t>Type of Research Design:</a:t>
            </a:r>
            <a:r>
              <a:rPr lang="en-US" dirty="0"/>
              <a:t> </a:t>
            </a:r>
            <a:r>
              <a:rPr lang="en-US" b="1" dirty="0"/>
              <a:t>Quantitative</a:t>
            </a:r>
            <a:r>
              <a:rPr lang="en-US" dirty="0"/>
              <a:t>, Qualitative, or Mixed-methods</a:t>
            </a:r>
          </a:p>
          <a:p>
            <a:pPr lvl="1">
              <a:buFont typeface="+mj-lt"/>
              <a:buAutoNum type="arabicPeriod"/>
            </a:pPr>
            <a:r>
              <a:rPr lang="en-US" b="1" dirty="0"/>
              <a:t>Research Approach:</a:t>
            </a:r>
            <a:r>
              <a:rPr lang="en-US" dirty="0"/>
              <a:t> Descriptive; Explanatory (aims to explain the impact of IVs on the DV.)</a:t>
            </a:r>
          </a:p>
          <a:p>
            <a:pPr lvl="1">
              <a:buFont typeface="+mj-lt"/>
              <a:buAutoNum type="arabicPeriod"/>
            </a:pPr>
            <a:r>
              <a:rPr lang="en-US" b="1" dirty="0"/>
              <a:t>Justification for the Design: </a:t>
            </a:r>
            <a:r>
              <a:rPr lang="en-US" dirty="0"/>
              <a:t>why this design is appropriate</a:t>
            </a:r>
          </a:p>
          <a:p>
            <a:pPr lvl="1">
              <a:buFont typeface="+mj-lt"/>
              <a:buAutoNum type="arabicPeriod"/>
            </a:pPr>
            <a:r>
              <a:rPr lang="en-US" b="1" dirty="0"/>
              <a:t>Time Frame: </a:t>
            </a:r>
            <a:r>
              <a:rPr lang="en-US" dirty="0"/>
              <a:t>data collected over time</a:t>
            </a:r>
          </a:p>
          <a:p>
            <a:pPr lvl="1"/>
            <a:endParaRPr lang="en-US"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1C4C2-A9CA-3F8C-13D7-72FBD90A9989}"/>
              </a:ext>
            </a:extLst>
          </p:cNvPr>
          <p:cNvSpPr>
            <a:spLocks noGrp="1"/>
          </p:cNvSpPr>
          <p:nvPr>
            <p:ph type="title"/>
          </p:nvPr>
        </p:nvSpPr>
        <p:spPr/>
        <p:txBody>
          <a:bodyPr/>
          <a:lstStyle/>
          <a:p>
            <a:r>
              <a:rPr lang="en-US" sz="3600" dirty="0">
                <a:effectLst/>
                <a:ea typeface="Times New Roman" panose="02020603050405020304" pitchFamily="18" charset="0"/>
              </a:rPr>
              <a:t>4.2 Sampling procedure </a:t>
            </a:r>
            <a:endParaRPr lang="en-US" dirty="0"/>
          </a:p>
        </p:txBody>
      </p:sp>
      <p:sp>
        <p:nvSpPr>
          <p:cNvPr id="3" name="Content Placeholder 2">
            <a:extLst>
              <a:ext uri="{FF2B5EF4-FFF2-40B4-BE49-F238E27FC236}">
                <a16:creationId xmlns:a16="http://schemas.microsoft.com/office/drawing/2014/main" id="{5883D917-B183-0242-FFC8-6FBA47F5123B}"/>
              </a:ext>
            </a:extLst>
          </p:cNvPr>
          <p:cNvSpPr>
            <a:spLocks noGrp="1"/>
          </p:cNvSpPr>
          <p:nvPr>
            <p:ph sz="half" idx="2"/>
          </p:nvPr>
        </p:nvSpPr>
        <p:spPr/>
        <p:txBody>
          <a:bodyPr/>
          <a:lstStyle/>
          <a:p>
            <a:r>
              <a:rPr lang="en-US" dirty="0"/>
              <a:t>To explain in detail </a:t>
            </a:r>
            <a:r>
              <a:rPr lang="en-US" b="1" dirty="0"/>
              <a:t>how participants were selected</a:t>
            </a:r>
          </a:p>
          <a:p>
            <a:r>
              <a:rPr lang="en-US" dirty="0"/>
              <a:t>Including the </a:t>
            </a:r>
            <a:r>
              <a:rPr lang="en-US" b="1" dirty="0"/>
              <a:t>sampling method, sample size determination</a:t>
            </a:r>
            <a:r>
              <a:rPr lang="en-US" dirty="0"/>
              <a:t>, criteria for inclusion/exclusion.</a:t>
            </a:r>
          </a:p>
          <a:p>
            <a:pPr marL="0" indent="0">
              <a:buNone/>
            </a:pPr>
            <a:r>
              <a:rPr lang="en-US" b="1" dirty="0"/>
              <a:t>Key Elements:</a:t>
            </a:r>
          </a:p>
          <a:p>
            <a:pPr marL="681228" lvl="1" indent="-342900">
              <a:buFont typeface="+mj-lt"/>
              <a:buAutoNum type="arabicPeriod"/>
            </a:pPr>
            <a:r>
              <a:rPr lang="en-US" b="1" dirty="0"/>
              <a:t>Target Population</a:t>
            </a:r>
            <a:r>
              <a:rPr lang="en-US" dirty="0"/>
              <a:t>: Define who or what your study population</a:t>
            </a:r>
          </a:p>
          <a:p>
            <a:pPr marL="681228" lvl="1" indent="-342900">
              <a:buFont typeface="+mj-lt"/>
              <a:buAutoNum type="arabicPeriod"/>
            </a:pPr>
            <a:r>
              <a:rPr lang="en-US" b="1" dirty="0"/>
              <a:t>Sampling Method</a:t>
            </a:r>
            <a:r>
              <a:rPr lang="en-US" dirty="0"/>
              <a:t>: Specify the sampling technique (non-probability</a:t>
            </a:r>
            <a:r>
              <a:rPr lang="en-US" b="1" dirty="0"/>
              <a:t>)</a:t>
            </a:r>
          </a:p>
          <a:p>
            <a:pPr marL="681228" lvl="1" indent="-342900">
              <a:buFont typeface="+mj-lt"/>
              <a:buAutoNum type="arabicPeriod"/>
            </a:pPr>
            <a:r>
              <a:rPr lang="en-US" b="1" dirty="0"/>
              <a:t>Sample Size</a:t>
            </a:r>
            <a:r>
              <a:rPr lang="en-US" dirty="0"/>
              <a:t>: Explain how you determined the number of participants</a:t>
            </a:r>
            <a:endParaRPr lang="en-US" b="1" dirty="0"/>
          </a:p>
          <a:p>
            <a:pPr marL="681228" lvl="1" indent="-342900">
              <a:buFont typeface="+mj-lt"/>
              <a:buAutoNum type="arabicPeriod"/>
            </a:pPr>
            <a:r>
              <a:rPr lang="en-US" b="1" dirty="0"/>
              <a:t>Inclusion/Exclusion Criteria</a:t>
            </a:r>
            <a:r>
              <a:rPr lang="en-US" dirty="0"/>
              <a:t>: state criteria for participant selection.</a:t>
            </a:r>
          </a:p>
          <a:p>
            <a:pPr marL="681228" lvl="1" indent="-342900">
              <a:buFont typeface="+mj-lt"/>
              <a:buAutoNum type="arabicPeriod"/>
            </a:pPr>
            <a:r>
              <a:rPr lang="en-US" b="1" dirty="0"/>
              <a:t>Sampling Process</a:t>
            </a:r>
            <a:r>
              <a:rPr lang="en-US" dirty="0"/>
              <a:t>: Describe practical steps (online survey sent via email</a:t>
            </a:r>
            <a:r>
              <a:rPr lang="zh-CN" altLang="en-US" dirty="0"/>
              <a:t>）</a:t>
            </a:r>
            <a:endParaRPr lang="en-US" altLang="zh-CN" dirty="0"/>
          </a:p>
          <a:p>
            <a:pPr marL="681228" lvl="1" indent="-342900">
              <a:buFont typeface="+mj-lt"/>
              <a:buAutoNum type="arabicPeriod"/>
            </a:pPr>
            <a:endParaRPr lang="en-US" b="1" dirty="0"/>
          </a:p>
          <a:p>
            <a:pPr marL="681228" lvl="1" indent="-342900">
              <a:buFont typeface="+mj-lt"/>
              <a:buAutoNum type="arabicPeriod"/>
            </a:pPr>
            <a:endParaRPr lang="en-US" dirty="0"/>
          </a:p>
        </p:txBody>
      </p:sp>
      <p:sp>
        <p:nvSpPr>
          <p:cNvPr id="4" name="Slide Number Placeholder 3">
            <a:extLst>
              <a:ext uri="{FF2B5EF4-FFF2-40B4-BE49-F238E27FC236}">
                <a16:creationId xmlns:a16="http://schemas.microsoft.com/office/drawing/2014/main" id="{B406118B-852D-F4F0-22D1-2DD8A4FF0AAC}"/>
              </a:ext>
            </a:extLst>
          </p:cNvPr>
          <p:cNvSpPr>
            <a:spLocks noGrp="1"/>
          </p:cNvSpPr>
          <p:nvPr>
            <p:ph type="sldNum" sz="quarter" idx="10"/>
          </p:nvPr>
        </p:nvSpPr>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4033390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4B3AA-6E53-AA35-A5E5-AAE466AE533F}"/>
              </a:ext>
            </a:extLst>
          </p:cNvPr>
          <p:cNvSpPr>
            <a:spLocks noGrp="1"/>
          </p:cNvSpPr>
          <p:nvPr>
            <p:ph type="title"/>
          </p:nvPr>
        </p:nvSpPr>
        <p:spPr/>
        <p:txBody>
          <a:bodyPr/>
          <a:lstStyle/>
          <a:p>
            <a:pPr>
              <a:lnSpc>
                <a:spcPts val="3938"/>
              </a:lnSpc>
              <a:spcAft>
                <a:spcPts val="2250"/>
              </a:spcAft>
            </a:pPr>
            <a:r>
              <a:rPr lang="en-US" sz="2800" dirty="0"/>
              <a:t>Sample Size Determination Using </a:t>
            </a:r>
            <a:r>
              <a:rPr lang="en-US" sz="2800" dirty="0" err="1"/>
              <a:t>Krejcie</a:t>
            </a:r>
            <a:r>
              <a:rPr lang="en-US" sz="2800" dirty="0"/>
              <a:t> and Morgan Table</a:t>
            </a:r>
          </a:p>
        </p:txBody>
      </p:sp>
      <p:sp>
        <p:nvSpPr>
          <p:cNvPr id="4" name="Slide Number Placeholder 3">
            <a:extLst>
              <a:ext uri="{FF2B5EF4-FFF2-40B4-BE49-F238E27FC236}">
                <a16:creationId xmlns:a16="http://schemas.microsoft.com/office/drawing/2014/main" id="{4DF521DA-F2A9-19C2-D3D1-F2F0309DEC71}"/>
              </a:ext>
            </a:extLst>
          </p:cNvPr>
          <p:cNvSpPr>
            <a:spLocks noGrp="1"/>
          </p:cNvSpPr>
          <p:nvPr>
            <p:ph type="sldNum" sz="quarter" idx="10"/>
          </p:nvPr>
        </p:nvSpPr>
        <p:spPr/>
        <p:txBody>
          <a:bodyPr/>
          <a:lstStyle/>
          <a:p>
            <a:fld id="{48F63A3B-78C7-47BE-AE5E-E10140E04643}" type="slidenum">
              <a:rPr lang="en-US" smtClean="0"/>
              <a:pPr/>
              <a:t>5</a:t>
            </a:fld>
            <a:endParaRPr lang="en-US" dirty="0"/>
          </a:p>
        </p:txBody>
      </p:sp>
      <p:pic>
        <p:nvPicPr>
          <p:cNvPr id="1026" name="Picture 2" descr="krejcie-and-morgan-formula-for-determining-sample-size-">
            <a:extLst>
              <a:ext uri="{FF2B5EF4-FFF2-40B4-BE49-F238E27FC236}">
                <a16:creationId xmlns:a16="http://schemas.microsoft.com/office/drawing/2014/main" id="{49B08C26-AF4E-39DB-CF8D-E5A5DB22B6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6259" y="2124695"/>
            <a:ext cx="5476875" cy="2857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C441208-44CC-9879-EF6E-481EF8C0D7F4}"/>
              </a:ext>
            </a:extLst>
          </p:cNvPr>
          <p:cNvSpPr txBox="1"/>
          <p:nvPr/>
        </p:nvSpPr>
        <p:spPr>
          <a:xfrm>
            <a:off x="3308868" y="5681602"/>
            <a:ext cx="6103214" cy="646331"/>
          </a:xfrm>
          <a:prstGeom prst="rect">
            <a:avLst/>
          </a:prstGeom>
          <a:noFill/>
        </p:spPr>
        <p:txBody>
          <a:bodyPr wrap="square">
            <a:spAutoFit/>
          </a:bodyPr>
          <a:lstStyle/>
          <a:p>
            <a:pPr indent="-457200" algn="just"/>
            <a:r>
              <a:rPr lang="en-US" sz="1200" b="0" i="0" u="none" strike="noStrike" baseline="0" dirty="0">
                <a:solidFill>
                  <a:srgbClr val="000000"/>
                </a:solidFill>
                <a:latin typeface="Times New Roman" panose="02020603050405020304" pitchFamily="18" charset="0"/>
              </a:rPr>
              <a:t>KENPRO. (2012, August 25). </a:t>
            </a:r>
            <a:r>
              <a:rPr lang="en-US" sz="1200" b="0" i="1" u="none" strike="noStrike" baseline="0" dirty="0">
                <a:solidFill>
                  <a:srgbClr val="000000"/>
                </a:solidFill>
                <a:latin typeface="Times New Roman" panose="02020603050405020304" pitchFamily="18" charset="0"/>
              </a:rPr>
              <a:t>Sample Size Determination Using </a:t>
            </a:r>
            <a:r>
              <a:rPr lang="en-US" sz="1200" b="0" i="1" u="none" strike="noStrike" baseline="0" dirty="0" err="1">
                <a:solidFill>
                  <a:srgbClr val="000000"/>
                </a:solidFill>
                <a:latin typeface="Times New Roman" panose="02020603050405020304" pitchFamily="18" charset="0"/>
              </a:rPr>
              <a:t>Krejcie</a:t>
            </a:r>
            <a:r>
              <a:rPr lang="en-US" sz="1200" b="0" i="1" u="none" strike="noStrike" baseline="0" dirty="0">
                <a:solidFill>
                  <a:srgbClr val="000000"/>
                </a:solidFill>
                <a:latin typeface="Times New Roman" panose="02020603050405020304" pitchFamily="18" charset="0"/>
              </a:rPr>
              <a:t> and Morgan Table</a:t>
            </a:r>
            <a:r>
              <a:rPr lang="en-US" sz="1200" b="0" i="0" u="none" strike="noStrike" baseline="0" dirty="0">
                <a:solidFill>
                  <a:srgbClr val="000000"/>
                </a:solidFill>
                <a:latin typeface="Times New Roman" panose="02020603050405020304" pitchFamily="18" charset="0"/>
              </a:rPr>
              <a:t>. 	Kenya Projects Organization [KENPRO]. </a:t>
            </a:r>
            <a:r>
              <a:rPr lang="en-US" sz="1200" b="0" i="0" u="none" strike="noStrike" baseline="0" dirty="0">
                <a:solidFill>
                  <a:srgbClr val="0462C1"/>
                </a:solidFill>
                <a:latin typeface="Times New Roman" panose="02020603050405020304" pitchFamily="18" charset="0"/>
                <a:hlinkClick r:id="rId3"/>
              </a:rPr>
              <a:t>https://www.kenpro.org/sample-size-</a:t>
            </a:r>
            <a:r>
              <a:rPr lang="en-US" sz="1200" b="0" i="0" u="none" strike="noStrike" baseline="0" dirty="0">
                <a:solidFill>
                  <a:srgbClr val="0462C1"/>
                </a:solidFill>
                <a:latin typeface="Times New Roman" panose="02020603050405020304" pitchFamily="18" charset="0"/>
              </a:rPr>
              <a:t>	determination-using-</a:t>
            </a:r>
            <a:r>
              <a:rPr lang="en-US" sz="1200" b="0" i="0" u="none" strike="noStrike" baseline="0" dirty="0" err="1">
                <a:solidFill>
                  <a:srgbClr val="0462C1"/>
                </a:solidFill>
                <a:latin typeface="Times New Roman" panose="02020603050405020304" pitchFamily="18" charset="0"/>
              </a:rPr>
              <a:t>krejcie</a:t>
            </a:r>
            <a:r>
              <a:rPr lang="en-US" sz="1200" b="0" i="0" u="none" strike="noStrike" baseline="0" dirty="0">
                <a:solidFill>
                  <a:srgbClr val="0462C1"/>
                </a:solidFill>
                <a:latin typeface="Times New Roman" panose="02020603050405020304" pitchFamily="18" charset="0"/>
              </a:rPr>
              <a:t>-and-morgan-table/ </a:t>
            </a:r>
            <a:endParaRPr lang="en-US" sz="1200" dirty="0"/>
          </a:p>
        </p:txBody>
      </p:sp>
    </p:spTree>
    <p:extLst>
      <p:ext uri="{BB962C8B-B14F-4D97-AF65-F5344CB8AC3E}">
        <p14:creationId xmlns:p14="http://schemas.microsoft.com/office/powerpoint/2010/main" val="1956678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93416-CD2C-E8AB-3A12-6B2034C069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8517D-1867-0AFA-EBA8-9617037AA05A}"/>
              </a:ext>
            </a:extLst>
          </p:cNvPr>
          <p:cNvSpPr>
            <a:spLocks noGrp="1"/>
          </p:cNvSpPr>
          <p:nvPr>
            <p:ph type="title"/>
          </p:nvPr>
        </p:nvSpPr>
        <p:spPr>
          <a:xfrm>
            <a:off x="3460565" y="185572"/>
            <a:ext cx="7965461" cy="994164"/>
          </a:xfrm>
        </p:spPr>
        <p:txBody>
          <a:bodyPr/>
          <a:lstStyle/>
          <a:p>
            <a:r>
              <a:rPr lang="en-US" sz="2800" dirty="0"/>
              <a:t>Sample Size Determination Using </a:t>
            </a:r>
            <a:r>
              <a:rPr lang="en-US" sz="2800" dirty="0" err="1"/>
              <a:t>Krejcie</a:t>
            </a:r>
            <a:r>
              <a:rPr lang="en-US" sz="2800" dirty="0"/>
              <a:t> and Morgan Table</a:t>
            </a:r>
          </a:p>
        </p:txBody>
      </p:sp>
      <p:sp>
        <p:nvSpPr>
          <p:cNvPr id="4" name="Slide Number Placeholder 3">
            <a:extLst>
              <a:ext uri="{FF2B5EF4-FFF2-40B4-BE49-F238E27FC236}">
                <a16:creationId xmlns:a16="http://schemas.microsoft.com/office/drawing/2014/main" id="{078B877B-E731-285A-134E-313FC8661501}"/>
              </a:ext>
            </a:extLst>
          </p:cNvPr>
          <p:cNvSpPr>
            <a:spLocks noGrp="1"/>
          </p:cNvSpPr>
          <p:nvPr>
            <p:ph type="sldNum" sz="quarter" idx="10"/>
          </p:nvPr>
        </p:nvSpPr>
        <p:spPr/>
        <p:txBody>
          <a:bodyPr/>
          <a:lstStyle/>
          <a:p>
            <a:fld id="{48F63A3B-78C7-47BE-AE5E-E10140E04643}" type="slidenum">
              <a:rPr lang="en-US" smtClean="0"/>
              <a:pPr/>
              <a:t>6</a:t>
            </a:fld>
            <a:endParaRPr lang="en-US" dirty="0"/>
          </a:p>
        </p:txBody>
      </p:sp>
      <p:pic>
        <p:nvPicPr>
          <p:cNvPr id="2050" name="Picture 2" descr="krejcie and morgan table of determining sample size">
            <a:extLst>
              <a:ext uri="{FF2B5EF4-FFF2-40B4-BE49-F238E27FC236}">
                <a16:creationId xmlns:a16="http://schemas.microsoft.com/office/drawing/2014/main" id="{6EBD2D39-3220-E029-4E6C-78D36653DE27}"/>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l="-980" r="980"/>
          <a:stretch/>
        </p:blipFill>
        <p:spPr bwMode="auto">
          <a:xfrm>
            <a:off x="3509260" y="1179736"/>
            <a:ext cx="4471450" cy="5335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4208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4A649-BDE3-E96B-01F4-A89CB78D6B5A}"/>
              </a:ext>
            </a:extLst>
          </p:cNvPr>
          <p:cNvSpPr>
            <a:spLocks noGrp="1"/>
          </p:cNvSpPr>
          <p:nvPr>
            <p:ph type="title"/>
          </p:nvPr>
        </p:nvSpPr>
        <p:spPr/>
        <p:txBody>
          <a:bodyPr/>
          <a:lstStyle/>
          <a:p>
            <a:r>
              <a:rPr lang="fr-FR" sz="2800" dirty="0"/>
              <a:t>4.3 Research Instrument / Questionnaire Design</a:t>
            </a:r>
            <a:endParaRPr lang="en-US" sz="2800" dirty="0"/>
          </a:p>
        </p:txBody>
      </p:sp>
      <p:sp>
        <p:nvSpPr>
          <p:cNvPr id="3" name="Content Placeholder 2">
            <a:extLst>
              <a:ext uri="{FF2B5EF4-FFF2-40B4-BE49-F238E27FC236}">
                <a16:creationId xmlns:a16="http://schemas.microsoft.com/office/drawing/2014/main" id="{834FD88B-F10B-E518-9C67-8F0DFEB4D5BC}"/>
              </a:ext>
            </a:extLst>
          </p:cNvPr>
          <p:cNvSpPr>
            <a:spLocks noGrp="1"/>
          </p:cNvSpPr>
          <p:nvPr>
            <p:ph sz="half" idx="2"/>
          </p:nvPr>
        </p:nvSpPr>
        <p:spPr/>
        <p:txBody>
          <a:bodyPr>
            <a:normAutofit lnSpcReduction="10000"/>
          </a:bodyPr>
          <a:lstStyle/>
          <a:p>
            <a:r>
              <a:rPr lang="en-US" dirty="0"/>
              <a:t>Describes the structure, sources, validation, and scaling of your research instrument (the questionnaire).</a:t>
            </a:r>
          </a:p>
          <a:p>
            <a:pPr marL="0" indent="0">
              <a:buNone/>
            </a:pPr>
            <a:r>
              <a:rPr lang="en-US" b="1" dirty="0"/>
              <a:t>Key Elements:</a:t>
            </a:r>
          </a:p>
          <a:p>
            <a:pPr marL="342900" indent="-342900">
              <a:buFont typeface="+mj-lt"/>
              <a:buAutoNum type="arabicPeriod"/>
            </a:pPr>
            <a:r>
              <a:rPr lang="en-US" b="1" dirty="0"/>
              <a:t>Type of Instrument</a:t>
            </a:r>
            <a:r>
              <a:rPr lang="en-US" dirty="0"/>
              <a:t>:</a:t>
            </a:r>
            <a:r>
              <a:rPr lang="zh-CN" altLang="en-US" dirty="0"/>
              <a:t> </a:t>
            </a:r>
            <a:r>
              <a:rPr lang="en-US" dirty="0"/>
              <a:t>Specify that a structured questionnaire was used</a:t>
            </a:r>
          </a:p>
          <a:p>
            <a:pPr marL="342900" indent="-342900">
              <a:buFont typeface="+mj-lt"/>
              <a:buAutoNum type="arabicPeriod"/>
            </a:pPr>
            <a:r>
              <a:rPr lang="en-US" b="1" dirty="0"/>
              <a:t>Structure of the Questionnaire</a:t>
            </a:r>
            <a:r>
              <a:rPr lang="en-US" dirty="0"/>
              <a:t>: Describe the main sections (variables; scanning question; demographics)</a:t>
            </a:r>
          </a:p>
          <a:p>
            <a:pPr marL="342900" indent="-342900">
              <a:buFont typeface="+mj-lt"/>
              <a:buAutoNum type="arabicPeriod"/>
            </a:pPr>
            <a:r>
              <a:rPr lang="en-US" b="1" dirty="0"/>
              <a:t>Source of Items</a:t>
            </a:r>
            <a:r>
              <a:rPr lang="en-US" dirty="0"/>
              <a:t>: State whether items were adapted from previous studies</a:t>
            </a:r>
          </a:p>
          <a:p>
            <a:pPr marL="342900" indent="-342900">
              <a:buFont typeface="+mj-lt"/>
              <a:buAutoNum type="arabicPeriod"/>
            </a:pPr>
            <a:r>
              <a:rPr lang="en-US" b="1" dirty="0"/>
              <a:t>Measurement Scale</a:t>
            </a:r>
            <a:r>
              <a:rPr lang="en-US" dirty="0"/>
              <a:t>: Indicate the scale used (5-point-likert scale)</a:t>
            </a:r>
          </a:p>
          <a:p>
            <a:pPr marL="342900" indent="-342900">
              <a:buFont typeface="+mj-lt"/>
              <a:buAutoNum type="arabicPeriod"/>
            </a:pPr>
            <a:r>
              <a:rPr lang="en-US" b="1" dirty="0"/>
              <a:t>Validity and Reliability Testing</a:t>
            </a:r>
            <a:r>
              <a:rPr lang="en-US" dirty="0"/>
              <a:t>: Explain how the instrument was reviewed (pilot testing, Cronbach’s alpha)</a:t>
            </a:r>
          </a:p>
        </p:txBody>
      </p:sp>
      <p:sp>
        <p:nvSpPr>
          <p:cNvPr id="4" name="Slide Number Placeholder 3">
            <a:extLst>
              <a:ext uri="{FF2B5EF4-FFF2-40B4-BE49-F238E27FC236}">
                <a16:creationId xmlns:a16="http://schemas.microsoft.com/office/drawing/2014/main" id="{7AA58035-FF28-29AC-8348-F016BA8F0D5A}"/>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3002921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DA051-0EDE-D7EF-7F96-F30CDB97DDEE}"/>
              </a:ext>
            </a:extLst>
          </p:cNvPr>
          <p:cNvSpPr>
            <a:spLocks noGrp="1"/>
          </p:cNvSpPr>
          <p:nvPr>
            <p:ph type="title"/>
          </p:nvPr>
        </p:nvSpPr>
        <p:spPr/>
        <p:txBody>
          <a:bodyPr/>
          <a:lstStyle/>
          <a:p>
            <a:r>
              <a:rPr lang="en-US" sz="3600" dirty="0">
                <a:effectLst/>
                <a:latin typeface="Times New Roman" panose="02020603050405020304" pitchFamily="18" charset="0"/>
                <a:ea typeface="Times New Roman" panose="02020603050405020304" pitchFamily="18" charset="0"/>
              </a:rPr>
              <a:t>4.4 Data Collection</a:t>
            </a:r>
            <a:endParaRPr lang="en-US" dirty="0"/>
          </a:p>
        </p:txBody>
      </p:sp>
      <p:sp>
        <p:nvSpPr>
          <p:cNvPr id="3" name="Content Placeholder 2">
            <a:extLst>
              <a:ext uri="{FF2B5EF4-FFF2-40B4-BE49-F238E27FC236}">
                <a16:creationId xmlns:a16="http://schemas.microsoft.com/office/drawing/2014/main" id="{C3FE8935-7971-EC7D-550A-EC2D4439D14D}"/>
              </a:ext>
            </a:extLst>
          </p:cNvPr>
          <p:cNvSpPr>
            <a:spLocks noGrp="1"/>
          </p:cNvSpPr>
          <p:nvPr>
            <p:ph sz="half" idx="2"/>
          </p:nvPr>
        </p:nvSpPr>
        <p:spPr/>
        <p:txBody>
          <a:bodyPr>
            <a:normAutofit lnSpcReduction="10000"/>
          </a:bodyPr>
          <a:lstStyle/>
          <a:p>
            <a:r>
              <a:rPr lang="en-US" dirty="0"/>
              <a:t>To describe </a:t>
            </a:r>
            <a:r>
              <a:rPr lang="en-US" b="1" dirty="0"/>
              <a:t>when, how, and from whom</a:t>
            </a:r>
            <a:r>
              <a:rPr lang="en-US" dirty="0"/>
              <a:t> you collected your data</a:t>
            </a:r>
          </a:p>
          <a:p>
            <a:pPr marL="0" indent="0">
              <a:buNone/>
            </a:pPr>
            <a:r>
              <a:rPr lang="en-US" b="1" dirty="0"/>
              <a:t>Key Elements:</a:t>
            </a:r>
          </a:p>
          <a:p>
            <a:pPr marL="681228" lvl="1" indent="-342900">
              <a:buFont typeface="+mj-lt"/>
              <a:buAutoNum type="arabicPeriod"/>
            </a:pPr>
            <a:r>
              <a:rPr lang="en-US" b="1" dirty="0"/>
              <a:t>Data Collection Period:</a:t>
            </a:r>
            <a:r>
              <a:rPr lang="en-US" dirty="0"/>
              <a:t> Specify the timeframe for data collection.</a:t>
            </a:r>
          </a:p>
          <a:p>
            <a:pPr marL="681228" lvl="1" indent="-342900">
              <a:buFont typeface="+mj-lt"/>
              <a:buAutoNum type="arabicPeriod"/>
            </a:pPr>
            <a:r>
              <a:rPr lang="en-US" b="1" dirty="0"/>
              <a:t>Distribution Method:</a:t>
            </a:r>
            <a:r>
              <a:rPr lang="en-US" dirty="0"/>
              <a:t> How the questionnaire was delivered (online)</a:t>
            </a:r>
          </a:p>
          <a:p>
            <a:pPr marL="681228" lvl="1" indent="-342900">
              <a:buFont typeface="+mj-lt"/>
              <a:buAutoNum type="arabicPeriod"/>
            </a:pPr>
            <a:r>
              <a:rPr lang="en-US" b="1" dirty="0"/>
              <a:t>Target Respondents:</a:t>
            </a:r>
            <a:r>
              <a:rPr lang="en-US" dirty="0"/>
              <a:t> Clarify who was approached</a:t>
            </a:r>
          </a:p>
          <a:p>
            <a:pPr marL="681228" lvl="1" indent="-342900">
              <a:buFont typeface="+mj-lt"/>
              <a:buAutoNum type="arabicPeriod"/>
            </a:pPr>
            <a:r>
              <a:rPr lang="en-US" b="1" dirty="0"/>
              <a:t>Ethical Considerations:</a:t>
            </a:r>
            <a:r>
              <a:rPr lang="en-US" dirty="0"/>
              <a:t> Mention informed consent, confidentiality</a:t>
            </a:r>
          </a:p>
          <a:p>
            <a:pPr marL="681228" lvl="1" indent="-342900">
              <a:buFont typeface="+mj-lt"/>
              <a:buAutoNum type="arabicPeriod"/>
            </a:pPr>
            <a:r>
              <a:rPr lang="en-US" b="1" dirty="0"/>
              <a:t>Data Quality Control:</a:t>
            </a:r>
            <a:r>
              <a:rPr lang="en-US" dirty="0"/>
              <a:t> Explain how you checked for completeness and accuracy.</a:t>
            </a:r>
          </a:p>
          <a:p>
            <a:pPr marL="681228" lvl="1" indent="-342900">
              <a:buFont typeface="+mj-lt"/>
              <a:buAutoNum type="arabicPeriod"/>
            </a:pPr>
            <a:r>
              <a:rPr lang="en-US" b="1" dirty="0"/>
              <a:t>Response Rate:</a:t>
            </a:r>
            <a:r>
              <a:rPr lang="en-US" dirty="0"/>
              <a:t> How many responses were received and the final usable sample size.</a:t>
            </a:r>
            <a:endParaRPr lang="en-US" b="1" dirty="0"/>
          </a:p>
        </p:txBody>
      </p:sp>
      <p:sp>
        <p:nvSpPr>
          <p:cNvPr id="4" name="Slide Number Placeholder 3">
            <a:extLst>
              <a:ext uri="{FF2B5EF4-FFF2-40B4-BE49-F238E27FC236}">
                <a16:creationId xmlns:a16="http://schemas.microsoft.com/office/drawing/2014/main" id="{501133E8-F16B-1183-4335-93AB1B53781D}"/>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3986987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5F18F-7335-3AE3-06C6-91F60B637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53965-C593-42DE-0525-75A22279047D}"/>
              </a:ext>
            </a:extLst>
          </p:cNvPr>
          <p:cNvSpPr>
            <a:spLocks noGrp="1"/>
          </p:cNvSpPr>
          <p:nvPr>
            <p:ph type="title"/>
          </p:nvPr>
        </p:nvSpPr>
        <p:spPr/>
        <p:txBody>
          <a:bodyPr/>
          <a:lstStyle/>
          <a:p>
            <a:r>
              <a:rPr lang="en-US" sz="2800" dirty="0">
                <a:effectLst/>
                <a:latin typeface="Times New Roman" panose="02020603050405020304" pitchFamily="18" charset="0"/>
                <a:ea typeface="Times New Roman" panose="02020603050405020304" pitchFamily="18" charset="0"/>
              </a:rPr>
              <a:t>4.5 Statistical Treatment of Data</a:t>
            </a:r>
            <a:endParaRPr lang="en-US" sz="2800" dirty="0"/>
          </a:p>
        </p:txBody>
      </p:sp>
      <p:sp>
        <p:nvSpPr>
          <p:cNvPr id="3" name="Content Placeholder 2">
            <a:extLst>
              <a:ext uri="{FF2B5EF4-FFF2-40B4-BE49-F238E27FC236}">
                <a16:creationId xmlns:a16="http://schemas.microsoft.com/office/drawing/2014/main" id="{0740286C-B00E-5440-9B44-C55A18E560A8}"/>
              </a:ext>
            </a:extLst>
          </p:cNvPr>
          <p:cNvSpPr>
            <a:spLocks noGrp="1"/>
          </p:cNvSpPr>
          <p:nvPr>
            <p:ph sz="half" idx="2"/>
          </p:nvPr>
        </p:nvSpPr>
        <p:spPr/>
        <p:txBody>
          <a:bodyPr/>
          <a:lstStyle/>
          <a:p>
            <a:r>
              <a:rPr lang="en-US" dirty="0"/>
              <a:t>Explains </a:t>
            </a:r>
            <a:r>
              <a:rPr lang="en-US" b="1" dirty="0"/>
              <a:t>which statistical techniques</a:t>
            </a:r>
            <a:r>
              <a:rPr lang="en-US" dirty="0"/>
              <a:t> you used to analyze your data, </a:t>
            </a:r>
            <a:r>
              <a:rPr lang="en-US" b="1" dirty="0"/>
              <a:t>why you chose them</a:t>
            </a:r>
          </a:p>
          <a:p>
            <a:r>
              <a:rPr lang="en-US" b="1" dirty="0"/>
              <a:t>How you ensured validity and reliability</a:t>
            </a:r>
            <a:r>
              <a:rPr lang="en-US" dirty="0"/>
              <a:t>, it should align with your research objectives and hypotheses.</a:t>
            </a:r>
          </a:p>
          <a:p>
            <a:pPr marL="0" indent="0">
              <a:buNone/>
            </a:pPr>
            <a:r>
              <a:rPr lang="en-US" b="1" dirty="0"/>
              <a:t>Key Elements:</a:t>
            </a:r>
          </a:p>
          <a:p>
            <a:pPr marL="681228" lvl="1" indent="-342900">
              <a:buFont typeface="+mj-lt"/>
              <a:buAutoNum type="arabicPeriod"/>
            </a:pPr>
            <a:r>
              <a:rPr lang="en-US" b="1" dirty="0"/>
              <a:t>Data Analysis Software:</a:t>
            </a:r>
            <a:r>
              <a:rPr lang="en-US" dirty="0"/>
              <a:t> Statistical software (SPSS; Jamovi; SmartPLS)</a:t>
            </a:r>
          </a:p>
          <a:p>
            <a:pPr marL="681228" lvl="1" indent="-342900">
              <a:buFont typeface="+mj-lt"/>
              <a:buAutoNum type="arabicPeriod"/>
            </a:pPr>
            <a:r>
              <a:rPr lang="en-US" b="1" dirty="0"/>
              <a:t>Preliminary Analysis:</a:t>
            </a:r>
            <a:r>
              <a:rPr lang="en-US" dirty="0"/>
              <a:t> Describe how you checked for missing data, outliers, or normality.</a:t>
            </a:r>
          </a:p>
          <a:p>
            <a:pPr marL="681228" lvl="1" indent="-342900">
              <a:buFont typeface="+mj-lt"/>
              <a:buAutoNum type="arabicPeriod"/>
            </a:pPr>
            <a:r>
              <a:rPr lang="en-US" b="1" dirty="0"/>
              <a:t>Descriptive Statistics:</a:t>
            </a:r>
            <a:r>
              <a:rPr lang="en-US" dirty="0"/>
              <a:t> State how you summarized sample characteristics and main variables (e.g., mean, standard deviation, frequencies).</a:t>
            </a:r>
          </a:p>
          <a:p>
            <a:pPr marL="681228" lvl="1" indent="-342900">
              <a:buFont typeface="+mj-lt"/>
              <a:buAutoNum type="arabicPeriod"/>
            </a:pPr>
            <a:endParaRPr lang="en-US" b="1" dirty="0"/>
          </a:p>
        </p:txBody>
      </p:sp>
      <p:sp>
        <p:nvSpPr>
          <p:cNvPr id="4" name="Slide Number Placeholder 3">
            <a:extLst>
              <a:ext uri="{FF2B5EF4-FFF2-40B4-BE49-F238E27FC236}">
                <a16:creationId xmlns:a16="http://schemas.microsoft.com/office/drawing/2014/main" id="{3DA7100E-7736-984B-9014-B0738293E79B}"/>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3984614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9E4F4-9B2C-D4B0-9688-B47B3DD3DCD5}"/>
              </a:ext>
            </a:extLst>
          </p:cNvPr>
          <p:cNvSpPr>
            <a:spLocks noGrp="1"/>
          </p:cNvSpPr>
          <p:nvPr>
            <p:ph type="title"/>
          </p:nvPr>
        </p:nvSpPr>
        <p:spPr/>
        <p:txBody>
          <a:bodyPr/>
          <a:lstStyle/>
          <a:p>
            <a:r>
              <a:rPr lang="en-US" sz="2800" dirty="0">
                <a:effectLst/>
                <a:latin typeface="Times New Roman" panose="02020603050405020304" pitchFamily="18" charset="0"/>
                <a:ea typeface="Times New Roman" panose="02020603050405020304" pitchFamily="18" charset="0"/>
              </a:rPr>
              <a:t>4.5 Statistical Treatment of Data</a:t>
            </a:r>
            <a:endParaRPr lang="en-US" sz="2800" dirty="0"/>
          </a:p>
        </p:txBody>
      </p:sp>
      <p:sp>
        <p:nvSpPr>
          <p:cNvPr id="3" name="Content Placeholder 2">
            <a:extLst>
              <a:ext uri="{FF2B5EF4-FFF2-40B4-BE49-F238E27FC236}">
                <a16:creationId xmlns:a16="http://schemas.microsoft.com/office/drawing/2014/main" id="{DDE323A8-C8B5-E64C-E68A-800BF7C6C9D6}"/>
              </a:ext>
            </a:extLst>
          </p:cNvPr>
          <p:cNvSpPr>
            <a:spLocks noGrp="1"/>
          </p:cNvSpPr>
          <p:nvPr>
            <p:ph sz="half" idx="2"/>
          </p:nvPr>
        </p:nvSpPr>
        <p:spPr/>
        <p:txBody>
          <a:bodyPr/>
          <a:lstStyle/>
          <a:p>
            <a:pPr marL="0" indent="0">
              <a:buNone/>
            </a:pPr>
            <a:r>
              <a:rPr lang="en-US" b="1" dirty="0"/>
              <a:t>Key Elements:</a:t>
            </a:r>
          </a:p>
          <a:p>
            <a:pPr marL="681228" lvl="1" indent="-342900">
              <a:buFont typeface="+mj-lt"/>
              <a:buAutoNum type="arabicPeriod" startAt="4"/>
            </a:pPr>
            <a:r>
              <a:rPr lang="en-US" b="1" dirty="0"/>
              <a:t>Reliability and Validity Testing:</a:t>
            </a:r>
            <a:r>
              <a:rPr lang="en-US" dirty="0"/>
              <a:t> Explain tests for reliability (e.g., Cronbach’s alpha) and validity (e.g., factor analysis).</a:t>
            </a:r>
          </a:p>
          <a:p>
            <a:pPr marL="681228" lvl="1" indent="-342900">
              <a:buFont typeface="+mj-lt"/>
              <a:buAutoNum type="arabicPeriod" startAt="4"/>
            </a:pPr>
            <a:r>
              <a:rPr lang="en-US" b="1" dirty="0"/>
              <a:t>Statistics Result</a:t>
            </a:r>
            <a:r>
              <a:rPr lang="en-US" dirty="0"/>
              <a:t>: statistical tests used to answer your research questions/hypotheses (Multiple Linear Regression; mediating analysis )</a:t>
            </a:r>
          </a:p>
          <a:p>
            <a:pPr marL="681228" lvl="1" indent="-342900">
              <a:buFont typeface="+mj-lt"/>
              <a:buAutoNum type="arabicPeriod" startAt="4"/>
            </a:pPr>
            <a:r>
              <a:rPr lang="en-US" b="1" dirty="0"/>
              <a:t>Significance Level:</a:t>
            </a:r>
            <a:r>
              <a:rPr lang="en-US" dirty="0"/>
              <a:t> State statistical significance (commonly p &lt; 0.05).</a:t>
            </a:r>
          </a:p>
          <a:p>
            <a:pPr marL="681228" lvl="1" indent="-342900">
              <a:buFont typeface="+mj-lt"/>
              <a:buAutoNum type="arabicPeriod" startAt="4"/>
            </a:pPr>
            <a:r>
              <a:rPr lang="en-US" b="1" dirty="0"/>
              <a:t>Additional Analysis: </a:t>
            </a:r>
            <a:r>
              <a:rPr lang="en-US" dirty="0"/>
              <a:t>mediation analyses. (if any)</a:t>
            </a:r>
            <a:endParaRPr lang="en-US" b="1" dirty="0"/>
          </a:p>
        </p:txBody>
      </p:sp>
      <p:sp>
        <p:nvSpPr>
          <p:cNvPr id="4" name="Slide Number Placeholder 3">
            <a:extLst>
              <a:ext uri="{FF2B5EF4-FFF2-40B4-BE49-F238E27FC236}">
                <a16:creationId xmlns:a16="http://schemas.microsoft.com/office/drawing/2014/main" id="{FA872729-A0D9-FB3E-7484-04FBEFB6362B}"/>
              </a:ext>
            </a:extLst>
          </p:cNvPr>
          <p:cNvSpPr>
            <a:spLocks noGrp="1"/>
          </p:cNvSpPr>
          <p:nvPr>
            <p:ph type="sldNum" sz="quarter" idx="10"/>
          </p:nvPr>
        </p:nvSpPr>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2782751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3682B-A721-602F-BF82-5767339A5513}"/>
              </a:ext>
            </a:extLst>
          </p:cNvPr>
          <p:cNvSpPr>
            <a:spLocks noGrp="1"/>
          </p:cNvSpPr>
          <p:nvPr>
            <p:ph type="title"/>
          </p:nvPr>
        </p:nvSpPr>
        <p:spPr/>
        <p:txBody>
          <a:bodyPr/>
          <a:lstStyle/>
          <a:p>
            <a:r>
              <a:rPr lang="en-US" dirty="0"/>
              <a:t>Examples</a:t>
            </a:r>
          </a:p>
        </p:txBody>
      </p:sp>
      <p:pic>
        <p:nvPicPr>
          <p:cNvPr id="6" name="Content Placeholder 5">
            <a:extLst>
              <a:ext uri="{FF2B5EF4-FFF2-40B4-BE49-F238E27FC236}">
                <a16:creationId xmlns:a16="http://schemas.microsoft.com/office/drawing/2014/main" id="{99C64546-204B-566D-FC0B-E105C1652BF1}"/>
              </a:ext>
            </a:extLst>
          </p:cNvPr>
          <p:cNvPicPr>
            <a:picLocks noGrp="1" noChangeAspect="1"/>
          </p:cNvPicPr>
          <p:nvPr>
            <p:ph sz="half" idx="2"/>
          </p:nvPr>
        </p:nvPicPr>
        <p:blipFill>
          <a:blip r:embed="rId2"/>
          <a:stretch>
            <a:fillRect/>
          </a:stretch>
        </p:blipFill>
        <p:spPr>
          <a:xfrm>
            <a:off x="3672688" y="2427908"/>
            <a:ext cx="5062531" cy="3497262"/>
          </a:xfrm>
        </p:spPr>
      </p:pic>
      <p:sp>
        <p:nvSpPr>
          <p:cNvPr id="4" name="Slide Number Placeholder 3">
            <a:extLst>
              <a:ext uri="{FF2B5EF4-FFF2-40B4-BE49-F238E27FC236}">
                <a16:creationId xmlns:a16="http://schemas.microsoft.com/office/drawing/2014/main" id="{4B73F64D-C06D-31A5-B058-9AFD1A2A78EC}"/>
              </a:ext>
            </a:extLst>
          </p:cNvPr>
          <p:cNvSpPr>
            <a:spLocks noGrp="1"/>
          </p:cNvSpPr>
          <p:nvPr>
            <p:ph type="sldNum" sz="quarter" idx="10"/>
          </p:nvPr>
        </p:nvSpPr>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1989351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2A78F-8FA7-9AD0-D59A-39B47E63FC20}"/>
              </a:ext>
            </a:extLst>
          </p:cNvPr>
          <p:cNvSpPr>
            <a:spLocks noGrp="1"/>
          </p:cNvSpPr>
          <p:nvPr>
            <p:ph type="title"/>
          </p:nvPr>
        </p:nvSpPr>
        <p:spPr/>
        <p:txBody>
          <a:bodyPr/>
          <a:lstStyle/>
          <a:p>
            <a:r>
              <a:rPr lang="en-US" sz="3200" dirty="0"/>
              <a:t>Open data</a:t>
            </a:r>
          </a:p>
        </p:txBody>
      </p:sp>
      <p:sp>
        <p:nvSpPr>
          <p:cNvPr id="4" name="Slide Number Placeholder 3">
            <a:extLst>
              <a:ext uri="{FF2B5EF4-FFF2-40B4-BE49-F238E27FC236}">
                <a16:creationId xmlns:a16="http://schemas.microsoft.com/office/drawing/2014/main" id="{626474D2-611B-7177-4607-CF9F3A110DAF}"/>
              </a:ext>
            </a:extLst>
          </p:cNvPr>
          <p:cNvSpPr>
            <a:spLocks noGrp="1"/>
          </p:cNvSpPr>
          <p:nvPr>
            <p:ph type="sldNum" sz="quarter" idx="10"/>
          </p:nvPr>
        </p:nvSpPr>
        <p:spPr/>
        <p:txBody>
          <a:bodyPr/>
          <a:lstStyle/>
          <a:p>
            <a:fld id="{48F63A3B-78C7-47BE-AE5E-E10140E04643}" type="slidenum">
              <a:rPr lang="en-US" smtClean="0"/>
              <a:pPr/>
              <a:t>12</a:t>
            </a:fld>
            <a:endParaRPr lang="en-US" dirty="0"/>
          </a:p>
        </p:txBody>
      </p:sp>
      <p:pic>
        <p:nvPicPr>
          <p:cNvPr id="9" name="Content Placeholder 5">
            <a:extLst>
              <a:ext uri="{FF2B5EF4-FFF2-40B4-BE49-F238E27FC236}">
                <a16:creationId xmlns:a16="http://schemas.microsoft.com/office/drawing/2014/main" id="{AF078BB5-D859-221F-88D1-6DACF5B23E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920" y="2303029"/>
            <a:ext cx="6724996" cy="2216264"/>
          </a:xfrm>
          <a:prstGeom prst="rect">
            <a:avLst/>
          </a:prstGeom>
        </p:spPr>
      </p:pic>
      <p:pic>
        <p:nvPicPr>
          <p:cNvPr id="10" name="Picture 9">
            <a:extLst>
              <a:ext uri="{FF2B5EF4-FFF2-40B4-BE49-F238E27FC236}">
                <a16:creationId xmlns:a16="http://schemas.microsoft.com/office/drawing/2014/main" id="{F9F6022B-D21A-B293-A2FE-282D5BF6CA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3178" y="2248923"/>
            <a:ext cx="2698889" cy="4089610"/>
          </a:xfrm>
          <a:prstGeom prst="rect">
            <a:avLst/>
          </a:prstGeom>
        </p:spPr>
      </p:pic>
      <p:sp>
        <p:nvSpPr>
          <p:cNvPr id="11" name="Rectangle 10">
            <a:extLst>
              <a:ext uri="{FF2B5EF4-FFF2-40B4-BE49-F238E27FC236}">
                <a16:creationId xmlns:a16="http://schemas.microsoft.com/office/drawing/2014/main" id="{ABD8C96F-72C1-F140-30C1-5B9D147D088A}"/>
              </a:ext>
            </a:extLst>
          </p:cNvPr>
          <p:cNvSpPr/>
          <p:nvPr/>
        </p:nvSpPr>
        <p:spPr>
          <a:xfrm>
            <a:off x="3397920" y="2628900"/>
            <a:ext cx="551136" cy="3643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0C0CAC3-F654-0770-CFFC-17BDB70DB4F5}"/>
              </a:ext>
            </a:extLst>
          </p:cNvPr>
          <p:cNvSpPr/>
          <p:nvPr/>
        </p:nvSpPr>
        <p:spPr>
          <a:xfrm>
            <a:off x="9391669" y="4017169"/>
            <a:ext cx="551136" cy="3643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26C40741-37D3-2D1E-4850-BB0C55E0F80D}"/>
              </a:ext>
            </a:extLst>
          </p:cNvPr>
          <p:cNvSpPr txBox="1">
            <a:spLocks/>
          </p:cNvSpPr>
          <p:nvPr/>
        </p:nvSpPr>
        <p:spPr>
          <a:xfrm>
            <a:off x="2813573" y="4828721"/>
            <a:ext cx="5767720" cy="1327309"/>
          </a:xfrm>
          <a:prstGeom prst="rect">
            <a:avLst/>
          </a:prstGeom>
        </p:spPr>
        <p:txBody>
          <a:bodyPr vert="horz" lIns="0" tIns="45720" rIns="0" bIns="45720" rtlCol="0">
            <a:norm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altLang="zh-CN" dirty="0"/>
              <a:t>Open your data file</a:t>
            </a:r>
          </a:p>
          <a:p>
            <a:endParaRPr lang="en-US" dirty="0"/>
          </a:p>
        </p:txBody>
      </p:sp>
    </p:spTree>
    <p:extLst>
      <p:ext uri="{BB962C8B-B14F-4D97-AF65-F5344CB8AC3E}">
        <p14:creationId xmlns:p14="http://schemas.microsoft.com/office/powerpoint/2010/main" val="841123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E786A-5AD9-288C-872E-853D17C0C148}"/>
              </a:ext>
            </a:extLst>
          </p:cNvPr>
          <p:cNvSpPr>
            <a:spLocks noGrp="1"/>
          </p:cNvSpPr>
          <p:nvPr>
            <p:ph type="title"/>
          </p:nvPr>
        </p:nvSpPr>
        <p:spPr/>
        <p:txBody>
          <a:bodyPr/>
          <a:lstStyle/>
          <a:p>
            <a:r>
              <a:rPr lang="en-US" altLang="zh-CN" sz="3600" dirty="0"/>
              <a:t>Open data</a:t>
            </a:r>
            <a:endParaRPr lang="en-US" dirty="0"/>
          </a:p>
        </p:txBody>
      </p:sp>
      <p:sp>
        <p:nvSpPr>
          <p:cNvPr id="4" name="Slide Number Placeholder 3">
            <a:extLst>
              <a:ext uri="{FF2B5EF4-FFF2-40B4-BE49-F238E27FC236}">
                <a16:creationId xmlns:a16="http://schemas.microsoft.com/office/drawing/2014/main" id="{6DE0420E-E9E9-89D1-D8AD-5AF7C0032019}"/>
              </a:ext>
            </a:extLst>
          </p:cNvPr>
          <p:cNvSpPr>
            <a:spLocks noGrp="1"/>
          </p:cNvSpPr>
          <p:nvPr>
            <p:ph type="sldNum" sz="quarter" idx="10"/>
          </p:nvPr>
        </p:nvSpPr>
        <p:spPr/>
        <p:txBody>
          <a:bodyPr/>
          <a:lstStyle/>
          <a:p>
            <a:fld id="{48F63A3B-78C7-47BE-AE5E-E10140E04643}" type="slidenum">
              <a:rPr lang="en-US" smtClean="0"/>
              <a:pPr/>
              <a:t>13</a:t>
            </a:fld>
            <a:endParaRPr lang="en-US" dirty="0"/>
          </a:p>
        </p:txBody>
      </p:sp>
      <p:pic>
        <p:nvPicPr>
          <p:cNvPr id="5" name="Content Placeholder 4">
            <a:extLst>
              <a:ext uri="{FF2B5EF4-FFF2-40B4-BE49-F238E27FC236}">
                <a16:creationId xmlns:a16="http://schemas.microsoft.com/office/drawing/2014/main" id="{BF55FE61-3BA2-4984-03C4-3E1B23D0C43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410407" y="2729168"/>
            <a:ext cx="7956959" cy="3073558"/>
          </a:xfrm>
          <a:prstGeom prst="rect">
            <a:avLst/>
          </a:prstGeom>
        </p:spPr>
      </p:pic>
      <p:sp>
        <p:nvSpPr>
          <p:cNvPr id="6" name="Rectangle 5">
            <a:extLst>
              <a:ext uri="{FF2B5EF4-FFF2-40B4-BE49-F238E27FC236}">
                <a16:creationId xmlns:a16="http://schemas.microsoft.com/office/drawing/2014/main" id="{4564CD75-684A-CE60-6B45-2F7A7A88AABA}"/>
              </a:ext>
            </a:extLst>
          </p:cNvPr>
          <p:cNvSpPr/>
          <p:nvPr/>
        </p:nvSpPr>
        <p:spPr>
          <a:xfrm>
            <a:off x="10304330" y="2914189"/>
            <a:ext cx="927372" cy="3643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248BACBB-112A-5A51-895D-F5E38793C7D1}"/>
              </a:ext>
            </a:extLst>
          </p:cNvPr>
          <p:cNvSpPr txBox="1">
            <a:spLocks/>
          </p:cNvSpPr>
          <p:nvPr/>
        </p:nvSpPr>
        <p:spPr>
          <a:xfrm>
            <a:off x="3460565" y="2243959"/>
            <a:ext cx="7397442" cy="206912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Click browse find you data file</a:t>
            </a:r>
          </a:p>
        </p:txBody>
      </p:sp>
    </p:spTree>
    <p:extLst>
      <p:ext uri="{BB962C8B-B14F-4D97-AF65-F5344CB8AC3E}">
        <p14:creationId xmlns:p14="http://schemas.microsoft.com/office/powerpoint/2010/main" val="2268620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D26E8-4C36-DD54-62B9-E81060855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89BF45-F32E-4D31-C758-729B4C857DC9}"/>
              </a:ext>
            </a:extLst>
          </p:cNvPr>
          <p:cNvSpPr>
            <a:spLocks noGrp="1"/>
          </p:cNvSpPr>
          <p:nvPr>
            <p:ph type="title"/>
          </p:nvPr>
        </p:nvSpPr>
        <p:spPr/>
        <p:txBody>
          <a:bodyPr/>
          <a:lstStyle/>
          <a:p>
            <a:r>
              <a:rPr lang="en-US" b="1" dirty="0"/>
              <a:t>Reliability analysis</a:t>
            </a:r>
            <a:endParaRPr lang="en-US" dirty="0"/>
          </a:p>
        </p:txBody>
      </p:sp>
      <p:sp>
        <p:nvSpPr>
          <p:cNvPr id="4" name="Slide Number Placeholder 3">
            <a:extLst>
              <a:ext uri="{FF2B5EF4-FFF2-40B4-BE49-F238E27FC236}">
                <a16:creationId xmlns:a16="http://schemas.microsoft.com/office/drawing/2014/main" id="{80A94841-7A6E-351D-3861-0E652EEA98F0}"/>
              </a:ext>
            </a:extLst>
          </p:cNvPr>
          <p:cNvSpPr>
            <a:spLocks noGrp="1"/>
          </p:cNvSpPr>
          <p:nvPr>
            <p:ph type="sldNum" sz="quarter" idx="10"/>
          </p:nvPr>
        </p:nvSpPr>
        <p:spPr/>
        <p:txBody>
          <a:bodyPr/>
          <a:lstStyle/>
          <a:p>
            <a:fld id="{48F63A3B-78C7-47BE-AE5E-E10140E04643}" type="slidenum">
              <a:rPr lang="en-US" smtClean="0"/>
              <a:pPr/>
              <a:t>14</a:t>
            </a:fld>
            <a:endParaRPr lang="en-US" dirty="0"/>
          </a:p>
        </p:txBody>
      </p:sp>
      <p:pic>
        <p:nvPicPr>
          <p:cNvPr id="10" name="Content Placeholder 9">
            <a:extLst>
              <a:ext uri="{FF2B5EF4-FFF2-40B4-BE49-F238E27FC236}">
                <a16:creationId xmlns:a16="http://schemas.microsoft.com/office/drawing/2014/main" id="{EE7C8A3D-2E65-4C12-0895-E5FA6DA638D2}"/>
              </a:ext>
            </a:extLst>
          </p:cNvPr>
          <p:cNvPicPr>
            <a:picLocks noGrp="1" noChangeAspect="1"/>
          </p:cNvPicPr>
          <p:nvPr>
            <p:ph sz="half" idx="2"/>
          </p:nvPr>
        </p:nvPicPr>
        <p:blipFill>
          <a:blip r:embed="rId2"/>
          <a:srcRect r="36124" b="45499"/>
          <a:stretch/>
        </p:blipFill>
        <p:spPr>
          <a:xfrm>
            <a:off x="3460565" y="2156428"/>
            <a:ext cx="6498018" cy="3306591"/>
          </a:xfrm>
        </p:spPr>
      </p:pic>
      <p:pic>
        <p:nvPicPr>
          <p:cNvPr id="12" name="Picture 11">
            <a:extLst>
              <a:ext uri="{FF2B5EF4-FFF2-40B4-BE49-F238E27FC236}">
                <a16:creationId xmlns:a16="http://schemas.microsoft.com/office/drawing/2014/main" id="{78F4CD8B-AA50-1D7E-40E3-D89BBEAC2299}"/>
              </a:ext>
            </a:extLst>
          </p:cNvPr>
          <p:cNvPicPr>
            <a:picLocks noChangeAspect="1"/>
          </p:cNvPicPr>
          <p:nvPr/>
        </p:nvPicPr>
        <p:blipFill>
          <a:blip r:embed="rId3"/>
          <a:stretch>
            <a:fillRect/>
          </a:stretch>
        </p:blipFill>
        <p:spPr>
          <a:xfrm>
            <a:off x="6545234" y="3465679"/>
            <a:ext cx="2291503" cy="2335047"/>
          </a:xfrm>
          <a:prstGeom prst="rect">
            <a:avLst/>
          </a:prstGeom>
        </p:spPr>
      </p:pic>
      <p:sp>
        <p:nvSpPr>
          <p:cNvPr id="6" name="Rectangle 5">
            <a:extLst>
              <a:ext uri="{FF2B5EF4-FFF2-40B4-BE49-F238E27FC236}">
                <a16:creationId xmlns:a16="http://schemas.microsoft.com/office/drawing/2014/main" id="{903A04A6-E003-B0A5-C9B8-200AB90A9ED0}"/>
              </a:ext>
            </a:extLst>
          </p:cNvPr>
          <p:cNvSpPr/>
          <p:nvPr/>
        </p:nvSpPr>
        <p:spPr>
          <a:xfrm>
            <a:off x="6505247" y="2676534"/>
            <a:ext cx="557297" cy="5018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8DE0FB2-7B62-26BB-837F-98E9B6617A40}"/>
              </a:ext>
            </a:extLst>
          </p:cNvPr>
          <p:cNvSpPr/>
          <p:nvPr/>
        </p:nvSpPr>
        <p:spPr>
          <a:xfrm>
            <a:off x="6659292" y="3955186"/>
            <a:ext cx="1949054" cy="24835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9985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B69B2-02B5-9BEC-0F68-7EAD4572D9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F5137-AAF2-3E70-655B-F4B3400E752B}"/>
              </a:ext>
            </a:extLst>
          </p:cNvPr>
          <p:cNvSpPr>
            <a:spLocks noGrp="1"/>
          </p:cNvSpPr>
          <p:nvPr>
            <p:ph type="title"/>
          </p:nvPr>
        </p:nvSpPr>
        <p:spPr/>
        <p:txBody>
          <a:bodyPr/>
          <a:lstStyle/>
          <a:p>
            <a:r>
              <a:rPr lang="en-US" b="1" dirty="0"/>
              <a:t>Reliability analysis</a:t>
            </a:r>
            <a:endParaRPr lang="en-US" dirty="0"/>
          </a:p>
        </p:txBody>
      </p:sp>
      <p:sp>
        <p:nvSpPr>
          <p:cNvPr id="4" name="Slide Number Placeholder 3">
            <a:extLst>
              <a:ext uri="{FF2B5EF4-FFF2-40B4-BE49-F238E27FC236}">
                <a16:creationId xmlns:a16="http://schemas.microsoft.com/office/drawing/2014/main" id="{376C25D1-46A4-81ED-4407-81A4FEB3C5F5}"/>
              </a:ext>
            </a:extLst>
          </p:cNvPr>
          <p:cNvSpPr>
            <a:spLocks noGrp="1"/>
          </p:cNvSpPr>
          <p:nvPr>
            <p:ph type="sldNum" sz="quarter" idx="10"/>
          </p:nvPr>
        </p:nvSpPr>
        <p:spPr/>
        <p:txBody>
          <a:bodyPr/>
          <a:lstStyle/>
          <a:p>
            <a:fld id="{48F63A3B-78C7-47BE-AE5E-E10140E04643}" type="slidenum">
              <a:rPr lang="en-US" smtClean="0"/>
              <a:pPr/>
              <a:t>15</a:t>
            </a:fld>
            <a:endParaRPr lang="en-US" dirty="0"/>
          </a:p>
        </p:txBody>
      </p:sp>
      <p:sp>
        <p:nvSpPr>
          <p:cNvPr id="11" name="TextBox 10">
            <a:extLst>
              <a:ext uri="{FF2B5EF4-FFF2-40B4-BE49-F238E27FC236}">
                <a16:creationId xmlns:a16="http://schemas.microsoft.com/office/drawing/2014/main" id="{DE4632B9-162E-0A8A-A2EA-31CB677EA304}"/>
              </a:ext>
            </a:extLst>
          </p:cNvPr>
          <p:cNvSpPr txBox="1"/>
          <p:nvPr/>
        </p:nvSpPr>
        <p:spPr>
          <a:xfrm>
            <a:off x="9030377" y="2456436"/>
            <a:ext cx="1742230" cy="646331"/>
          </a:xfrm>
          <a:prstGeom prst="rect">
            <a:avLst/>
          </a:prstGeom>
          <a:noFill/>
        </p:spPr>
        <p:txBody>
          <a:bodyPr wrap="square" rtlCol="0">
            <a:spAutoFit/>
          </a:bodyPr>
          <a:lstStyle/>
          <a:p>
            <a:r>
              <a:rPr lang="en-US" dirty="0"/>
              <a:t>Select variable by variable</a:t>
            </a:r>
          </a:p>
        </p:txBody>
      </p:sp>
      <p:grpSp>
        <p:nvGrpSpPr>
          <p:cNvPr id="19" name="Group 18">
            <a:extLst>
              <a:ext uri="{FF2B5EF4-FFF2-40B4-BE49-F238E27FC236}">
                <a16:creationId xmlns:a16="http://schemas.microsoft.com/office/drawing/2014/main" id="{0B105FD0-B138-30F9-F4EA-B392EB67F33D}"/>
              </a:ext>
            </a:extLst>
          </p:cNvPr>
          <p:cNvGrpSpPr/>
          <p:nvPr/>
        </p:nvGrpSpPr>
        <p:grpSpPr>
          <a:xfrm>
            <a:off x="3653360" y="2279818"/>
            <a:ext cx="5377017" cy="4120981"/>
            <a:chOff x="1164461" y="2079625"/>
            <a:chExt cx="4765615" cy="3760788"/>
          </a:xfrm>
        </p:grpSpPr>
        <p:pic>
          <p:nvPicPr>
            <p:cNvPr id="15" name="Content Placeholder 4">
              <a:extLst>
                <a:ext uri="{FF2B5EF4-FFF2-40B4-BE49-F238E27FC236}">
                  <a16:creationId xmlns:a16="http://schemas.microsoft.com/office/drawing/2014/main" id="{DA726E7E-6CB4-03ED-68A9-F94E0E024F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4461" y="2079625"/>
              <a:ext cx="4765615" cy="3760788"/>
            </a:xfrm>
            <a:prstGeom prst="rect">
              <a:avLst/>
            </a:prstGeom>
          </p:spPr>
        </p:pic>
        <p:sp>
          <p:nvSpPr>
            <p:cNvPr id="16" name="Rectangle 15">
              <a:extLst>
                <a:ext uri="{FF2B5EF4-FFF2-40B4-BE49-F238E27FC236}">
                  <a16:creationId xmlns:a16="http://schemas.microsoft.com/office/drawing/2014/main" id="{299F662B-9418-2078-CAD4-6DB6C7A58FAB}"/>
                </a:ext>
              </a:extLst>
            </p:cNvPr>
            <p:cNvSpPr/>
            <p:nvPr/>
          </p:nvSpPr>
          <p:spPr>
            <a:xfrm>
              <a:off x="1164461" y="2640507"/>
              <a:ext cx="842933" cy="103852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0CDE4AC-AD48-0789-672D-AF578AA1F7A1}"/>
                </a:ext>
              </a:extLst>
            </p:cNvPr>
            <p:cNvSpPr/>
            <p:nvPr/>
          </p:nvSpPr>
          <p:spPr>
            <a:xfrm>
              <a:off x="1350168" y="4707731"/>
              <a:ext cx="935831" cy="1714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96A36DA-E890-82E5-A210-613BD5F53721}"/>
                </a:ext>
              </a:extLst>
            </p:cNvPr>
            <p:cNvSpPr/>
            <p:nvPr/>
          </p:nvSpPr>
          <p:spPr>
            <a:xfrm>
              <a:off x="3724275" y="4707731"/>
              <a:ext cx="1854994" cy="228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94111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DD4B7-4EF1-8F36-8412-2CF56F956C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215E7C-4EBB-BF80-AED4-DE77EC0F136A}"/>
              </a:ext>
            </a:extLst>
          </p:cNvPr>
          <p:cNvSpPr>
            <a:spLocks noGrp="1"/>
          </p:cNvSpPr>
          <p:nvPr>
            <p:ph type="title"/>
          </p:nvPr>
        </p:nvSpPr>
        <p:spPr/>
        <p:txBody>
          <a:bodyPr/>
          <a:lstStyle/>
          <a:p>
            <a:r>
              <a:rPr lang="en-US" b="1" dirty="0"/>
              <a:t>Reliability analysis</a:t>
            </a:r>
            <a:endParaRPr lang="en-US" dirty="0"/>
          </a:p>
        </p:txBody>
      </p:sp>
      <p:sp>
        <p:nvSpPr>
          <p:cNvPr id="4" name="Slide Number Placeholder 3">
            <a:extLst>
              <a:ext uri="{FF2B5EF4-FFF2-40B4-BE49-F238E27FC236}">
                <a16:creationId xmlns:a16="http://schemas.microsoft.com/office/drawing/2014/main" id="{E30EC141-E16A-9558-E54E-4BC50665C952}"/>
              </a:ext>
            </a:extLst>
          </p:cNvPr>
          <p:cNvSpPr>
            <a:spLocks noGrp="1"/>
          </p:cNvSpPr>
          <p:nvPr>
            <p:ph type="sldNum" sz="quarter" idx="10"/>
          </p:nvPr>
        </p:nvSpPr>
        <p:spPr/>
        <p:txBody>
          <a:bodyPr/>
          <a:lstStyle/>
          <a:p>
            <a:fld id="{48F63A3B-78C7-47BE-AE5E-E10140E04643}" type="slidenum">
              <a:rPr lang="en-US" smtClean="0"/>
              <a:pPr/>
              <a:t>16</a:t>
            </a:fld>
            <a:endParaRPr lang="en-US" dirty="0"/>
          </a:p>
        </p:txBody>
      </p:sp>
      <p:sp>
        <p:nvSpPr>
          <p:cNvPr id="11" name="TextBox 10">
            <a:extLst>
              <a:ext uri="{FF2B5EF4-FFF2-40B4-BE49-F238E27FC236}">
                <a16:creationId xmlns:a16="http://schemas.microsoft.com/office/drawing/2014/main" id="{42A099F3-E2F0-CD6D-0FBE-98E991E5B4E3}"/>
              </a:ext>
            </a:extLst>
          </p:cNvPr>
          <p:cNvSpPr txBox="1"/>
          <p:nvPr/>
        </p:nvSpPr>
        <p:spPr>
          <a:xfrm>
            <a:off x="9630960" y="1437571"/>
            <a:ext cx="1795066" cy="646331"/>
          </a:xfrm>
          <a:prstGeom prst="rect">
            <a:avLst/>
          </a:prstGeom>
          <a:noFill/>
        </p:spPr>
        <p:txBody>
          <a:bodyPr wrap="square" rtlCol="0">
            <a:spAutoFit/>
          </a:bodyPr>
          <a:lstStyle/>
          <a:p>
            <a:r>
              <a:rPr lang="en-US" dirty="0"/>
              <a:t>Analyze variable by variable</a:t>
            </a:r>
          </a:p>
        </p:txBody>
      </p:sp>
      <p:grpSp>
        <p:nvGrpSpPr>
          <p:cNvPr id="21" name="Group 20">
            <a:extLst>
              <a:ext uri="{FF2B5EF4-FFF2-40B4-BE49-F238E27FC236}">
                <a16:creationId xmlns:a16="http://schemas.microsoft.com/office/drawing/2014/main" id="{3CFF1A07-E875-358F-E7F8-A1D72F27F6EB}"/>
              </a:ext>
            </a:extLst>
          </p:cNvPr>
          <p:cNvGrpSpPr/>
          <p:nvPr/>
        </p:nvGrpSpPr>
        <p:grpSpPr>
          <a:xfrm>
            <a:off x="3460565" y="2257077"/>
            <a:ext cx="6904420" cy="3760788"/>
            <a:chOff x="3460565" y="2257077"/>
            <a:chExt cx="6904420" cy="3760788"/>
          </a:xfrm>
        </p:grpSpPr>
        <p:grpSp>
          <p:nvGrpSpPr>
            <p:cNvPr id="18" name="Group 17">
              <a:extLst>
                <a:ext uri="{FF2B5EF4-FFF2-40B4-BE49-F238E27FC236}">
                  <a16:creationId xmlns:a16="http://schemas.microsoft.com/office/drawing/2014/main" id="{0DB24F7A-8E4B-186F-2C67-B279C6FDF277}"/>
                </a:ext>
              </a:extLst>
            </p:cNvPr>
            <p:cNvGrpSpPr/>
            <p:nvPr/>
          </p:nvGrpSpPr>
          <p:grpSpPr>
            <a:xfrm>
              <a:off x="3460565" y="2257077"/>
              <a:ext cx="6904420" cy="3760788"/>
              <a:chOff x="1195196" y="2008187"/>
              <a:chExt cx="6904420" cy="3760788"/>
            </a:xfrm>
          </p:grpSpPr>
          <p:pic>
            <p:nvPicPr>
              <p:cNvPr id="16" name="Content Placeholder 4">
                <a:extLst>
                  <a:ext uri="{FF2B5EF4-FFF2-40B4-BE49-F238E27FC236}">
                    <a16:creationId xmlns:a16="http://schemas.microsoft.com/office/drawing/2014/main" id="{C3EFC1A9-D6B5-B43F-60FE-758E3D0377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5196" y="2008187"/>
                <a:ext cx="6904420" cy="3760788"/>
              </a:xfrm>
              <a:prstGeom prst="rect">
                <a:avLst/>
              </a:prstGeom>
            </p:spPr>
          </p:pic>
          <p:sp>
            <p:nvSpPr>
              <p:cNvPr id="17" name="Rectangle 16">
                <a:extLst>
                  <a:ext uri="{FF2B5EF4-FFF2-40B4-BE49-F238E27FC236}">
                    <a16:creationId xmlns:a16="http://schemas.microsoft.com/office/drawing/2014/main" id="{675D77E6-712C-9871-094E-510AF49890E0}"/>
                  </a:ext>
                </a:extLst>
              </p:cNvPr>
              <p:cNvSpPr/>
              <p:nvPr/>
            </p:nvSpPr>
            <p:spPr>
              <a:xfrm>
                <a:off x="6286530" y="4321970"/>
                <a:ext cx="1364426" cy="13001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4E81AFFA-450E-1B71-3667-EA0B8AC196B1}"/>
                </a:ext>
              </a:extLst>
            </p:cNvPr>
            <p:cNvSpPr/>
            <p:nvPr/>
          </p:nvSpPr>
          <p:spPr>
            <a:xfrm>
              <a:off x="6150472" y="3067601"/>
              <a:ext cx="591199" cy="10282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67F2013-138D-CAD7-FC70-4AA4D048A593}"/>
                </a:ext>
              </a:extLst>
            </p:cNvPr>
            <p:cNvSpPr/>
            <p:nvPr/>
          </p:nvSpPr>
          <p:spPr>
            <a:xfrm>
              <a:off x="5711673" y="3002911"/>
              <a:ext cx="384327" cy="29758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39146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1A6CF-8721-6C98-0A84-157E43B74F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33EB3-08B0-0795-F4FA-295F37D7DB13}"/>
              </a:ext>
            </a:extLst>
          </p:cNvPr>
          <p:cNvSpPr>
            <a:spLocks noGrp="1"/>
          </p:cNvSpPr>
          <p:nvPr>
            <p:ph type="title"/>
          </p:nvPr>
        </p:nvSpPr>
        <p:spPr/>
        <p:txBody>
          <a:bodyPr/>
          <a:lstStyle/>
          <a:p>
            <a:r>
              <a:rPr lang="en-US" b="1" dirty="0"/>
              <a:t>Reliability analysis</a:t>
            </a:r>
            <a:endParaRPr lang="en-US" dirty="0"/>
          </a:p>
        </p:txBody>
      </p:sp>
      <p:sp>
        <p:nvSpPr>
          <p:cNvPr id="4" name="Slide Number Placeholder 3">
            <a:extLst>
              <a:ext uri="{FF2B5EF4-FFF2-40B4-BE49-F238E27FC236}">
                <a16:creationId xmlns:a16="http://schemas.microsoft.com/office/drawing/2014/main" id="{576272B6-30E0-6F15-05FC-4DF5C6AD6DC1}"/>
              </a:ext>
            </a:extLst>
          </p:cNvPr>
          <p:cNvSpPr>
            <a:spLocks noGrp="1"/>
          </p:cNvSpPr>
          <p:nvPr>
            <p:ph type="sldNum" sz="quarter" idx="10"/>
          </p:nvPr>
        </p:nvSpPr>
        <p:spPr/>
        <p:txBody>
          <a:bodyPr/>
          <a:lstStyle/>
          <a:p>
            <a:fld id="{48F63A3B-78C7-47BE-AE5E-E10140E04643}" type="slidenum">
              <a:rPr lang="en-US" smtClean="0"/>
              <a:pPr/>
              <a:t>17</a:t>
            </a:fld>
            <a:endParaRPr lang="en-US" dirty="0"/>
          </a:p>
        </p:txBody>
      </p:sp>
      <p:sp>
        <p:nvSpPr>
          <p:cNvPr id="11" name="TextBox 10">
            <a:extLst>
              <a:ext uri="{FF2B5EF4-FFF2-40B4-BE49-F238E27FC236}">
                <a16:creationId xmlns:a16="http://schemas.microsoft.com/office/drawing/2014/main" id="{E555B8B0-67F8-5920-351F-942D07BEE9A4}"/>
              </a:ext>
            </a:extLst>
          </p:cNvPr>
          <p:cNvSpPr txBox="1"/>
          <p:nvPr/>
        </p:nvSpPr>
        <p:spPr>
          <a:xfrm>
            <a:off x="9630960" y="1437571"/>
            <a:ext cx="1795066" cy="646331"/>
          </a:xfrm>
          <a:prstGeom prst="rect">
            <a:avLst/>
          </a:prstGeom>
          <a:noFill/>
        </p:spPr>
        <p:txBody>
          <a:bodyPr wrap="square" rtlCol="0">
            <a:spAutoFit/>
          </a:bodyPr>
          <a:lstStyle/>
          <a:p>
            <a:r>
              <a:rPr lang="en-US" dirty="0"/>
              <a:t>Analyze variable by variable</a:t>
            </a:r>
          </a:p>
        </p:txBody>
      </p:sp>
      <p:grpSp>
        <p:nvGrpSpPr>
          <p:cNvPr id="19" name="Group 18">
            <a:extLst>
              <a:ext uri="{FF2B5EF4-FFF2-40B4-BE49-F238E27FC236}">
                <a16:creationId xmlns:a16="http://schemas.microsoft.com/office/drawing/2014/main" id="{B96BFD96-A62A-456E-8DBB-30D51312D72F}"/>
              </a:ext>
            </a:extLst>
          </p:cNvPr>
          <p:cNvGrpSpPr/>
          <p:nvPr/>
        </p:nvGrpSpPr>
        <p:grpSpPr>
          <a:xfrm>
            <a:off x="9160230" y="2370700"/>
            <a:ext cx="2305125" cy="4143724"/>
            <a:chOff x="9160230" y="2370700"/>
            <a:chExt cx="2305125" cy="4143724"/>
          </a:xfrm>
        </p:grpSpPr>
        <p:pic>
          <p:nvPicPr>
            <p:cNvPr id="17" name="Content Placeholder 4">
              <a:extLst>
                <a:ext uri="{FF2B5EF4-FFF2-40B4-BE49-F238E27FC236}">
                  <a16:creationId xmlns:a16="http://schemas.microsoft.com/office/drawing/2014/main" id="{0C73E066-DD27-1F83-4083-E3A7D35DF3E3}"/>
                </a:ext>
              </a:extLst>
            </p:cNvPr>
            <p:cNvPicPr>
              <a:picLocks noChangeAspect="1"/>
            </p:cNvPicPr>
            <p:nvPr/>
          </p:nvPicPr>
          <p:blipFill>
            <a:blip r:embed="rId2">
              <a:extLst>
                <a:ext uri="{28A0092B-C50C-407E-A947-70E740481C1C}">
                  <a14:useLocalDpi xmlns:a14="http://schemas.microsoft.com/office/drawing/2010/main" val="0"/>
                </a:ext>
              </a:extLst>
            </a:blip>
            <a:srcRect l="69699"/>
            <a:stretch/>
          </p:blipFill>
          <p:spPr>
            <a:xfrm>
              <a:off x="9160230" y="2370700"/>
              <a:ext cx="2305125" cy="4143724"/>
            </a:xfrm>
            <a:prstGeom prst="rect">
              <a:avLst/>
            </a:prstGeom>
          </p:spPr>
        </p:pic>
        <p:sp>
          <p:nvSpPr>
            <p:cNvPr id="14" name="Rectangle 13">
              <a:extLst>
                <a:ext uri="{FF2B5EF4-FFF2-40B4-BE49-F238E27FC236}">
                  <a16:creationId xmlns:a16="http://schemas.microsoft.com/office/drawing/2014/main" id="{63DD5EDE-2EBA-68BA-752C-F3E66D787629}"/>
                </a:ext>
              </a:extLst>
            </p:cNvPr>
            <p:cNvSpPr/>
            <p:nvPr/>
          </p:nvSpPr>
          <p:spPr>
            <a:xfrm>
              <a:off x="9409122" y="3361686"/>
              <a:ext cx="1764970" cy="109127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AF8D9A3-F997-C8F5-231A-ACB200F65774}"/>
                </a:ext>
              </a:extLst>
            </p:cNvPr>
            <p:cNvSpPr/>
            <p:nvPr/>
          </p:nvSpPr>
          <p:spPr>
            <a:xfrm>
              <a:off x="9409122" y="4605365"/>
              <a:ext cx="1764970" cy="173591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6BF01802-130D-A856-E5E1-E573F6A538DF}"/>
              </a:ext>
            </a:extLst>
          </p:cNvPr>
          <p:cNvSpPr txBox="1"/>
          <p:nvPr/>
        </p:nvSpPr>
        <p:spPr>
          <a:xfrm>
            <a:off x="2986679" y="2495915"/>
            <a:ext cx="6103214" cy="3139321"/>
          </a:xfrm>
          <a:prstGeom prst="rect">
            <a:avLst/>
          </a:prstGeom>
          <a:noFill/>
        </p:spPr>
        <p:txBody>
          <a:bodyPr wrap="square">
            <a:spAutoFit/>
          </a:bodyPr>
          <a:lstStyle/>
          <a:p>
            <a:r>
              <a:rPr lang="en-US" b="0" i="0" dirty="0">
                <a:solidFill>
                  <a:srgbClr val="000000"/>
                </a:solidFill>
                <a:effectLst/>
                <a:latin typeface="Times New Roman" panose="02020603050405020304" pitchFamily="18" charset="0"/>
                <a:cs typeface="Times New Roman" panose="02020603050405020304" pitchFamily="18" charset="0"/>
              </a:rPr>
              <a:t>Cronbach's α. If it is ≥0.7, the questionnaire with this variable has no problem.</a:t>
            </a:r>
          </a:p>
          <a:p>
            <a:r>
              <a:rPr lang="en-US" b="0" i="0" dirty="0">
                <a:solidFill>
                  <a:srgbClr val="000000"/>
                </a:solidFill>
                <a:effectLst/>
                <a:latin typeface="Times New Roman" panose="02020603050405020304" pitchFamily="18" charset="0"/>
                <a:cs typeface="Times New Roman" panose="02020603050405020304" pitchFamily="18" charset="0"/>
              </a:rPr>
              <a:t>If this value is &lt; 0.7, it indicates that the questionnaire does not have sufficient reliability. </a:t>
            </a:r>
          </a:p>
          <a:p>
            <a:r>
              <a:rPr lang="en-US" b="0" i="0" dirty="0">
                <a:solidFill>
                  <a:srgbClr val="000000"/>
                </a:solidFill>
                <a:effectLst/>
                <a:latin typeface="Times New Roman" panose="02020603050405020304" pitchFamily="18" charset="0"/>
                <a:cs typeface="Times New Roman" panose="02020603050405020304" pitchFamily="18" charset="0"/>
              </a:rPr>
              <a:t>There are various methods for remediation.</a:t>
            </a:r>
          </a:p>
          <a:p>
            <a:pPr marL="342900" indent="-342900">
              <a:buFont typeface="+mj-lt"/>
              <a:buAutoNum type="arabicPeriod"/>
            </a:pPr>
            <a:r>
              <a:rPr lang="en-US" b="0" i="0" dirty="0">
                <a:solidFill>
                  <a:srgbClr val="000000"/>
                </a:solidFill>
                <a:effectLst/>
                <a:latin typeface="Times New Roman" panose="02020603050405020304" pitchFamily="18" charset="0"/>
                <a:cs typeface="Times New Roman" panose="02020603050405020304" pitchFamily="18" charset="0"/>
              </a:rPr>
              <a:t>First, look for references. Some literatures emphasize that a value of Cronbach's α ≥0.6 meets the requirements. </a:t>
            </a:r>
          </a:p>
          <a:p>
            <a:pPr marL="342900" indent="-342900">
              <a:buFont typeface="+mj-lt"/>
              <a:buAutoNum type="arabicPeriod"/>
            </a:pPr>
            <a:r>
              <a:rPr lang="en-US" b="0" i="0" dirty="0">
                <a:solidFill>
                  <a:srgbClr val="000000"/>
                </a:solidFill>
                <a:effectLst/>
                <a:latin typeface="Times New Roman" panose="02020603050405020304" pitchFamily="18" charset="0"/>
                <a:cs typeface="Times New Roman" panose="02020603050405020304" pitchFamily="18" charset="0"/>
              </a:rPr>
              <a:t>Secondly, data can be collected again and tested again. </a:t>
            </a:r>
          </a:p>
          <a:p>
            <a:pPr marL="342900" indent="-342900">
              <a:buFont typeface="+mj-lt"/>
              <a:buAutoNum type="arabicPeriod"/>
            </a:pPr>
            <a:r>
              <a:rPr lang="en-US" b="0" i="0" dirty="0">
                <a:solidFill>
                  <a:srgbClr val="000000"/>
                </a:solidFill>
                <a:effectLst/>
                <a:latin typeface="Times New Roman" panose="02020603050405020304" pitchFamily="18" charset="0"/>
                <a:cs typeface="Times New Roman" panose="02020603050405020304" pitchFamily="18" charset="0"/>
              </a:rPr>
              <a:t>Thirdly, you can look at the table within the red box. Here it shows what the value of Cronbach's α will become if a certain problem is removed.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7712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12F5B-52DF-A447-7C72-05E6BBD0833E}"/>
              </a:ext>
            </a:extLst>
          </p:cNvPr>
          <p:cNvSpPr>
            <a:spLocks noGrp="1"/>
          </p:cNvSpPr>
          <p:nvPr>
            <p:ph type="title"/>
          </p:nvPr>
        </p:nvSpPr>
        <p:spPr/>
        <p:txBody>
          <a:bodyPr/>
          <a:lstStyle/>
          <a:p>
            <a:r>
              <a:rPr lang="en-US" dirty="0"/>
              <a:t>Descriptive analysis</a:t>
            </a:r>
          </a:p>
        </p:txBody>
      </p:sp>
      <p:sp>
        <p:nvSpPr>
          <p:cNvPr id="4" name="Slide Number Placeholder 3">
            <a:extLst>
              <a:ext uri="{FF2B5EF4-FFF2-40B4-BE49-F238E27FC236}">
                <a16:creationId xmlns:a16="http://schemas.microsoft.com/office/drawing/2014/main" id="{8650717A-D0FF-0601-5F36-EBCB66EBE23F}"/>
              </a:ext>
            </a:extLst>
          </p:cNvPr>
          <p:cNvSpPr>
            <a:spLocks noGrp="1"/>
          </p:cNvSpPr>
          <p:nvPr>
            <p:ph type="sldNum" sz="quarter" idx="10"/>
          </p:nvPr>
        </p:nvSpPr>
        <p:spPr/>
        <p:txBody>
          <a:bodyPr/>
          <a:lstStyle/>
          <a:p>
            <a:fld id="{48F63A3B-78C7-47BE-AE5E-E10140E04643}" type="slidenum">
              <a:rPr lang="en-US" smtClean="0"/>
              <a:pPr/>
              <a:t>18</a:t>
            </a:fld>
            <a:endParaRPr lang="en-US" dirty="0"/>
          </a:p>
        </p:txBody>
      </p:sp>
      <p:grpSp>
        <p:nvGrpSpPr>
          <p:cNvPr id="11" name="Group 10">
            <a:extLst>
              <a:ext uri="{FF2B5EF4-FFF2-40B4-BE49-F238E27FC236}">
                <a16:creationId xmlns:a16="http://schemas.microsoft.com/office/drawing/2014/main" id="{1659BD1E-CDF4-44C6-08EF-1E402A2F4B64}"/>
              </a:ext>
            </a:extLst>
          </p:cNvPr>
          <p:cNvGrpSpPr/>
          <p:nvPr/>
        </p:nvGrpSpPr>
        <p:grpSpPr>
          <a:xfrm>
            <a:off x="3320418" y="2280874"/>
            <a:ext cx="6832951" cy="2686188"/>
            <a:chOff x="1152349" y="1945413"/>
            <a:chExt cx="6832951" cy="2686188"/>
          </a:xfrm>
        </p:grpSpPr>
        <p:pic>
          <p:nvPicPr>
            <p:cNvPr id="8" name="Content Placeholder 4">
              <a:extLst>
                <a:ext uri="{FF2B5EF4-FFF2-40B4-BE49-F238E27FC236}">
                  <a16:creationId xmlns:a16="http://schemas.microsoft.com/office/drawing/2014/main" id="{FEA1D754-A2D7-A0B9-9004-3F19C47E47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2349" y="1945413"/>
              <a:ext cx="6832951" cy="2686188"/>
            </a:xfrm>
            <a:prstGeom prst="rect">
              <a:avLst/>
            </a:prstGeom>
          </p:spPr>
        </p:pic>
        <p:sp>
          <p:nvSpPr>
            <p:cNvPr id="9" name="Rectangle 8">
              <a:extLst>
                <a:ext uri="{FF2B5EF4-FFF2-40B4-BE49-F238E27FC236}">
                  <a16:creationId xmlns:a16="http://schemas.microsoft.com/office/drawing/2014/main" id="{739D7C57-155C-0C34-52A9-B8541562663F}"/>
                </a:ext>
              </a:extLst>
            </p:cNvPr>
            <p:cNvSpPr/>
            <p:nvPr/>
          </p:nvSpPr>
          <p:spPr>
            <a:xfrm>
              <a:off x="3580334" y="2064543"/>
              <a:ext cx="927372" cy="3643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6F8A298-E136-E883-8171-1F730F051796}"/>
                </a:ext>
              </a:extLst>
            </p:cNvPr>
            <p:cNvSpPr/>
            <p:nvPr/>
          </p:nvSpPr>
          <p:spPr>
            <a:xfrm>
              <a:off x="1301478" y="3164681"/>
              <a:ext cx="927372" cy="3643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40515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710A0-5ED2-B5C7-09E0-6D29CF744A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9C54A-CACF-D129-CBB1-821B3D31C06F}"/>
              </a:ext>
            </a:extLst>
          </p:cNvPr>
          <p:cNvSpPr>
            <a:spLocks noGrp="1"/>
          </p:cNvSpPr>
          <p:nvPr>
            <p:ph type="title"/>
          </p:nvPr>
        </p:nvSpPr>
        <p:spPr/>
        <p:txBody>
          <a:bodyPr/>
          <a:lstStyle/>
          <a:p>
            <a:r>
              <a:rPr lang="en-US" dirty="0"/>
              <a:t>Descriptive analysis</a:t>
            </a:r>
          </a:p>
        </p:txBody>
      </p:sp>
      <p:sp>
        <p:nvSpPr>
          <p:cNvPr id="4" name="Slide Number Placeholder 3">
            <a:extLst>
              <a:ext uri="{FF2B5EF4-FFF2-40B4-BE49-F238E27FC236}">
                <a16:creationId xmlns:a16="http://schemas.microsoft.com/office/drawing/2014/main" id="{DD61DF5C-DA6F-3EF6-FC30-D61525A85F9D}"/>
              </a:ext>
            </a:extLst>
          </p:cNvPr>
          <p:cNvSpPr>
            <a:spLocks noGrp="1"/>
          </p:cNvSpPr>
          <p:nvPr>
            <p:ph type="sldNum" sz="quarter" idx="10"/>
          </p:nvPr>
        </p:nvSpPr>
        <p:spPr/>
        <p:txBody>
          <a:bodyPr/>
          <a:lstStyle/>
          <a:p>
            <a:fld id="{48F63A3B-78C7-47BE-AE5E-E10140E04643}" type="slidenum">
              <a:rPr lang="en-US" smtClean="0"/>
              <a:pPr/>
              <a:t>19</a:t>
            </a:fld>
            <a:endParaRPr lang="en-US" dirty="0"/>
          </a:p>
        </p:txBody>
      </p:sp>
      <p:grpSp>
        <p:nvGrpSpPr>
          <p:cNvPr id="13" name="Group 12">
            <a:extLst>
              <a:ext uri="{FF2B5EF4-FFF2-40B4-BE49-F238E27FC236}">
                <a16:creationId xmlns:a16="http://schemas.microsoft.com/office/drawing/2014/main" id="{34FA19F8-DAB9-3741-75F8-37D093BEB609}"/>
              </a:ext>
            </a:extLst>
          </p:cNvPr>
          <p:cNvGrpSpPr/>
          <p:nvPr/>
        </p:nvGrpSpPr>
        <p:grpSpPr>
          <a:xfrm>
            <a:off x="3256151" y="2323988"/>
            <a:ext cx="5454998" cy="3800869"/>
            <a:chOff x="3256150" y="2323988"/>
            <a:chExt cx="6356677" cy="4216617"/>
          </a:xfrm>
        </p:grpSpPr>
        <p:pic>
          <p:nvPicPr>
            <p:cNvPr id="3" name="Picture 2">
              <a:extLst>
                <a:ext uri="{FF2B5EF4-FFF2-40B4-BE49-F238E27FC236}">
                  <a16:creationId xmlns:a16="http://schemas.microsoft.com/office/drawing/2014/main" id="{A870C0E5-C9B8-B9A9-40F9-D6C3BF85F0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6150" y="2323988"/>
              <a:ext cx="6356677" cy="4216617"/>
            </a:xfrm>
            <a:prstGeom prst="rect">
              <a:avLst/>
            </a:prstGeom>
          </p:spPr>
        </p:pic>
        <p:sp>
          <p:nvSpPr>
            <p:cNvPr id="5" name="Rectangle 4">
              <a:extLst>
                <a:ext uri="{FF2B5EF4-FFF2-40B4-BE49-F238E27FC236}">
                  <a16:creationId xmlns:a16="http://schemas.microsoft.com/office/drawing/2014/main" id="{EAEE3DE1-9785-C370-B20F-DC6E7742EE47}"/>
                </a:ext>
              </a:extLst>
            </p:cNvPr>
            <p:cNvSpPr/>
            <p:nvPr/>
          </p:nvSpPr>
          <p:spPr>
            <a:xfrm>
              <a:off x="3428285" y="3663696"/>
              <a:ext cx="1370286" cy="154012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8D95D761-D547-B557-C770-089848106BA1}"/>
                </a:ext>
              </a:extLst>
            </p:cNvPr>
            <p:cNvSpPr/>
            <p:nvPr/>
          </p:nvSpPr>
          <p:spPr>
            <a:xfrm>
              <a:off x="6163027" y="3268359"/>
              <a:ext cx="542925" cy="3953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64AA6D5D-3C12-B650-61CC-076FF0D867B5}"/>
              </a:ext>
            </a:extLst>
          </p:cNvPr>
          <p:cNvSpPr txBox="1"/>
          <p:nvPr/>
        </p:nvSpPr>
        <p:spPr>
          <a:xfrm>
            <a:off x="8858867" y="2731043"/>
            <a:ext cx="3089481" cy="3293209"/>
          </a:xfrm>
          <a:prstGeom prst="rect">
            <a:avLst/>
          </a:prstGeom>
          <a:noFill/>
        </p:spPr>
        <p:txBody>
          <a:bodyPr wrap="square">
            <a:spAutoFit/>
          </a:bodyPr>
          <a:lstStyle/>
          <a:p>
            <a:r>
              <a:rPr lang="en-US" sz="1600" b="0" i="0" dirty="0">
                <a:solidFill>
                  <a:srgbClr val="000000"/>
                </a:solidFill>
                <a:effectLst/>
                <a:latin typeface="Poppins-Medium"/>
              </a:rPr>
              <a:t>Select the items on the left analysis interface and use the arrow keys to put it into the analysis box. </a:t>
            </a:r>
          </a:p>
          <a:p>
            <a:endParaRPr lang="en-US" sz="1600" b="0" i="0" dirty="0">
              <a:solidFill>
                <a:srgbClr val="000000"/>
              </a:solidFill>
              <a:effectLst/>
              <a:latin typeface="Poppins-Medium"/>
            </a:endParaRPr>
          </a:p>
          <a:p>
            <a:r>
              <a:rPr lang="en-US" sz="1600" b="0" i="0" dirty="0">
                <a:solidFill>
                  <a:srgbClr val="000000"/>
                </a:solidFill>
                <a:effectLst/>
                <a:latin typeface="Poppins-Medium"/>
              </a:rPr>
              <a:t>Here, some personal information-related issues can be analyzed, such as gender; Age Educational attainment Income and the like (the specific issue depends on everyone's research purpose)</a:t>
            </a:r>
            <a:endParaRPr lang="en-US" sz="1600" dirty="0"/>
          </a:p>
        </p:txBody>
      </p:sp>
    </p:spTree>
    <p:extLst>
      <p:ext uri="{BB962C8B-B14F-4D97-AF65-F5344CB8AC3E}">
        <p14:creationId xmlns:p14="http://schemas.microsoft.com/office/powerpoint/2010/main" val="37736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7622B-A2E0-78CF-CB84-81A1FADDF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B04ADC-0C2D-5CE8-4918-0BAAB6F50BA8}"/>
              </a:ext>
            </a:extLst>
          </p:cNvPr>
          <p:cNvSpPr>
            <a:spLocks noGrp="1"/>
          </p:cNvSpPr>
          <p:nvPr>
            <p:ph type="title"/>
          </p:nvPr>
        </p:nvSpPr>
        <p:spPr>
          <a:xfrm>
            <a:off x="3170641" y="457199"/>
            <a:ext cx="7965461" cy="994164"/>
          </a:xfrm>
        </p:spPr>
        <p:txBody>
          <a:bodyPr/>
          <a:lstStyle/>
          <a:p>
            <a:r>
              <a:rPr lang="en-US" dirty="0"/>
              <a:t>Descriptive analysis</a:t>
            </a:r>
          </a:p>
        </p:txBody>
      </p:sp>
      <p:sp>
        <p:nvSpPr>
          <p:cNvPr id="4" name="Slide Number Placeholder 3">
            <a:extLst>
              <a:ext uri="{FF2B5EF4-FFF2-40B4-BE49-F238E27FC236}">
                <a16:creationId xmlns:a16="http://schemas.microsoft.com/office/drawing/2014/main" id="{10D4E16C-AEF5-43E7-CCFF-BFC3BE3F153E}"/>
              </a:ext>
            </a:extLst>
          </p:cNvPr>
          <p:cNvSpPr>
            <a:spLocks noGrp="1"/>
          </p:cNvSpPr>
          <p:nvPr>
            <p:ph type="sldNum" sz="quarter" idx="10"/>
          </p:nvPr>
        </p:nvSpPr>
        <p:spPr/>
        <p:txBody>
          <a:bodyPr/>
          <a:lstStyle/>
          <a:p>
            <a:fld id="{48F63A3B-78C7-47BE-AE5E-E10140E04643}" type="slidenum">
              <a:rPr lang="en-US" smtClean="0"/>
              <a:pPr/>
              <a:t>20</a:t>
            </a:fld>
            <a:endParaRPr lang="en-US" dirty="0"/>
          </a:p>
        </p:txBody>
      </p:sp>
      <p:pic>
        <p:nvPicPr>
          <p:cNvPr id="3" name="Content Placeholder 4">
            <a:extLst>
              <a:ext uri="{FF2B5EF4-FFF2-40B4-BE49-F238E27FC236}">
                <a16:creationId xmlns:a16="http://schemas.microsoft.com/office/drawing/2014/main" id="{442B4BB3-1EAD-CB5C-664D-E5EDE9A7ED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0641" y="1642687"/>
            <a:ext cx="3080984" cy="5061618"/>
          </a:xfrm>
          <a:prstGeom prst="rect">
            <a:avLst/>
          </a:prstGeom>
        </p:spPr>
      </p:pic>
      <p:sp>
        <p:nvSpPr>
          <p:cNvPr id="6" name="TextBox 5">
            <a:extLst>
              <a:ext uri="{FF2B5EF4-FFF2-40B4-BE49-F238E27FC236}">
                <a16:creationId xmlns:a16="http://schemas.microsoft.com/office/drawing/2014/main" id="{EFCBF646-BFA9-01D8-654B-CC0009E5A3B6}"/>
              </a:ext>
            </a:extLst>
          </p:cNvPr>
          <p:cNvSpPr txBox="1"/>
          <p:nvPr/>
        </p:nvSpPr>
        <p:spPr>
          <a:xfrm>
            <a:off x="6614266" y="2088291"/>
            <a:ext cx="3744171" cy="2031325"/>
          </a:xfrm>
          <a:prstGeom prst="rect">
            <a:avLst/>
          </a:prstGeom>
          <a:noFill/>
        </p:spPr>
        <p:txBody>
          <a:bodyPr wrap="square">
            <a:spAutoFit/>
          </a:bodyPr>
          <a:lstStyle/>
          <a:p>
            <a:r>
              <a:rPr lang="en-US" b="0" i="0" dirty="0">
                <a:solidFill>
                  <a:srgbClr val="000000"/>
                </a:solidFill>
                <a:effectLst/>
                <a:latin typeface="Times New Roman" panose="02020603050405020304" pitchFamily="18" charset="0"/>
                <a:cs typeface="Times New Roman" panose="02020603050405020304" pitchFamily="18" charset="0"/>
              </a:rPr>
              <a:t>For example: In this survey, 96 were male (1), 104 were female (2), and 74 respondents were under the age of 24. The number 50 is between 25 and 29. The number 50 is between 30 and 34. Twenty-six people are over 35 years old, etc.</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4914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FAEC0-E2D8-C8A1-0509-E589F85CC697}"/>
              </a:ext>
            </a:extLst>
          </p:cNvPr>
          <p:cNvSpPr>
            <a:spLocks noGrp="1"/>
          </p:cNvSpPr>
          <p:nvPr>
            <p:ph type="title"/>
          </p:nvPr>
        </p:nvSpPr>
        <p:spPr/>
        <p:txBody>
          <a:bodyPr/>
          <a:lstStyle/>
          <a:p>
            <a:r>
              <a:rPr lang="en-US" dirty="0"/>
              <a:t>Descriptive analysis</a:t>
            </a:r>
          </a:p>
        </p:txBody>
      </p:sp>
      <p:pic>
        <p:nvPicPr>
          <p:cNvPr id="6" name="Content Placeholder 5">
            <a:extLst>
              <a:ext uri="{FF2B5EF4-FFF2-40B4-BE49-F238E27FC236}">
                <a16:creationId xmlns:a16="http://schemas.microsoft.com/office/drawing/2014/main" id="{1ACC1C05-F6D1-8C29-57E7-9B9A53F59D67}"/>
              </a:ext>
            </a:extLst>
          </p:cNvPr>
          <p:cNvPicPr>
            <a:picLocks noGrp="1" noChangeAspect="1"/>
          </p:cNvPicPr>
          <p:nvPr>
            <p:ph sz="half" idx="2"/>
          </p:nvPr>
        </p:nvPicPr>
        <p:blipFill>
          <a:blip r:embed="rId2"/>
          <a:stretch>
            <a:fillRect/>
          </a:stretch>
        </p:blipFill>
        <p:spPr>
          <a:xfrm>
            <a:off x="3557665" y="2180023"/>
            <a:ext cx="4347295" cy="4501837"/>
          </a:xfrm>
        </p:spPr>
      </p:pic>
      <p:sp>
        <p:nvSpPr>
          <p:cNvPr id="4" name="Slide Number Placeholder 3">
            <a:extLst>
              <a:ext uri="{FF2B5EF4-FFF2-40B4-BE49-F238E27FC236}">
                <a16:creationId xmlns:a16="http://schemas.microsoft.com/office/drawing/2014/main" id="{42367058-F563-5469-6453-0DE9794CEB72}"/>
              </a:ext>
            </a:extLst>
          </p:cNvPr>
          <p:cNvSpPr>
            <a:spLocks noGrp="1"/>
          </p:cNvSpPr>
          <p:nvPr>
            <p:ph type="sldNum" sz="quarter" idx="10"/>
          </p:nvPr>
        </p:nvSpPr>
        <p:spPr/>
        <p:txBody>
          <a:bodyPr/>
          <a:lstStyle/>
          <a:p>
            <a:fld id="{48F63A3B-78C7-47BE-AE5E-E10140E04643}" type="slidenum">
              <a:rPr lang="en-US" smtClean="0"/>
              <a:pPr/>
              <a:t>21</a:t>
            </a:fld>
            <a:endParaRPr lang="en-US" dirty="0"/>
          </a:p>
        </p:txBody>
      </p:sp>
      <p:sp>
        <p:nvSpPr>
          <p:cNvPr id="7" name="Rectangle 6">
            <a:extLst>
              <a:ext uri="{FF2B5EF4-FFF2-40B4-BE49-F238E27FC236}">
                <a16:creationId xmlns:a16="http://schemas.microsoft.com/office/drawing/2014/main" id="{191110B7-B902-1BC4-F4AE-403DD1FE042D}"/>
              </a:ext>
            </a:extLst>
          </p:cNvPr>
          <p:cNvSpPr/>
          <p:nvPr/>
        </p:nvSpPr>
        <p:spPr>
          <a:xfrm>
            <a:off x="3658170" y="2784935"/>
            <a:ext cx="1876926" cy="161933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9DAA8C45-DD79-24AC-559E-AA68F2B42589}"/>
              </a:ext>
            </a:extLst>
          </p:cNvPr>
          <p:cNvSpPr/>
          <p:nvPr/>
        </p:nvSpPr>
        <p:spPr>
          <a:xfrm>
            <a:off x="5635601" y="2878465"/>
            <a:ext cx="234955" cy="24348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7280CEE-FB3B-C7AD-441D-0A2963773A20}"/>
              </a:ext>
            </a:extLst>
          </p:cNvPr>
          <p:cNvSpPr txBox="1"/>
          <p:nvPr/>
        </p:nvSpPr>
        <p:spPr>
          <a:xfrm>
            <a:off x="8299939" y="2399616"/>
            <a:ext cx="2824360" cy="2031325"/>
          </a:xfrm>
          <a:prstGeom prst="rect">
            <a:avLst/>
          </a:prstGeom>
          <a:noFill/>
        </p:spPr>
        <p:txBody>
          <a:bodyPr wrap="square" rtlCol="0">
            <a:spAutoFit/>
          </a:bodyPr>
          <a:lstStyle/>
          <a:p>
            <a:r>
              <a:rPr lang="en-US" dirty="0"/>
              <a:t>S</a:t>
            </a:r>
            <a:r>
              <a:rPr lang="en-US" altLang="zh-CN" dirty="0"/>
              <a:t>elect all the items from all the variables (IV &amp; DV &amp; Mediator).  </a:t>
            </a:r>
          </a:p>
          <a:p>
            <a:r>
              <a:rPr lang="en-US" altLang="zh-CN" dirty="0"/>
              <a:t>For further when we make recommendation for each IVs. </a:t>
            </a:r>
          </a:p>
          <a:p>
            <a:endParaRPr lang="en-US" dirty="0"/>
          </a:p>
        </p:txBody>
      </p:sp>
    </p:spTree>
    <p:extLst>
      <p:ext uri="{BB962C8B-B14F-4D97-AF65-F5344CB8AC3E}">
        <p14:creationId xmlns:p14="http://schemas.microsoft.com/office/powerpoint/2010/main" val="3193560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3047B-6D8F-7CDA-6244-599498C00860}"/>
              </a:ext>
            </a:extLst>
          </p:cNvPr>
          <p:cNvSpPr>
            <a:spLocks noGrp="1"/>
          </p:cNvSpPr>
          <p:nvPr>
            <p:ph type="title"/>
          </p:nvPr>
        </p:nvSpPr>
        <p:spPr/>
        <p:txBody>
          <a:bodyPr/>
          <a:lstStyle/>
          <a:p>
            <a:r>
              <a:rPr lang="en-US" dirty="0"/>
              <a:t>Descriptive analysis</a:t>
            </a:r>
          </a:p>
        </p:txBody>
      </p:sp>
      <p:pic>
        <p:nvPicPr>
          <p:cNvPr id="6" name="Content Placeholder 5">
            <a:extLst>
              <a:ext uri="{FF2B5EF4-FFF2-40B4-BE49-F238E27FC236}">
                <a16:creationId xmlns:a16="http://schemas.microsoft.com/office/drawing/2014/main" id="{445F1A8F-7579-6B99-2D07-FB290F0B4DFA}"/>
              </a:ext>
            </a:extLst>
          </p:cNvPr>
          <p:cNvPicPr>
            <a:picLocks noGrp="1" noChangeAspect="1"/>
          </p:cNvPicPr>
          <p:nvPr>
            <p:ph sz="half" idx="2"/>
          </p:nvPr>
        </p:nvPicPr>
        <p:blipFill>
          <a:blip r:embed="rId2"/>
          <a:stretch>
            <a:fillRect/>
          </a:stretch>
        </p:blipFill>
        <p:spPr>
          <a:xfrm>
            <a:off x="3460565" y="2125917"/>
            <a:ext cx="5939939" cy="3155884"/>
          </a:xfrm>
        </p:spPr>
      </p:pic>
      <p:sp>
        <p:nvSpPr>
          <p:cNvPr id="4" name="Slide Number Placeholder 3">
            <a:extLst>
              <a:ext uri="{FF2B5EF4-FFF2-40B4-BE49-F238E27FC236}">
                <a16:creationId xmlns:a16="http://schemas.microsoft.com/office/drawing/2014/main" id="{E74E27EC-A21E-CCC6-AAEF-5EBBA562EEA7}"/>
              </a:ext>
            </a:extLst>
          </p:cNvPr>
          <p:cNvSpPr>
            <a:spLocks noGrp="1"/>
          </p:cNvSpPr>
          <p:nvPr>
            <p:ph type="sldNum" sz="quarter" idx="10"/>
          </p:nvPr>
        </p:nvSpPr>
        <p:spPr/>
        <p:txBody>
          <a:bodyPr/>
          <a:lstStyle/>
          <a:p>
            <a:fld id="{48F63A3B-78C7-47BE-AE5E-E10140E04643}" type="slidenum">
              <a:rPr lang="en-US" smtClean="0"/>
              <a:pPr/>
              <a:t>22</a:t>
            </a:fld>
            <a:endParaRPr lang="en-US" dirty="0"/>
          </a:p>
        </p:txBody>
      </p:sp>
      <p:sp>
        <p:nvSpPr>
          <p:cNvPr id="8" name="Rectangle 7">
            <a:extLst>
              <a:ext uri="{FF2B5EF4-FFF2-40B4-BE49-F238E27FC236}">
                <a16:creationId xmlns:a16="http://schemas.microsoft.com/office/drawing/2014/main" id="{ACEEE0C4-1BCA-B25D-7754-7B4EECB8C781}"/>
              </a:ext>
            </a:extLst>
          </p:cNvPr>
          <p:cNvSpPr/>
          <p:nvPr/>
        </p:nvSpPr>
        <p:spPr>
          <a:xfrm>
            <a:off x="4379158" y="4770643"/>
            <a:ext cx="1849872" cy="20715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2C3FFAC5-7922-D342-0EDE-35D96CE2DEDD}"/>
              </a:ext>
            </a:extLst>
          </p:cNvPr>
          <p:cNvSpPr txBox="1"/>
          <p:nvPr/>
        </p:nvSpPr>
        <p:spPr>
          <a:xfrm>
            <a:off x="3404670" y="5281801"/>
            <a:ext cx="6605034" cy="369332"/>
          </a:xfrm>
          <a:prstGeom prst="rect">
            <a:avLst/>
          </a:prstGeom>
          <a:noFill/>
        </p:spPr>
        <p:txBody>
          <a:bodyPr wrap="square" rtlCol="0">
            <a:spAutoFit/>
          </a:bodyPr>
          <a:lstStyle/>
          <a:p>
            <a:r>
              <a:rPr lang="en-US" dirty="0"/>
              <a:t>Select </a:t>
            </a:r>
            <a:r>
              <a:rPr lang="en-US" b="1" dirty="0"/>
              <a:t>Variables across rows</a:t>
            </a:r>
            <a:r>
              <a:rPr lang="en-US" dirty="0"/>
              <a:t>, for better presentation </a:t>
            </a:r>
          </a:p>
        </p:txBody>
      </p:sp>
    </p:spTree>
    <p:extLst>
      <p:ext uri="{BB962C8B-B14F-4D97-AF65-F5344CB8AC3E}">
        <p14:creationId xmlns:p14="http://schemas.microsoft.com/office/powerpoint/2010/main" val="5813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C50EF-8473-590B-DDFB-2F6BC0B23032}"/>
              </a:ext>
            </a:extLst>
          </p:cNvPr>
          <p:cNvSpPr>
            <a:spLocks noGrp="1"/>
          </p:cNvSpPr>
          <p:nvPr>
            <p:ph type="title"/>
          </p:nvPr>
        </p:nvSpPr>
        <p:spPr/>
        <p:txBody>
          <a:bodyPr/>
          <a:lstStyle/>
          <a:p>
            <a:r>
              <a:rPr lang="en-US" dirty="0"/>
              <a:t>Descriptive analysis</a:t>
            </a:r>
          </a:p>
        </p:txBody>
      </p:sp>
      <p:sp>
        <p:nvSpPr>
          <p:cNvPr id="4" name="Slide Number Placeholder 3">
            <a:extLst>
              <a:ext uri="{FF2B5EF4-FFF2-40B4-BE49-F238E27FC236}">
                <a16:creationId xmlns:a16="http://schemas.microsoft.com/office/drawing/2014/main" id="{902C4C9F-9C57-5A92-9CD8-E60DDF36CE79}"/>
              </a:ext>
            </a:extLst>
          </p:cNvPr>
          <p:cNvSpPr>
            <a:spLocks noGrp="1"/>
          </p:cNvSpPr>
          <p:nvPr>
            <p:ph type="sldNum" sz="quarter" idx="10"/>
          </p:nvPr>
        </p:nvSpPr>
        <p:spPr/>
        <p:txBody>
          <a:bodyPr/>
          <a:lstStyle/>
          <a:p>
            <a:fld id="{48F63A3B-78C7-47BE-AE5E-E10140E04643}" type="slidenum">
              <a:rPr lang="en-US" smtClean="0"/>
              <a:pPr/>
              <a:t>23</a:t>
            </a:fld>
            <a:endParaRPr lang="en-US" dirty="0"/>
          </a:p>
        </p:txBody>
      </p:sp>
      <p:pic>
        <p:nvPicPr>
          <p:cNvPr id="5" name="Picture 4">
            <a:extLst>
              <a:ext uri="{FF2B5EF4-FFF2-40B4-BE49-F238E27FC236}">
                <a16:creationId xmlns:a16="http://schemas.microsoft.com/office/drawing/2014/main" id="{2B09713F-DFAC-5107-483D-6F73906229F4}"/>
              </a:ext>
            </a:extLst>
          </p:cNvPr>
          <p:cNvPicPr>
            <a:picLocks noChangeAspect="1"/>
          </p:cNvPicPr>
          <p:nvPr/>
        </p:nvPicPr>
        <p:blipFill>
          <a:blip r:embed="rId2"/>
          <a:stretch>
            <a:fillRect/>
          </a:stretch>
        </p:blipFill>
        <p:spPr>
          <a:xfrm>
            <a:off x="3460565" y="2119623"/>
            <a:ext cx="7531726" cy="4010644"/>
          </a:xfrm>
          <a:prstGeom prst="rect">
            <a:avLst/>
          </a:prstGeom>
        </p:spPr>
      </p:pic>
    </p:spTree>
    <p:extLst>
      <p:ext uri="{BB962C8B-B14F-4D97-AF65-F5344CB8AC3E}">
        <p14:creationId xmlns:p14="http://schemas.microsoft.com/office/powerpoint/2010/main" val="20677240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3E0EB-0640-FA1D-7BD8-C35BB8D1ED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083765-368A-D4F8-84EE-B50C9FD38ECE}"/>
              </a:ext>
            </a:extLst>
          </p:cNvPr>
          <p:cNvSpPr>
            <a:spLocks noGrp="1"/>
          </p:cNvSpPr>
          <p:nvPr>
            <p:ph type="title"/>
          </p:nvPr>
        </p:nvSpPr>
        <p:spPr/>
        <p:txBody>
          <a:bodyPr/>
          <a:lstStyle/>
          <a:p>
            <a:r>
              <a:rPr lang="en-US" sz="3200" dirty="0"/>
              <a:t>Multiple linear regression</a:t>
            </a:r>
          </a:p>
        </p:txBody>
      </p:sp>
      <p:sp>
        <p:nvSpPr>
          <p:cNvPr id="4" name="Slide Number Placeholder 3">
            <a:extLst>
              <a:ext uri="{FF2B5EF4-FFF2-40B4-BE49-F238E27FC236}">
                <a16:creationId xmlns:a16="http://schemas.microsoft.com/office/drawing/2014/main" id="{5936988C-DB17-807F-CD3E-7139976D00D4}"/>
              </a:ext>
            </a:extLst>
          </p:cNvPr>
          <p:cNvSpPr>
            <a:spLocks noGrp="1"/>
          </p:cNvSpPr>
          <p:nvPr>
            <p:ph type="sldNum" sz="quarter" idx="10"/>
          </p:nvPr>
        </p:nvSpPr>
        <p:spPr/>
        <p:txBody>
          <a:bodyPr/>
          <a:lstStyle/>
          <a:p>
            <a:fld id="{48F63A3B-78C7-47BE-AE5E-E10140E04643}" type="slidenum">
              <a:rPr lang="en-US" smtClean="0"/>
              <a:pPr/>
              <a:t>24</a:t>
            </a:fld>
            <a:endParaRPr lang="en-US" dirty="0"/>
          </a:p>
        </p:txBody>
      </p:sp>
      <p:grpSp>
        <p:nvGrpSpPr>
          <p:cNvPr id="9" name="Group 8">
            <a:extLst>
              <a:ext uri="{FF2B5EF4-FFF2-40B4-BE49-F238E27FC236}">
                <a16:creationId xmlns:a16="http://schemas.microsoft.com/office/drawing/2014/main" id="{272C3BC7-500D-C028-6E1B-586D8D8C3BC6}"/>
              </a:ext>
            </a:extLst>
          </p:cNvPr>
          <p:cNvGrpSpPr/>
          <p:nvPr/>
        </p:nvGrpSpPr>
        <p:grpSpPr>
          <a:xfrm>
            <a:off x="3392477" y="2251164"/>
            <a:ext cx="5318671" cy="3836620"/>
            <a:chOff x="3922721" y="2255773"/>
            <a:chExt cx="5318671" cy="3836620"/>
          </a:xfrm>
        </p:grpSpPr>
        <p:pic>
          <p:nvPicPr>
            <p:cNvPr id="6" name="Picture 5">
              <a:extLst>
                <a:ext uri="{FF2B5EF4-FFF2-40B4-BE49-F238E27FC236}">
                  <a16:creationId xmlns:a16="http://schemas.microsoft.com/office/drawing/2014/main" id="{3714350A-F510-D22F-1624-E07334AAA0DB}"/>
                </a:ext>
              </a:extLst>
            </p:cNvPr>
            <p:cNvPicPr>
              <a:picLocks noChangeAspect="1"/>
            </p:cNvPicPr>
            <p:nvPr/>
          </p:nvPicPr>
          <p:blipFill>
            <a:blip r:embed="rId2"/>
            <a:srcRect t="-1" r="26768" b="11424"/>
            <a:stretch/>
          </p:blipFill>
          <p:spPr>
            <a:xfrm>
              <a:off x="3922721" y="2255773"/>
              <a:ext cx="5318671" cy="3836620"/>
            </a:xfrm>
            <a:prstGeom prst="rect">
              <a:avLst/>
            </a:prstGeom>
          </p:spPr>
        </p:pic>
        <p:sp>
          <p:nvSpPr>
            <p:cNvPr id="7" name="Rectangle 6">
              <a:extLst>
                <a:ext uri="{FF2B5EF4-FFF2-40B4-BE49-F238E27FC236}">
                  <a16:creationId xmlns:a16="http://schemas.microsoft.com/office/drawing/2014/main" id="{141DED6C-9987-C3EF-2603-6AFE134C197F}"/>
                </a:ext>
              </a:extLst>
            </p:cNvPr>
            <p:cNvSpPr/>
            <p:nvPr/>
          </p:nvSpPr>
          <p:spPr>
            <a:xfrm>
              <a:off x="5638468" y="4830160"/>
              <a:ext cx="605423" cy="126223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TextBox 7">
            <a:extLst>
              <a:ext uri="{FF2B5EF4-FFF2-40B4-BE49-F238E27FC236}">
                <a16:creationId xmlns:a16="http://schemas.microsoft.com/office/drawing/2014/main" id="{A372BC0A-3C5D-A831-D025-31092E688B83}"/>
              </a:ext>
            </a:extLst>
          </p:cNvPr>
          <p:cNvSpPr txBox="1"/>
          <p:nvPr/>
        </p:nvSpPr>
        <p:spPr>
          <a:xfrm>
            <a:off x="8830182" y="2251164"/>
            <a:ext cx="2182944" cy="1200329"/>
          </a:xfrm>
          <a:prstGeom prst="rect">
            <a:avLst/>
          </a:prstGeom>
          <a:noFill/>
        </p:spPr>
        <p:txBody>
          <a:bodyPr wrap="square">
            <a:spAutoFit/>
          </a:bodyPr>
          <a:lstStyle/>
          <a:p>
            <a:r>
              <a:rPr lang="en-US" b="0" i="0" dirty="0">
                <a:solidFill>
                  <a:srgbClr val="000000"/>
                </a:solidFill>
                <a:effectLst/>
                <a:latin typeface="Times New Roman" panose="02020603050405020304" pitchFamily="18" charset="0"/>
                <a:cs typeface="Times New Roman" panose="02020603050405020304" pitchFamily="18" charset="0"/>
              </a:rPr>
              <a:t>S</a:t>
            </a:r>
            <a:r>
              <a:rPr lang="en-US" altLang="zh-CN" b="0" i="0" dirty="0">
                <a:solidFill>
                  <a:srgbClr val="000000"/>
                </a:solidFill>
                <a:effectLst/>
                <a:latin typeface="Times New Roman" panose="02020603050405020304" pitchFamily="18" charset="0"/>
                <a:cs typeface="Times New Roman" panose="02020603050405020304" pitchFamily="18" charset="0"/>
              </a:rPr>
              <a:t>elect, click </a:t>
            </a:r>
            <a:r>
              <a:rPr lang="en-US" altLang="zh-CN" b="1" i="0" dirty="0">
                <a:solidFill>
                  <a:srgbClr val="000000"/>
                </a:solidFill>
                <a:effectLst/>
                <a:latin typeface="Times New Roman" panose="02020603050405020304" pitchFamily="18" charset="0"/>
                <a:cs typeface="Times New Roman" panose="02020603050405020304" pitchFamily="18" charset="0"/>
              </a:rPr>
              <a:t>empty column</a:t>
            </a:r>
          </a:p>
          <a:p>
            <a:r>
              <a:rPr lang="en-US" altLang="zh-CN" dirty="0">
                <a:solidFill>
                  <a:srgbClr val="000000"/>
                </a:solidFill>
                <a:latin typeface="Times New Roman" panose="02020603050405020304" pitchFamily="18" charset="0"/>
                <a:cs typeface="Times New Roman" panose="02020603050405020304" pitchFamily="18" charset="0"/>
              </a:rPr>
              <a:t>And click </a:t>
            </a:r>
            <a:r>
              <a:rPr lang="en-US" altLang="zh-CN" b="1" dirty="0">
                <a:solidFill>
                  <a:srgbClr val="000000"/>
                </a:solidFill>
                <a:latin typeface="Times New Roman" panose="02020603050405020304" pitchFamily="18" charset="0"/>
                <a:cs typeface="Times New Roman" panose="02020603050405020304" pitchFamily="18" charset="0"/>
              </a:rPr>
              <a:t>new computed variable</a:t>
            </a:r>
            <a:endParaRPr lang="en-US" b="1"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6F0E6921-AC98-56D5-0741-A6DBF8900C4C}"/>
              </a:ext>
            </a:extLst>
          </p:cNvPr>
          <p:cNvSpPr/>
          <p:nvPr/>
        </p:nvSpPr>
        <p:spPr>
          <a:xfrm>
            <a:off x="6016644" y="3744169"/>
            <a:ext cx="1980297" cy="33005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5514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9B546-D018-B780-0E1D-67BB9B39F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F364B-4B19-E276-D3C6-EBD84FF64B18}"/>
              </a:ext>
            </a:extLst>
          </p:cNvPr>
          <p:cNvSpPr>
            <a:spLocks noGrp="1"/>
          </p:cNvSpPr>
          <p:nvPr>
            <p:ph type="title"/>
          </p:nvPr>
        </p:nvSpPr>
        <p:spPr/>
        <p:txBody>
          <a:bodyPr/>
          <a:lstStyle/>
          <a:p>
            <a:r>
              <a:rPr lang="en-US" sz="3200" dirty="0"/>
              <a:t>Multiple linear regression</a:t>
            </a:r>
          </a:p>
        </p:txBody>
      </p:sp>
      <p:sp>
        <p:nvSpPr>
          <p:cNvPr id="4" name="Slide Number Placeholder 3">
            <a:extLst>
              <a:ext uri="{FF2B5EF4-FFF2-40B4-BE49-F238E27FC236}">
                <a16:creationId xmlns:a16="http://schemas.microsoft.com/office/drawing/2014/main" id="{1C0BF8D2-1A5C-FB14-5BCD-3E616108E187}"/>
              </a:ext>
            </a:extLst>
          </p:cNvPr>
          <p:cNvSpPr>
            <a:spLocks noGrp="1"/>
          </p:cNvSpPr>
          <p:nvPr>
            <p:ph type="sldNum" sz="quarter" idx="10"/>
          </p:nvPr>
        </p:nvSpPr>
        <p:spPr/>
        <p:txBody>
          <a:bodyPr/>
          <a:lstStyle/>
          <a:p>
            <a:fld id="{48F63A3B-78C7-47BE-AE5E-E10140E04643}" type="slidenum">
              <a:rPr lang="en-US" smtClean="0"/>
              <a:pPr/>
              <a:t>25</a:t>
            </a:fld>
            <a:endParaRPr lang="en-US" dirty="0"/>
          </a:p>
        </p:txBody>
      </p:sp>
      <p:sp>
        <p:nvSpPr>
          <p:cNvPr id="5" name="TextBox 4">
            <a:extLst>
              <a:ext uri="{FF2B5EF4-FFF2-40B4-BE49-F238E27FC236}">
                <a16:creationId xmlns:a16="http://schemas.microsoft.com/office/drawing/2014/main" id="{567486A5-8215-895B-21F5-DF4F61830764}"/>
              </a:ext>
            </a:extLst>
          </p:cNvPr>
          <p:cNvSpPr txBox="1"/>
          <p:nvPr/>
        </p:nvSpPr>
        <p:spPr>
          <a:xfrm>
            <a:off x="3381657" y="2165229"/>
            <a:ext cx="7926604" cy="1323439"/>
          </a:xfrm>
          <a:prstGeom prst="rect">
            <a:avLst/>
          </a:prstGeom>
          <a:noFill/>
        </p:spPr>
        <p:txBody>
          <a:bodyPr wrap="square">
            <a:spAutoFit/>
          </a:bodyPr>
          <a:lstStyle/>
          <a:p>
            <a:r>
              <a:rPr lang="en-US" sz="1600" b="0" i="0" dirty="0">
                <a:solidFill>
                  <a:srgbClr val="000000"/>
                </a:solidFill>
                <a:effectLst/>
                <a:latin typeface="Poppins-Medium"/>
              </a:rPr>
              <a:t>Before analyzing the multilinear </a:t>
            </a:r>
            <a:r>
              <a:rPr lang="en-US" sz="1600" dirty="0">
                <a:solidFill>
                  <a:srgbClr val="000000"/>
                </a:solidFill>
                <a:latin typeface="Poppins-Medium"/>
              </a:rPr>
              <a:t>regression</a:t>
            </a:r>
            <a:r>
              <a:rPr lang="en-US" sz="1600" b="0" i="0" dirty="0">
                <a:solidFill>
                  <a:srgbClr val="000000"/>
                </a:solidFill>
                <a:effectLst/>
                <a:latin typeface="Poppins-Medium"/>
              </a:rPr>
              <a:t>, we need to obtain the total average of each variable. </a:t>
            </a:r>
          </a:p>
          <a:p>
            <a:r>
              <a:rPr lang="en-US" sz="1600" b="0" i="0" dirty="0">
                <a:solidFill>
                  <a:srgbClr val="000000"/>
                </a:solidFill>
                <a:effectLst/>
                <a:latin typeface="Poppins-Medium"/>
              </a:rPr>
              <a:t>We need to calculate the average of each variable. For example, for the first variable PU, we calculate the sum of (PU1+PU2+PU3+PU4+PU5) and divide it by 5 to find the average.</a:t>
            </a:r>
            <a:endParaRPr lang="en-US" sz="1600" dirty="0"/>
          </a:p>
        </p:txBody>
      </p:sp>
      <p:pic>
        <p:nvPicPr>
          <p:cNvPr id="6" name="Picture 5">
            <a:extLst>
              <a:ext uri="{FF2B5EF4-FFF2-40B4-BE49-F238E27FC236}">
                <a16:creationId xmlns:a16="http://schemas.microsoft.com/office/drawing/2014/main" id="{0111FB54-7452-112B-9C0F-2CE052898C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1657" y="3545517"/>
            <a:ext cx="5953968" cy="2790590"/>
          </a:xfrm>
          <a:prstGeom prst="rect">
            <a:avLst/>
          </a:prstGeom>
        </p:spPr>
      </p:pic>
    </p:spTree>
    <p:extLst>
      <p:ext uri="{BB962C8B-B14F-4D97-AF65-F5344CB8AC3E}">
        <p14:creationId xmlns:p14="http://schemas.microsoft.com/office/powerpoint/2010/main" val="15359292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ACCD6-391F-F01C-E02E-4714238558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FDA0D-E09D-389D-4D00-1490C88117BA}"/>
              </a:ext>
            </a:extLst>
          </p:cNvPr>
          <p:cNvSpPr>
            <a:spLocks noGrp="1"/>
          </p:cNvSpPr>
          <p:nvPr>
            <p:ph type="title"/>
          </p:nvPr>
        </p:nvSpPr>
        <p:spPr/>
        <p:txBody>
          <a:bodyPr/>
          <a:lstStyle/>
          <a:p>
            <a:r>
              <a:rPr lang="en-US" sz="3200" dirty="0"/>
              <a:t>Multiple linear regression</a:t>
            </a:r>
          </a:p>
        </p:txBody>
      </p:sp>
      <p:sp>
        <p:nvSpPr>
          <p:cNvPr id="4" name="Slide Number Placeholder 3">
            <a:extLst>
              <a:ext uri="{FF2B5EF4-FFF2-40B4-BE49-F238E27FC236}">
                <a16:creationId xmlns:a16="http://schemas.microsoft.com/office/drawing/2014/main" id="{D474EFB3-B700-FBDB-6CA8-569C49798059}"/>
              </a:ext>
            </a:extLst>
          </p:cNvPr>
          <p:cNvSpPr>
            <a:spLocks noGrp="1"/>
          </p:cNvSpPr>
          <p:nvPr>
            <p:ph type="sldNum" sz="quarter" idx="10"/>
          </p:nvPr>
        </p:nvSpPr>
        <p:spPr/>
        <p:txBody>
          <a:bodyPr/>
          <a:lstStyle/>
          <a:p>
            <a:fld id="{48F63A3B-78C7-47BE-AE5E-E10140E04643}" type="slidenum">
              <a:rPr lang="en-US" smtClean="0"/>
              <a:pPr/>
              <a:t>26</a:t>
            </a:fld>
            <a:endParaRPr lang="en-US" dirty="0"/>
          </a:p>
        </p:txBody>
      </p:sp>
      <p:pic>
        <p:nvPicPr>
          <p:cNvPr id="3" name="Content Placeholder 4">
            <a:extLst>
              <a:ext uri="{FF2B5EF4-FFF2-40B4-BE49-F238E27FC236}">
                <a16:creationId xmlns:a16="http://schemas.microsoft.com/office/drawing/2014/main" id="{8400C7DC-4786-40E4-EF7F-CE496F4D7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6370" y="2366972"/>
            <a:ext cx="3896925" cy="3760788"/>
          </a:xfrm>
          <a:prstGeom prst="rect">
            <a:avLst/>
          </a:prstGeom>
        </p:spPr>
      </p:pic>
      <p:sp>
        <p:nvSpPr>
          <p:cNvPr id="6" name="TextBox 5">
            <a:extLst>
              <a:ext uri="{FF2B5EF4-FFF2-40B4-BE49-F238E27FC236}">
                <a16:creationId xmlns:a16="http://schemas.microsoft.com/office/drawing/2014/main" id="{B3C90966-8A36-6347-6714-7540EE4E95C3}"/>
              </a:ext>
            </a:extLst>
          </p:cNvPr>
          <p:cNvSpPr txBox="1"/>
          <p:nvPr/>
        </p:nvSpPr>
        <p:spPr>
          <a:xfrm>
            <a:off x="7558678" y="2519603"/>
            <a:ext cx="3782045" cy="1477328"/>
          </a:xfrm>
          <a:prstGeom prst="rect">
            <a:avLst/>
          </a:prstGeom>
          <a:noFill/>
        </p:spPr>
        <p:txBody>
          <a:bodyPr wrap="square">
            <a:spAutoFit/>
          </a:bodyPr>
          <a:lstStyle/>
          <a:p>
            <a:r>
              <a:rPr lang="en-US" b="0" i="0" dirty="0">
                <a:solidFill>
                  <a:srgbClr val="000000"/>
                </a:solidFill>
                <a:effectLst/>
                <a:latin typeface="Poppins-Medium"/>
              </a:rPr>
              <a:t>In this example, there are four variables and we need to calculate four averages. After the calculation, we will obtain four new data columns.</a:t>
            </a:r>
            <a:endParaRPr lang="en-US" dirty="0"/>
          </a:p>
        </p:txBody>
      </p:sp>
    </p:spTree>
    <p:extLst>
      <p:ext uri="{BB962C8B-B14F-4D97-AF65-F5344CB8AC3E}">
        <p14:creationId xmlns:p14="http://schemas.microsoft.com/office/powerpoint/2010/main" val="1289764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63E40-A533-4BD9-97D6-3875B652E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F9783-333E-7755-9B01-DECB65F03374}"/>
              </a:ext>
            </a:extLst>
          </p:cNvPr>
          <p:cNvSpPr>
            <a:spLocks noGrp="1"/>
          </p:cNvSpPr>
          <p:nvPr>
            <p:ph type="title"/>
          </p:nvPr>
        </p:nvSpPr>
        <p:spPr/>
        <p:txBody>
          <a:bodyPr/>
          <a:lstStyle/>
          <a:p>
            <a:r>
              <a:rPr lang="en-US" sz="3200" dirty="0"/>
              <a:t>Multiple linear regression</a:t>
            </a:r>
          </a:p>
        </p:txBody>
      </p:sp>
      <p:sp>
        <p:nvSpPr>
          <p:cNvPr id="4" name="Slide Number Placeholder 3">
            <a:extLst>
              <a:ext uri="{FF2B5EF4-FFF2-40B4-BE49-F238E27FC236}">
                <a16:creationId xmlns:a16="http://schemas.microsoft.com/office/drawing/2014/main" id="{C902CC8C-5F5B-0E14-A421-BE367C55BA4D}"/>
              </a:ext>
            </a:extLst>
          </p:cNvPr>
          <p:cNvSpPr>
            <a:spLocks noGrp="1"/>
          </p:cNvSpPr>
          <p:nvPr>
            <p:ph type="sldNum" sz="quarter" idx="10"/>
          </p:nvPr>
        </p:nvSpPr>
        <p:spPr/>
        <p:txBody>
          <a:bodyPr/>
          <a:lstStyle/>
          <a:p>
            <a:fld id="{48F63A3B-78C7-47BE-AE5E-E10140E04643}" type="slidenum">
              <a:rPr lang="en-US" smtClean="0"/>
              <a:pPr/>
              <a:t>27</a:t>
            </a:fld>
            <a:endParaRPr lang="en-US" dirty="0"/>
          </a:p>
        </p:txBody>
      </p:sp>
      <p:grpSp>
        <p:nvGrpSpPr>
          <p:cNvPr id="14" name="Group 13">
            <a:extLst>
              <a:ext uri="{FF2B5EF4-FFF2-40B4-BE49-F238E27FC236}">
                <a16:creationId xmlns:a16="http://schemas.microsoft.com/office/drawing/2014/main" id="{F2E8EFB5-8CB9-C2A4-8B60-05E02C4233E6}"/>
              </a:ext>
            </a:extLst>
          </p:cNvPr>
          <p:cNvGrpSpPr/>
          <p:nvPr/>
        </p:nvGrpSpPr>
        <p:grpSpPr>
          <a:xfrm>
            <a:off x="2779992" y="2180024"/>
            <a:ext cx="8868644" cy="4261069"/>
            <a:chOff x="1097280" y="1941402"/>
            <a:chExt cx="8868644" cy="4261069"/>
          </a:xfrm>
        </p:grpSpPr>
        <p:pic>
          <p:nvPicPr>
            <p:cNvPr id="5" name="Picture 4">
              <a:extLst>
                <a:ext uri="{FF2B5EF4-FFF2-40B4-BE49-F238E27FC236}">
                  <a16:creationId xmlns:a16="http://schemas.microsoft.com/office/drawing/2014/main" id="{97F5DDAF-36FD-1AB8-2055-1ABD10CA81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 y="1941402"/>
              <a:ext cx="6020109" cy="4261069"/>
            </a:xfrm>
            <a:prstGeom prst="rect">
              <a:avLst/>
            </a:prstGeom>
          </p:spPr>
        </p:pic>
        <p:sp>
          <p:nvSpPr>
            <p:cNvPr id="7" name="Rectangle 6">
              <a:extLst>
                <a:ext uri="{FF2B5EF4-FFF2-40B4-BE49-F238E27FC236}">
                  <a16:creationId xmlns:a16="http://schemas.microsoft.com/office/drawing/2014/main" id="{846DD0C9-C568-7A25-567D-C4E798B2EA0F}"/>
                </a:ext>
              </a:extLst>
            </p:cNvPr>
            <p:cNvSpPr/>
            <p:nvPr/>
          </p:nvSpPr>
          <p:spPr>
            <a:xfrm>
              <a:off x="4364861" y="2686050"/>
              <a:ext cx="2752528" cy="53578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87839BC-9511-5E10-776B-0DF909B300E4}"/>
                </a:ext>
              </a:extLst>
            </p:cNvPr>
            <p:cNvSpPr/>
            <p:nvPr/>
          </p:nvSpPr>
          <p:spPr>
            <a:xfrm>
              <a:off x="4364861" y="3286066"/>
              <a:ext cx="2752528" cy="150024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DB59DD41-51AE-F87C-73F5-AA12949C4D33}"/>
                </a:ext>
              </a:extLst>
            </p:cNvPr>
            <p:cNvCxnSpPr>
              <a:stCxn id="7" idx="0"/>
            </p:cNvCxnSpPr>
            <p:nvPr/>
          </p:nvCxnSpPr>
          <p:spPr>
            <a:xfrm flipV="1">
              <a:off x="5741125" y="2257425"/>
              <a:ext cx="9594" cy="42862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6EB77598-FCF0-9BD1-6050-24A031083CE3}"/>
                </a:ext>
              </a:extLst>
            </p:cNvPr>
            <p:cNvSpPr txBox="1"/>
            <p:nvPr/>
          </p:nvSpPr>
          <p:spPr>
            <a:xfrm>
              <a:off x="5282734" y="1946315"/>
              <a:ext cx="916781" cy="369332"/>
            </a:xfrm>
            <a:prstGeom prst="rect">
              <a:avLst/>
            </a:prstGeom>
            <a:noFill/>
          </p:spPr>
          <p:txBody>
            <a:bodyPr wrap="square" rtlCol="0">
              <a:spAutoFit/>
            </a:bodyPr>
            <a:lstStyle/>
            <a:p>
              <a:r>
                <a:rPr lang="en-US" dirty="0"/>
                <a:t>DV</a:t>
              </a:r>
            </a:p>
          </p:txBody>
        </p:sp>
        <p:cxnSp>
          <p:nvCxnSpPr>
            <p:cNvPr id="11" name="Straight Arrow Connector 10">
              <a:extLst>
                <a:ext uri="{FF2B5EF4-FFF2-40B4-BE49-F238E27FC236}">
                  <a16:creationId xmlns:a16="http://schemas.microsoft.com/office/drawing/2014/main" id="{9B2F135C-A238-BEE5-BA35-EF727C2BA792}"/>
                </a:ext>
              </a:extLst>
            </p:cNvPr>
            <p:cNvCxnSpPr>
              <a:cxnSpLocks/>
              <a:stCxn id="8" idx="3"/>
            </p:cNvCxnSpPr>
            <p:nvPr/>
          </p:nvCxnSpPr>
          <p:spPr>
            <a:xfrm>
              <a:off x="7117389" y="4036190"/>
              <a:ext cx="547855" cy="2071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86B5FAB6-58D3-DC3A-76A7-3347517FD0A3}"/>
                </a:ext>
              </a:extLst>
            </p:cNvPr>
            <p:cNvSpPr txBox="1"/>
            <p:nvPr/>
          </p:nvSpPr>
          <p:spPr>
            <a:xfrm>
              <a:off x="7627369" y="4071936"/>
              <a:ext cx="916781" cy="369332"/>
            </a:xfrm>
            <a:prstGeom prst="rect">
              <a:avLst/>
            </a:prstGeom>
            <a:noFill/>
          </p:spPr>
          <p:txBody>
            <a:bodyPr wrap="square" rtlCol="0">
              <a:spAutoFit/>
            </a:bodyPr>
            <a:lstStyle/>
            <a:p>
              <a:r>
                <a:rPr lang="en-US" dirty="0"/>
                <a:t>IV</a:t>
              </a:r>
            </a:p>
          </p:txBody>
        </p:sp>
        <p:sp>
          <p:nvSpPr>
            <p:cNvPr id="13" name="Content Placeholder 2">
              <a:extLst>
                <a:ext uri="{FF2B5EF4-FFF2-40B4-BE49-F238E27FC236}">
                  <a16:creationId xmlns:a16="http://schemas.microsoft.com/office/drawing/2014/main" id="{7F82E782-7A85-93F0-9FA0-23EE66537F77}"/>
                </a:ext>
              </a:extLst>
            </p:cNvPr>
            <p:cNvSpPr txBox="1">
              <a:spLocks/>
            </p:cNvSpPr>
            <p:nvPr/>
          </p:nvSpPr>
          <p:spPr>
            <a:xfrm>
              <a:off x="7391316" y="2053430"/>
              <a:ext cx="2574608" cy="3760891"/>
            </a:xfrm>
            <a:prstGeom prst="rect">
              <a:avLst/>
            </a:prstGeom>
          </p:spPr>
          <p:txBody>
            <a:bodyPr vert="horz" lIns="0" tIns="45720" rIns="0" bIns="45720" rtlCol="0">
              <a:norm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1800" b="0" i="0" dirty="0">
                  <a:solidFill>
                    <a:srgbClr val="000000"/>
                  </a:solidFill>
                  <a:effectLst/>
                  <a:latin typeface="Poppins-Medium"/>
                </a:rPr>
                <a:t>Here we need to insert the data column of the average of the variables we calculated earlier.</a:t>
              </a:r>
              <a:endParaRPr lang="en-US" sz="1800" dirty="0"/>
            </a:p>
          </p:txBody>
        </p:sp>
      </p:grpSp>
    </p:spTree>
    <p:extLst>
      <p:ext uri="{BB962C8B-B14F-4D97-AF65-F5344CB8AC3E}">
        <p14:creationId xmlns:p14="http://schemas.microsoft.com/office/powerpoint/2010/main" val="3490555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780C2-64A9-0D07-8B7F-D1F37C88D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5E02C-4067-7CCD-603E-CEF30C2DB5A1}"/>
              </a:ext>
            </a:extLst>
          </p:cNvPr>
          <p:cNvSpPr>
            <a:spLocks noGrp="1"/>
          </p:cNvSpPr>
          <p:nvPr>
            <p:ph type="title"/>
          </p:nvPr>
        </p:nvSpPr>
        <p:spPr/>
        <p:txBody>
          <a:bodyPr/>
          <a:lstStyle/>
          <a:p>
            <a:r>
              <a:rPr lang="en-US" sz="3200" dirty="0"/>
              <a:t>Multiple linear regression</a:t>
            </a:r>
          </a:p>
        </p:txBody>
      </p:sp>
      <p:sp>
        <p:nvSpPr>
          <p:cNvPr id="4" name="Slide Number Placeholder 3">
            <a:extLst>
              <a:ext uri="{FF2B5EF4-FFF2-40B4-BE49-F238E27FC236}">
                <a16:creationId xmlns:a16="http://schemas.microsoft.com/office/drawing/2014/main" id="{7A3DD09B-A9A7-C92A-7DF3-1858AA4F9546}"/>
              </a:ext>
            </a:extLst>
          </p:cNvPr>
          <p:cNvSpPr>
            <a:spLocks noGrp="1"/>
          </p:cNvSpPr>
          <p:nvPr>
            <p:ph type="sldNum" sz="quarter" idx="10"/>
          </p:nvPr>
        </p:nvSpPr>
        <p:spPr/>
        <p:txBody>
          <a:bodyPr/>
          <a:lstStyle/>
          <a:p>
            <a:fld id="{48F63A3B-78C7-47BE-AE5E-E10140E04643}" type="slidenum">
              <a:rPr lang="en-US" smtClean="0"/>
              <a:pPr/>
              <a:t>28</a:t>
            </a:fld>
            <a:endParaRPr lang="en-US" dirty="0"/>
          </a:p>
        </p:txBody>
      </p:sp>
      <p:grpSp>
        <p:nvGrpSpPr>
          <p:cNvPr id="7" name="Group 6">
            <a:extLst>
              <a:ext uri="{FF2B5EF4-FFF2-40B4-BE49-F238E27FC236}">
                <a16:creationId xmlns:a16="http://schemas.microsoft.com/office/drawing/2014/main" id="{49F84C91-AB17-4C94-8982-F00102CEF2AE}"/>
              </a:ext>
            </a:extLst>
          </p:cNvPr>
          <p:cNvGrpSpPr/>
          <p:nvPr/>
        </p:nvGrpSpPr>
        <p:grpSpPr>
          <a:xfrm>
            <a:off x="2820432" y="2180024"/>
            <a:ext cx="9015112" cy="4290674"/>
            <a:chOff x="1094434" y="1966173"/>
            <a:chExt cx="9015112" cy="4290674"/>
          </a:xfrm>
        </p:grpSpPr>
        <p:pic>
          <p:nvPicPr>
            <p:cNvPr id="3" name="Content Placeholder 4">
              <a:extLst>
                <a:ext uri="{FF2B5EF4-FFF2-40B4-BE49-F238E27FC236}">
                  <a16:creationId xmlns:a16="http://schemas.microsoft.com/office/drawing/2014/main" id="{CD990928-A5D8-50A8-CDD5-76DDC3AF5E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34" y="1979699"/>
              <a:ext cx="5284145" cy="2022257"/>
            </a:xfrm>
            <a:prstGeom prst="rect">
              <a:avLst/>
            </a:prstGeom>
          </p:spPr>
        </p:pic>
        <p:pic>
          <p:nvPicPr>
            <p:cNvPr id="5" name="Picture 4">
              <a:extLst>
                <a:ext uri="{FF2B5EF4-FFF2-40B4-BE49-F238E27FC236}">
                  <a16:creationId xmlns:a16="http://schemas.microsoft.com/office/drawing/2014/main" id="{85C45532-0576-FA75-9C84-F016493989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434" y="4015482"/>
              <a:ext cx="4961882" cy="2241365"/>
            </a:xfrm>
            <a:prstGeom prst="rect">
              <a:avLst/>
            </a:prstGeom>
          </p:spPr>
        </p:pic>
        <p:pic>
          <p:nvPicPr>
            <p:cNvPr id="6" name="Picture 5">
              <a:extLst>
                <a:ext uri="{FF2B5EF4-FFF2-40B4-BE49-F238E27FC236}">
                  <a16:creationId xmlns:a16="http://schemas.microsoft.com/office/drawing/2014/main" id="{BFF3C6B5-55F4-DFB6-67F8-054BD916DD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7663" y="1966173"/>
              <a:ext cx="4961883" cy="2035783"/>
            </a:xfrm>
            <a:prstGeom prst="rect">
              <a:avLst/>
            </a:prstGeom>
          </p:spPr>
        </p:pic>
      </p:grpSp>
      <p:sp>
        <p:nvSpPr>
          <p:cNvPr id="9" name="TextBox 8">
            <a:extLst>
              <a:ext uri="{FF2B5EF4-FFF2-40B4-BE49-F238E27FC236}">
                <a16:creationId xmlns:a16="http://schemas.microsoft.com/office/drawing/2014/main" id="{DD5682FE-D632-5338-FB1D-083955E0D4CE}"/>
              </a:ext>
            </a:extLst>
          </p:cNvPr>
          <p:cNvSpPr txBox="1"/>
          <p:nvPr/>
        </p:nvSpPr>
        <p:spPr>
          <a:xfrm>
            <a:off x="8104577" y="4882368"/>
            <a:ext cx="3084665" cy="584775"/>
          </a:xfrm>
          <a:prstGeom prst="rect">
            <a:avLst/>
          </a:prstGeom>
          <a:noFill/>
        </p:spPr>
        <p:txBody>
          <a:bodyPr wrap="square">
            <a:spAutoFit/>
          </a:bodyPr>
          <a:lstStyle/>
          <a:p>
            <a:r>
              <a:rPr lang="en-US" sz="1600" b="0" i="0" dirty="0">
                <a:solidFill>
                  <a:srgbClr val="000000"/>
                </a:solidFill>
                <a:effectLst/>
                <a:latin typeface="Poppins-Medium"/>
              </a:rPr>
              <a:t>After selecting the variables, the required options.</a:t>
            </a:r>
            <a:endParaRPr lang="en-US" sz="1600" dirty="0"/>
          </a:p>
        </p:txBody>
      </p:sp>
    </p:spTree>
    <p:extLst>
      <p:ext uri="{BB962C8B-B14F-4D97-AF65-F5344CB8AC3E}">
        <p14:creationId xmlns:p14="http://schemas.microsoft.com/office/powerpoint/2010/main" val="2778915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DE404-49BB-DDBD-A915-D67418056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D9F1F6-211F-23B3-9183-17098325534B}"/>
              </a:ext>
            </a:extLst>
          </p:cNvPr>
          <p:cNvSpPr>
            <a:spLocks noGrp="1"/>
          </p:cNvSpPr>
          <p:nvPr>
            <p:ph type="title"/>
          </p:nvPr>
        </p:nvSpPr>
        <p:spPr/>
        <p:txBody>
          <a:bodyPr/>
          <a:lstStyle/>
          <a:p>
            <a:r>
              <a:rPr lang="en-US" sz="3200" dirty="0"/>
              <a:t>Multiple linear regression</a:t>
            </a:r>
          </a:p>
        </p:txBody>
      </p:sp>
      <p:sp>
        <p:nvSpPr>
          <p:cNvPr id="4" name="Slide Number Placeholder 3">
            <a:extLst>
              <a:ext uri="{FF2B5EF4-FFF2-40B4-BE49-F238E27FC236}">
                <a16:creationId xmlns:a16="http://schemas.microsoft.com/office/drawing/2014/main" id="{14A64F9C-E05B-DEB5-BA38-A9146A5424F4}"/>
              </a:ext>
            </a:extLst>
          </p:cNvPr>
          <p:cNvSpPr>
            <a:spLocks noGrp="1"/>
          </p:cNvSpPr>
          <p:nvPr>
            <p:ph type="sldNum" sz="quarter" idx="10"/>
          </p:nvPr>
        </p:nvSpPr>
        <p:spPr/>
        <p:txBody>
          <a:bodyPr/>
          <a:lstStyle/>
          <a:p>
            <a:fld id="{48F63A3B-78C7-47BE-AE5E-E10140E04643}" type="slidenum">
              <a:rPr lang="en-US" smtClean="0"/>
              <a:pPr/>
              <a:t>29</a:t>
            </a:fld>
            <a:endParaRPr lang="en-US" dirty="0"/>
          </a:p>
        </p:txBody>
      </p:sp>
      <p:sp>
        <p:nvSpPr>
          <p:cNvPr id="6" name="TextBox 5">
            <a:extLst>
              <a:ext uri="{FF2B5EF4-FFF2-40B4-BE49-F238E27FC236}">
                <a16:creationId xmlns:a16="http://schemas.microsoft.com/office/drawing/2014/main" id="{58A1C303-3B2B-5E73-0CB5-ABC9B5338FC8}"/>
              </a:ext>
            </a:extLst>
          </p:cNvPr>
          <p:cNvSpPr txBox="1"/>
          <p:nvPr/>
        </p:nvSpPr>
        <p:spPr>
          <a:xfrm>
            <a:off x="7619072" y="2137073"/>
            <a:ext cx="4613817" cy="830997"/>
          </a:xfrm>
          <a:prstGeom prst="rect">
            <a:avLst/>
          </a:prstGeom>
          <a:noFill/>
        </p:spPr>
        <p:txBody>
          <a:bodyPr wrap="square">
            <a:spAutoFit/>
          </a:bodyPr>
          <a:lstStyle/>
          <a:p>
            <a:r>
              <a:rPr lang="en-US" sz="1600" b="0" i="0" dirty="0">
                <a:solidFill>
                  <a:srgbClr val="000000"/>
                </a:solidFill>
                <a:effectLst/>
                <a:latin typeface="Poppins-Medium"/>
              </a:rPr>
              <a:t>Here, R² =0.510. This means that the three independent variables we analyzed can explain 51% of the dependent variables.</a:t>
            </a:r>
            <a:endParaRPr lang="en-US" sz="1600" dirty="0"/>
          </a:p>
        </p:txBody>
      </p:sp>
      <p:grpSp>
        <p:nvGrpSpPr>
          <p:cNvPr id="11" name="Group 10">
            <a:extLst>
              <a:ext uri="{FF2B5EF4-FFF2-40B4-BE49-F238E27FC236}">
                <a16:creationId xmlns:a16="http://schemas.microsoft.com/office/drawing/2014/main" id="{6F800C41-891B-2C4D-F18F-A4B7EA72CA0C}"/>
              </a:ext>
            </a:extLst>
          </p:cNvPr>
          <p:cNvGrpSpPr/>
          <p:nvPr/>
        </p:nvGrpSpPr>
        <p:grpSpPr>
          <a:xfrm>
            <a:off x="2894965" y="2137073"/>
            <a:ext cx="4724107" cy="3209492"/>
            <a:chOff x="1154429" y="1915317"/>
            <a:chExt cx="4724107" cy="3209492"/>
          </a:xfrm>
        </p:grpSpPr>
        <p:pic>
          <p:nvPicPr>
            <p:cNvPr id="7" name="Content Placeholder 4">
              <a:extLst>
                <a:ext uri="{FF2B5EF4-FFF2-40B4-BE49-F238E27FC236}">
                  <a16:creationId xmlns:a16="http://schemas.microsoft.com/office/drawing/2014/main" id="{CFAE64C5-8A9D-2720-A76E-C5F9F8DB28B8}"/>
                </a:ext>
              </a:extLst>
            </p:cNvPr>
            <p:cNvPicPr>
              <a:picLocks noChangeAspect="1"/>
            </p:cNvPicPr>
            <p:nvPr/>
          </p:nvPicPr>
          <p:blipFill rotWithShape="1">
            <a:blip r:embed="rId2">
              <a:extLst>
                <a:ext uri="{28A0092B-C50C-407E-A947-70E740481C1C}">
                  <a14:useLocalDpi xmlns:a14="http://schemas.microsoft.com/office/drawing/2010/main" val="0"/>
                </a:ext>
              </a:extLst>
            </a:blip>
            <a:srcRect b="42309"/>
            <a:stretch/>
          </p:blipFill>
          <p:spPr>
            <a:xfrm>
              <a:off x="1154429" y="1915317"/>
              <a:ext cx="4724107" cy="3205324"/>
            </a:xfrm>
            <a:prstGeom prst="rect">
              <a:avLst/>
            </a:prstGeom>
          </p:spPr>
        </p:pic>
        <p:sp>
          <p:nvSpPr>
            <p:cNvPr id="8" name="Rectangle 7">
              <a:extLst>
                <a:ext uri="{FF2B5EF4-FFF2-40B4-BE49-F238E27FC236}">
                  <a16:creationId xmlns:a16="http://schemas.microsoft.com/office/drawing/2014/main" id="{02FDB75C-E81A-8C12-EF96-4C19E046397F}"/>
                </a:ext>
              </a:extLst>
            </p:cNvPr>
            <p:cNvSpPr/>
            <p:nvPr/>
          </p:nvSpPr>
          <p:spPr>
            <a:xfrm>
              <a:off x="2743201" y="2759629"/>
              <a:ext cx="385762" cy="54078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CCABD22-338D-7501-E732-68E20F6B669C}"/>
                </a:ext>
              </a:extLst>
            </p:cNvPr>
            <p:cNvSpPr/>
            <p:nvPr/>
          </p:nvSpPr>
          <p:spPr>
            <a:xfrm>
              <a:off x="5203032" y="4437658"/>
              <a:ext cx="450410" cy="68715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E1EFCCF-D3AC-D8D4-EEA6-5E50267DD39A}"/>
                </a:ext>
              </a:extLst>
            </p:cNvPr>
            <p:cNvSpPr/>
            <p:nvPr/>
          </p:nvSpPr>
          <p:spPr>
            <a:xfrm>
              <a:off x="4248581" y="4411862"/>
              <a:ext cx="450410" cy="68715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76394C9C-0B21-825E-F31E-7D38AC32BB73}"/>
              </a:ext>
            </a:extLst>
          </p:cNvPr>
          <p:cNvSpPr txBox="1"/>
          <p:nvPr/>
        </p:nvSpPr>
        <p:spPr>
          <a:xfrm>
            <a:off x="7508782" y="3053705"/>
            <a:ext cx="4724107" cy="1077218"/>
          </a:xfrm>
          <a:prstGeom prst="rect">
            <a:avLst/>
          </a:prstGeom>
          <a:noFill/>
        </p:spPr>
        <p:txBody>
          <a:bodyPr wrap="square">
            <a:spAutoFit/>
          </a:bodyPr>
          <a:lstStyle/>
          <a:p>
            <a:r>
              <a:rPr lang="en-US" sz="1600" b="0" i="0" dirty="0">
                <a:solidFill>
                  <a:srgbClr val="000000"/>
                </a:solidFill>
                <a:effectLst/>
                <a:latin typeface="Poppins-Medium"/>
              </a:rPr>
              <a:t>Here we can check whether there is a significant relationship between IV and DV (a P value </a:t>
            </a:r>
            <a:r>
              <a:rPr lang="zh-CN" altLang="en-US" sz="1600" b="0" i="0" dirty="0">
                <a:solidFill>
                  <a:srgbClr val="000000"/>
                </a:solidFill>
                <a:effectLst/>
                <a:latin typeface="Poppins-Medium"/>
              </a:rPr>
              <a:t>≤</a:t>
            </a:r>
            <a:r>
              <a:rPr lang="en-US" sz="1600" b="0" i="0" dirty="0">
                <a:solidFill>
                  <a:srgbClr val="000000"/>
                </a:solidFill>
                <a:effectLst/>
                <a:latin typeface="Poppins-Medium"/>
              </a:rPr>
              <a:t> 0.05 indicates a significant relationship).</a:t>
            </a:r>
            <a:endParaRPr lang="en-US" sz="1600" dirty="0"/>
          </a:p>
        </p:txBody>
      </p:sp>
      <p:sp>
        <p:nvSpPr>
          <p:cNvPr id="15" name="TextBox 14">
            <a:extLst>
              <a:ext uri="{FF2B5EF4-FFF2-40B4-BE49-F238E27FC236}">
                <a16:creationId xmlns:a16="http://schemas.microsoft.com/office/drawing/2014/main" id="{412723E0-BE0B-BA2B-000A-EC05A163CDAE}"/>
              </a:ext>
            </a:extLst>
          </p:cNvPr>
          <p:cNvSpPr txBox="1"/>
          <p:nvPr/>
        </p:nvSpPr>
        <p:spPr>
          <a:xfrm>
            <a:off x="7508782" y="4216558"/>
            <a:ext cx="4548597" cy="2062103"/>
          </a:xfrm>
          <a:prstGeom prst="rect">
            <a:avLst/>
          </a:prstGeom>
          <a:noFill/>
        </p:spPr>
        <p:txBody>
          <a:bodyPr wrap="square">
            <a:spAutoFit/>
          </a:bodyPr>
          <a:lstStyle/>
          <a:p>
            <a:r>
              <a:rPr lang="en-US" sz="1600" b="0" i="0" dirty="0">
                <a:solidFill>
                  <a:srgbClr val="000000"/>
                </a:solidFill>
                <a:effectLst/>
                <a:latin typeface="Poppins-Medium"/>
              </a:rPr>
              <a:t>Next, check </a:t>
            </a:r>
            <a:r>
              <a:rPr lang="en-US" sz="1600" b="1" i="0" dirty="0">
                <a:solidFill>
                  <a:srgbClr val="000000"/>
                </a:solidFill>
                <a:effectLst/>
                <a:latin typeface="Poppins-Medium"/>
              </a:rPr>
              <a:t>β/ Stand</a:t>
            </a:r>
            <a:r>
              <a:rPr lang="en-US" sz="1600" b="1" dirty="0">
                <a:solidFill>
                  <a:srgbClr val="000000"/>
                </a:solidFill>
                <a:latin typeface="Poppins-Medium"/>
              </a:rPr>
              <a:t> </a:t>
            </a:r>
            <a:r>
              <a:rPr lang="en-US" sz="1600" b="1" i="0" dirty="0">
                <a:solidFill>
                  <a:srgbClr val="000000"/>
                </a:solidFill>
                <a:effectLst/>
                <a:latin typeface="Poppins-Medium"/>
              </a:rPr>
              <a:t>Estimate /standardized beta coefficient. </a:t>
            </a:r>
          </a:p>
          <a:p>
            <a:r>
              <a:rPr lang="en-US" sz="1600" b="0" i="0" dirty="0">
                <a:solidFill>
                  <a:srgbClr val="000000"/>
                </a:solidFill>
                <a:effectLst/>
                <a:latin typeface="Poppins-Medium"/>
              </a:rPr>
              <a:t>This data indicates how strong </a:t>
            </a:r>
            <a:r>
              <a:rPr lang="en-US" sz="1600" dirty="0">
                <a:solidFill>
                  <a:srgbClr val="000000"/>
                </a:solidFill>
                <a:latin typeface="Poppins-Medium"/>
              </a:rPr>
              <a:t>the</a:t>
            </a:r>
            <a:r>
              <a:rPr lang="en-US" sz="1600" b="0" i="0" dirty="0">
                <a:solidFill>
                  <a:srgbClr val="000000"/>
                </a:solidFill>
                <a:effectLst/>
                <a:latin typeface="Poppins-Medium"/>
              </a:rPr>
              <a:t> </a:t>
            </a:r>
            <a:r>
              <a:rPr lang="en-US" sz="1600" dirty="0">
                <a:solidFill>
                  <a:srgbClr val="000000"/>
                </a:solidFill>
                <a:latin typeface="Poppins-Medium"/>
              </a:rPr>
              <a:t>IV </a:t>
            </a:r>
            <a:r>
              <a:rPr lang="en-US" altLang="zh-CN" sz="1600" dirty="0">
                <a:solidFill>
                  <a:srgbClr val="000000"/>
                </a:solidFill>
                <a:latin typeface="Poppins-Medium"/>
              </a:rPr>
              <a:t>impact</a:t>
            </a:r>
            <a:r>
              <a:rPr lang="en-US" sz="1600" b="0" i="0" dirty="0">
                <a:solidFill>
                  <a:srgbClr val="000000"/>
                </a:solidFill>
                <a:effectLst/>
                <a:latin typeface="Poppins-Medium"/>
              </a:rPr>
              <a:t> on the DV. </a:t>
            </a:r>
          </a:p>
          <a:p>
            <a:r>
              <a:rPr lang="en-US" sz="1600" b="0" i="0" dirty="0">
                <a:solidFill>
                  <a:srgbClr val="000000"/>
                </a:solidFill>
                <a:effectLst/>
                <a:latin typeface="Poppins-Medium"/>
              </a:rPr>
              <a:t>0.10-0.29 is regarded as having a relatively small force, 0.30-0.49 is regarded as having a moderate force, and &gt; 0.50 is regarded as having a strong force.</a:t>
            </a:r>
            <a:endParaRPr lang="en-US" sz="1600" dirty="0"/>
          </a:p>
        </p:txBody>
      </p:sp>
    </p:spTree>
    <p:extLst>
      <p:ext uri="{BB962C8B-B14F-4D97-AF65-F5344CB8AC3E}">
        <p14:creationId xmlns:p14="http://schemas.microsoft.com/office/powerpoint/2010/main" val="415325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96F51-B943-F99D-83CA-2A9FBBE07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E361A-77C2-E26D-6350-A6D01D83F3B5}"/>
              </a:ext>
            </a:extLst>
          </p:cNvPr>
          <p:cNvSpPr>
            <a:spLocks noGrp="1"/>
          </p:cNvSpPr>
          <p:nvPr>
            <p:ph type="title"/>
          </p:nvPr>
        </p:nvSpPr>
        <p:spPr/>
        <p:txBody>
          <a:bodyPr/>
          <a:lstStyle/>
          <a:p>
            <a:r>
              <a:rPr lang="en-US" sz="3200" dirty="0"/>
              <a:t>Multiple linear regression</a:t>
            </a:r>
          </a:p>
        </p:txBody>
      </p:sp>
      <p:sp>
        <p:nvSpPr>
          <p:cNvPr id="4" name="Slide Number Placeholder 3">
            <a:extLst>
              <a:ext uri="{FF2B5EF4-FFF2-40B4-BE49-F238E27FC236}">
                <a16:creationId xmlns:a16="http://schemas.microsoft.com/office/drawing/2014/main" id="{4C1821CD-435B-36D5-D3F3-810010CAFE43}"/>
              </a:ext>
            </a:extLst>
          </p:cNvPr>
          <p:cNvSpPr>
            <a:spLocks noGrp="1"/>
          </p:cNvSpPr>
          <p:nvPr>
            <p:ph type="sldNum" sz="quarter" idx="10"/>
          </p:nvPr>
        </p:nvSpPr>
        <p:spPr/>
        <p:txBody>
          <a:bodyPr/>
          <a:lstStyle/>
          <a:p>
            <a:fld id="{48F63A3B-78C7-47BE-AE5E-E10140E04643}" type="slidenum">
              <a:rPr lang="en-US" smtClean="0"/>
              <a:pPr/>
              <a:t>30</a:t>
            </a:fld>
            <a:endParaRPr lang="en-US" dirty="0"/>
          </a:p>
        </p:txBody>
      </p:sp>
      <p:pic>
        <p:nvPicPr>
          <p:cNvPr id="3" name="Content Placeholder 4">
            <a:extLst>
              <a:ext uri="{FF2B5EF4-FFF2-40B4-BE49-F238E27FC236}">
                <a16:creationId xmlns:a16="http://schemas.microsoft.com/office/drawing/2014/main" id="{58EE172A-1827-2873-9FA2-92935E5E7B20}"/>
              </a:ext>
            </a:extLst>
          </p:cNvPr>
          <p:cNvPicPr>
            <a:picLocks noChangeAspect="1"/>
          </p:cNvPicPr>
          <p:nvPr/>
        </p:nvPicPr>
        <p:blipFill rotWithShape="1">
          <a:blip r:embed="rId2">
            <a:extLst>
              <a:ext uri="{28A0092B-C50C-407E-A947-70E740481C1C}">
                <a14:useLocalDpi xmlns:a14="http://schemas.microsoft.com/office/drawing/2010/main" val="0"/>
              </a:ext>
            </a:extLst>
          </a:blip>
          <a:srcRect t="63937" b="1652"/>
          <a:stretch/>
        </p:blipFill>
        <p:spPr>
          <a:xfrm>
            <a:off x="3416765" y="2407444"/>
            <a:ext cx="5048509" cy="2043112"/>
          </a:xfrm>
          <a:prstGeom prst="rect">
            <a:avLst/>
          </a:prstGeom>
        </p:spPr>
      </p:pic>
      <p:sp>
        <p:nvSpPr>
          <p:cNvPr id="6" name="TextBox 5">
            <a:extLst>
              <a:ext uri="{FF2B5EF4-FFF2-40B4-BE49-F238E27FC236}">
                <a16:creationId xmlns:a16="http://schemas.microsoft.com/office/drawing/2014/main" id="{47280E24-551C-EE22-E3D9-C119BB5E84B8}"/>
              </a:ext>
            </a:extLst>
          </p:cNvPr>
          <p:cNvSpPr txBox="1"/>
          <p:nvPr/>
        </p:nvSpPr>
        <p:spPr>
          <a:xfrm>
            <a:off x="3548876" y="4450556"/>
            <a:ext cx="6105292" cy="1477328"/>
          </a:xfrm>
          <a:prstGeom prst="rect">
            <a:avLst/>
          </a:prstGeom>
          <a:noFill/>
        </p:spPr>
        <p:txBody>
          <a:bodyPr wrap="square">
            <a:spAutoFit/>
          </a:bodyPr>
          <a:lstStyle/>
          <a:p>
            <a:r>
              <a:rPr lang="en-US" b="0" i="0" dirty="0">
                <a:solidFill>
                  <a:srgbClr val="000000"/>
                </a:solidFill>
                <a:effectLst/>
                <a:latin typeface="Poppins-Medium"/>
              </a:rPr>
              <a:t>Finally, we need to analyze the collinearity VIF value. Different scholars have different opinions. Generally speaking, a value less than 5 is considered qualified, but some scholars believe that a value less than 10 is qualified.</a:t>
            </a:r>
            <a:endParaRPr lang="en-US" dirty="0"/>
          </a:p>
        </p:txBody>
      </p:sp>
    </p:spTree>
    <p:extLst>
      <p:ext uri="{BB962C8B-B14F-4D97-AF65-F5344CB8AC3E}">
        <p14:creationId xmlns:p14="http://schemas.microsoft.com/office/powerpoint/2010/main" val="3660350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D9A6E-8977-D503-037C-76552EA47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53926-607A-F27D-622E-7B2511FAA479}"/>
              </a:ext>
            </a:extLst>
          </p:cNvPr>
          <p:cNvSpPr>
            <a:spLocks noGrp="1"/>
          </p:cNvSpPr>
          <p:nvPr>
            <p:ph type="title"/>
          </p:nvPr>
        </p:nvSpPr>
        <p:spPr/>
        <p:txBody>
          <a:bodyPr/>
          <a:lstStyle/>
          <a:p>
            <a:r>
              <a:rPr lang="en-US" dirty="0"/>
              <a:t>Examples</a:t>
            </a:r>
          </a:p>
        </p:txBody>
      </p:sp>
      <p:sp>
        <p:nvSpPr>
          <p:cNvPr id="4" name="Slide Number Placeholder 3">
            <a:extLst>
              <a:ext uri="{FF2B5EF4-FFF2-40B4-BE49-F238E27FC236}">
                <a16:creationId xmlns:a16="http://schemas.microsoft.com/office/drawing/2014/main" id="{2DB57017-68CD-4205-4DA0-A53B7DF8706F}"/>
              </a:ext>
            </a:extLst>
          </p:cNvPr>
          <p:cNvSpPr>
            <a:spLocks noGrp="1"/>
          </p:cNvSpPr>
          <p:nvPr>
            <p:ph type="sldNum" sz="quarter" idx="10"/>
          </p:nvPr>
        </p:nvSpPr>
        <p:spPr/>
        <p:txBody>
          <a:bodyPr/>
          <a:lstStyle/>
          <a:p>
            <a:fld id="{48F63A3B-78C7-47BE-AE5E-E10140E04643}" type="slidenum">
              <a:rPr lang="en-US" smtClean="0"/>
              <a:pPr/>
              <a:t>31</a:t>
            </a:fld>
            <a:endParaRPr lang="en-US" dirty="0"/>
          </a:p>
        </p:txBody>
      </p:sp>
      <p:pic>
        <p:nvPicPr>
          <p:cNvPr id="8" name="Content Placeholder 7">
            <a:extLst>
              <a:ext uri="{FF2B5EF4-FFF2-40B4-BE49-F238E27FC236}">
                <a16:creationId xmlns:a16="http://schemas.microsoft.com/office/drawing/2014/main" id="{0487C0DC-9688-44DF-9288-BA58731660A1}"/>
              </a:ext>
            </a:extLst>
          </p:cNvPr>
          <p:cNvPicPr>
            <a:picLocks noGrp="1" noChangeAspect="1"/>
          </p:cNvPicPr>
          <p:nvPr>
            <p:ph sz="half" idx="2"/>
          </p:nvPr>
        </p:nvPicPr>
        <p:blipFill>
          <a:blip r:embed="rId2"/>
          <a:stretch>
            <a:fillRect/>
          </a:stretch>
        </p:blipFill>
        <p:spPr>
          <a:xfrm>
            <a:off x="3781566" y="2532171"/>
            <a:ext cx="5840338" cy="3483520"/>
          </a:xfrm>
        </p:spPr>
      </p:pic>
    </p:spTree>
    <p:extLst>
      <p:ext uri="{BB962C8B-B14F-4D97-AF65-F5344CB8AC3E}">
        <p14:creationId xmlns:p14="http://schemas.microsoft.com/office/powerpoint/2010/main" val="32021679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219C4-375D-A12F-935D-54004B1DB785}"/>
              </a:ext>
            </a:extLst>
          </p:cNvPr>
          <p:cNvSpPr>
            <a:spLocks noGrp="1"/>
          </p:cNvSpPr>
          <p:nvPr>
            <p:ph type="title"/>
          </p:nvPr>
        </p:nvSpPr>
        <p:spPr/>
        <p:txBody>
          <a:bodyPr/>
          <a:lstStyle/>
          <a:p>
            <a:r>
              <a:rPr lang="en-US" dirty="0"/>
              <a:t>MLR ANALYSIS</a:t>
            </a:r>
          </a:p>
        </p:txBody>
      </p:sp>
      <p:sp>
        <p:nvSpPr>
          <p:cNvPr id="3" name="Content Placeholder 2">
            <a:extLst>
              <a:ext uri="{FF2B5EF4-FFF2-40B4-BE49-F238E27FC236}">
                <a16:creationId xmlns:a16="http://schemas.microsoft.com/office/drawing/2014/main" id="{FBD043EF-648F-36CF-26C8-0459167BE71B}"/>
              </a:ext>
            </a:extLst>
          </p:cNvPr>
          <p:cNvSpPr>
            <a:spLocks noGrp="1"/>
          </p:cNvSpPr>
          <p:nvPr>
            <p:ph sz="half" idx="2"/>
          </p:nvPr>
        </p:nvSpPr>
        <p:spPr/>
        <p:txBody>
          <a:bodyPr/>
          <a:lstStyle/>
          <a:p>
            <a:r>
              <a:rPr lang="en-US" dirty="0"/>
              <a:t>P</a:t>
            </a:r>
            <a:r>
              <a:rPr lang="en-US" altLang="zh-CN" dirty="0"/>
              <a:t>erceived usefulness &amp; Perceived ease of use </a:t>
            </a:r>
            <a:r>
              <a:rPr lang="zh-CN" altLang="en-US" dirty="0"/>
              <a:t>→ </a:t>
            </a:r>
            <a:r>
              <a:rPr lang="en-US" altLang="zh-CN" dirty="0"/>
              <a:t>Trust</a:t>
            </a:r>
          </a:p>
          <a:p>
            <a:r>
              <a:rPr lang="en-US" dirty="0"/>
              <a:t>Perceived usefulness &amp; Perceived ease of use &amp; Trust </a:t>
            </a:r>
            <a:r>
              <a:rPr lang="zh-CN" altLang="en-US" dirty="0"/>
              <a:t>→</a:t>
            </a:r>
            <a:r>
              <a:rPr lang="en-US" altLang="zh-CN" dirty="0"/>
              <a:t>Repurchase Intention</a:t>
            </a:r>
          </a:p>
          <a:p>
            <a:r>
              <a:rPr lang="en-US" altLang="zh-CN" dirty="0"/>
              <a:t>Trust </a:t>
            </a:r>
            <a:r>
              <a:rPr lang="zh-CN" altLang="en-US" dirty="0"/>
              <a:t>→ </a:t>
            </a:r>
            <a:r>
              <a:rPr lang="en-US" altLang="zh-CN" dirty="0"/>
              <a:t>Repurchase Intention</a:t>
            </a:r>
            <a:r>
              <a:rPr lang="zh-CN" altLang="en-US" dirty="0"/>
              <a:t> </a:t>
            </a:r>
            <a:endParaRPr lang="en-US" altLang="zh-CN" dirty="0"/>
          </a:p>
          <a:p>
            <a:endParaRPr lang="en-US" dirty="0"/>
          </a:p>
        </p:txBody>
      </p:sp>
      <p:sp>
        <p:nvSpPr>
          <p:cNvPr id="4" name="Slide Number Placeholder 3">
            <a:extLst>
              <a:ext uri="{FF2B5EF4-FFF2-40B4-BE49-F238E27FC236}">
                <a16:creationId xmlns:a16="http://schemas.microsoft.com/office/drawing/2014/main" id="{E76BF4A4-0CBB-9619-0243-C6C3B1489AB8}"/>
              </a:ext>
            </a:extLst>
          </p:cNvPr>
          <p:cNvSpPr>
            <a:spLocks noGrp="1"/>
          </p:cNvSpPr>
          <p:nvPr>
            <p:ph type="sldNum" sz="quarter" idx="10"/>
          </p:nvPr>
        </p:nvSpPr>
        <p:spPr/>
        <p:txBody>
          <a:bodyPr/>
          <a:lstStyle/>
          <a:p>
            <a:fld id="{48F63A3B-78C7-47BE-AE5E-E10140E04643}" type="slidenum">
              <a:rPr lang="en-US" smtClean="0"/>
              <a:pPr/>
              <a:t>32</a:t>
            </a:fld>
            <a:endParaRPr lang="en-US" dirty="0"/>
          </a:p>
        </p:txBody>
      </p:sp>
    </p:spTree>
    <p:extLst>
      <p:ext uri="{BB962C8B-B14F-4D97-AF65-F5344CB8AC3E}">
        <p14:creationId xmlns:p14="http://schemas.microsoft.com/office/powerpoint/2010/main" val="3869017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2D5CD-C524-7BBE-2118-10D32E46870A}"/>
              </a:ext>
            </a:extLst>
          </p:cNvPr>
          <p:cNvSpPr>
            <a:spLocks noGrp="1"/>
          </p:cNvSpPr>
          <p:nvPr>
            <p:ph type="title"/>
          </p:nvPr>
        </p:nvSpPr>
        <p:spPr/>
        <p:txBody>
          <a:bodyPr/>
          <a:lstStyle/>
          <a:p>
            <a:r>
              <a:rPr lang="en-US" altLang="zh-CN" dirty="0"/>
              <a:t>Mediation analysis</a:t>
            </a:r>
            <a:endParaRPr lang="en-US" dirty="0"/>
          </a:p>
        </p:txBody>
      </p:sp>
      <p:graphicFrame>
        <p:nvGraphicFramePr>
          <p:cNvPr id="9" name="Content Placeholder 8">
            <a:extLst>
              <a:ext uri="{FF2B5EF4-FFF2-40B4-BE49-F238E27FC236}">
                <a16:creationId xmlns:a16="http://schemas.microsoft.com/office/drawing/2014/main" id="{E875DC05-7D1D-9FF9-AFD2-83EF01AF4472}"/>
              </a:ext>
            </a:extLst>
          </p:cNvPr>
          <p:cNvGraphicFramePr>
            <a:graphicFrameLocks noGrp="1"/>
          </p:cNvGraphicFramePr>
          <p:nvPr>
            <p:ph sz="half" idx="2"/>
            <p:extLst>
              <p:ext uri="{D42A27DB-BD31-4B8C-83A1-F6EECF244321}">
                <p14:modId xmlns:p14="http://schemas.microsoft.com/office/powerpoint/2010/main" val="2099422680"/>
              </p:ext>
            </p:extLst>
          </p:nvPr>
        </p:nvGraphicFramePr>
        <p:xfrm>
          <a:off x="3300497" y="2342812"/>
          <a:ext cx="7921193" cy="4582453"/>
        </p:xfrm>
        <a:graphic>
          <a:graphicData uri="http://schemas.openxmlformats.org/drawingml/2006/table">
            <a:tbl>
              <a:tblPr/>
              <a:tblGrid>
                <a:gridCol w="564886">
                  <a:extLst>
                    <a:ext uri="{9D8B030D-6E8A-4147-A177-3AD203B41FA5}">
                      <a16:colId xmlns:a16="http://schemas.microsoft.com/office/drawing/2014/main" val="1309334776"/>
                    </a:ext>
                  </a:extLst>
                </a:gridCol>
                <a:gridCol w="281166">
                  <a:extLst>
                    <a:ext uri="{9D8B030D-6E8A-4147-A177-3AD203B41FA5}">
                      <a16:colId xmlns:a16="http://schemas.microsoft.com/office/drawing/2014/main" val="920536107"/>
                    </a:ext>
                  </a:extLst>
                </a:gridCol>
                <a:gridCol w="871611">
                  <a:extLst>
                    <a:ext uri="{9D8B030D-6E8A-4147-A177-3AD203B41FA5}">
                      <a16:colId xmlns:a16="http://schemas.microsoft.com/office/drawing/2014/main" val="1913309472"/>
                    </a:ext>
                  </a:extLst>
                </a:gridCol>
                <a:gridCol w="281166">
                  <a:extLst>
                    <a:ext uri="{9D8B030D-6E8A-4147-A177-3AD203B41FA5}">
                      <a16:colId xmlns:a16="http://schemas.microsoft.com/office/drawing/2014/main" val="2639560596"/>
                    </a:ext>
                  </a:extLst>
                </a:gridCol>
                <a:gridCol w="564886">
                  <a:extLst>
                    <a:ext uri="{9D8B030D-6E8A-4147-A177-3AD203B41FA5}">
                      <a16:colId xmlns:a16="http://schemas.microsoft.com/office/drawing/2014/main" val="3394187052"/>
                    </a:ext>
                  </a:extLst>
                </a:gridCol>
                <a:gridCol w="281166">
                  <a:extLst>
                    <a:ext uri="{9D8B030D-6E8A-4147-A177-3AD203B41FA5}">
                      <a16:colId xmlns:a16="http://schemas.microsoft.com/office/drawing/2014/main" val="1908394397"/>
                    </a:ext>
                  </a:extLst>
                </a:gridCol>
                <a:gridCol w="564886">
                  <a:extLst>
                    <a:ext uri="{9D8B030D-6E8A-4147-A177-3AD203B41FA5}">
                      <a16:colId xmlns:a16="http://schemas.microsoft.com/office/drawing/2014/main" val="2982846287"/>
                    </a:ext>
                  </a:extLst>
                </a:gridCol>
                <a:gridCol w="281166">
                  <a:extLst>
                    <a:ext uri="{9D8B030D-6E8A-4147-A177-3AD203B41FA5}">
                      <a16:colId xmlns:a16="http://schemas.microsoft.com/office/drawing/2014/main" val="1331061538"/>
                    </a:ext>
                  </a:extLst>
                </a:gridCol>
                <a:gridCol w="564886">
                  <a:extLst>
                    <a:ext uri="{9D8B030D-6E8A-4147-A177-3AD203B41FA5}">
                      <a16:colId xmlns:a16="http://schemas.microsoft.com/office/drawing/2014/main" val="435220652"/>
                    </a:ext>
                  </a:extLst>
                </a:gridCol>
                <a:gridCol w="281166">
                  <a:extLst>
                    <a:ext uri="{9D8B030D-6E8A-4147-A177-3AD203B41FA5}">
                      <a16:colId xmlns:a16="http://schemas.microsoft.com/office/drawing/2014/main" val="3191838664"/>
                    </a:ext>
                  </a:extLst>
                </a:gridCol>
                <a:gridCol w="564886">
                  <a:extLst>
                    <a:ext uri="{9D8B030D-6E8A-4147-A177-3AD203B41FA5}">
                      <a16:colId xmlns:a16="http://schemas.microsoft.com/office/drawing/2014/main" val="3056696598"/>
                    </a:ext>
                  </a:extLst>
                </a:gridCol>
                <a:gridCol w="281166">
                  <a:extLst>
                    <a:ext uri="{9D8B030D-6E8A-4147-A177-3AD203B41FA5}">
                      <a16:colId xmlns:a16="http://schemas.microsoft.com/office/drawing/2014/main" val="1800010239"/>
                    </a:ext>
                  </a:extLst>
                </a:gridCol>
                <a:gridCol w="564886">
                  <a:extLst>
                    <a:ext uri="{9D8B030D-6E8A-4147-A177-3AD203B41FA5}">
                      <a16:colId xmlns:a16="http://schemas.microsoft.com/office/drawing/2014/main" val="3961490464"/>
                    </a:ext>
                  </a:extLst>
                </a:gridCol>
                <a:gridCol w="281166">
                  <a:extLst>
                    <a:ext uri="{9D8B030D-6E8A-4147-A177-3AD203B41FA5}">
                      <a16:colId xmlns:a16="http://schemas.microsoft.com/office/drawing/2014/main" val="1558780377"/>
                    </a:ext>
                  </a:extLst>
                </a:gridCol>
                <a:gridCol w="564886">
                  <a:extLst>
                    <a:ext uri="{9D8B030D-6E8A-4147-A177-3AD203B41FA5}">
                      <a16:colId xmlns:a16="http://schemas.microsoft.com/office/drawing/2014/main" val="2325526791"/>
                    </a:ext>
                  </a:extLst>
                </a:gridCol>
                <a:gridCol w="281166">
                  <a:extLst>
                    <a:ext uri="{9D8B030D-6E8A-4147-A177-3AD203B41FA5}">
                      <a16:colId xmlns:a16="http://schemas.microsoft.com/office/drawing/2014/main" val="2394162273"/>
                    </a:ext>
                  </a:extLst>
                </a:gridCol>
                <a:gridCol w="564886">
                  <a:extLst>
                    <a:ext uri="{9D8B030D-6E8A-4147-A177-3AD203B41FA5}">
                      <a16:colId xmlns:a16="http://schemas.microsoft.com/office/drawing/2014/main" val="3476555566"/>
                    </a:ext>
                  </a:extLst>
                </a:gridCol>
                <a:gridCol w="281166">
                  <a:extLst>
                    <a:ext uri="{9D8B030D-6E8A-4147-A177-3AD203B41FA5}">
                      <a16:colId xmlns:a16="http://schemas.microsoft.com/office/drawing/2014/main" val="307098377"/>
                    </a:ext>
                  </a:extLst>
                </a:gridCol>
              </a:tblGrid>
              <a:tr h="106507">
                <a:tc gridSpan="18">
                  <a:txBody>
                    <a:bodyPr/>
                    <a:lstStyle/>
                    <a:p>
                      <a:pPr algn="l"/>
                      <a:r>
                        <a:rPr lang="en-US" sz="1050" b="0">
                          <a:effectLst/>
                        </a:rPr>
                        <a:t>Indirect and Total Effects</a:t>
                      </a:r>
                      <a:endParaRPr lang="en-US" sz="1050">
                        <a:effectLst/>
                      </a:endParaRPr>
                    </a:p>
                  </a:txBody>
                  <a:tcPr marL="27767" marR="13222" marT="6611" marB="6611" anchor="ctr">
                    <a:lnL>
                      <a:noFill/>
                    </a:lnL>
                    <a:lnR>
                      <a:noFill/>
                    </a:lnR>
                    <a:lnT>
                      <a:noFill/>
                    </a:lnT>
                    <a:lnB w="5416" cap="flat" cmpd="sng" algn="ctr">
                      <a:solidFill>
                        <a:srgbClr val="333333"/>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91575562"/>
                  </a:ext>
                </a:extLst>
              </a:tr>
              <a:tr h="106507">
                <a:tc gridSpan="8">
                  <a:txBody>
                    <a:bodyPr/>
                    <a:lstStyle/>
                    <a:p>
                      <a:pPr algn="ctr"/>
                      <a:endParaRPr lang="en-US" sz="1050" dirty="0">
                        <a:effectLst/>
                      </a:endParaRPr>
                    </a:p>
                  </a:txBody>
                  <a:tcPr marL="13222" marR="13222" marT="6611" marB="6611" anchor="ctr">
                    <a:lnL>
                      <a:noFill/>
                    </a:lnL>
                    <a:lnR>
                      <a:noFill/>
                    </a:lnR>
                    <a:lnT w="5416" cap="flat" cmpd="sng" algn="ctr">
                      <a:solidFill>
                        <a:srgbClr val="333333"/>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050">
                          <a:effectLst/>
                        </a:rPr>
                        <a:t>95% C.I. (a)</a:t>
                      </a:r>
                    </a:p>
                  </a:txBody>
                  <a:tcPr marL="13222" marR="13222" marT="6611" marB="6611" anchor="ctr">
                    <a:lnL>
                      <a:noFill/>
                    </a:lnL>
                    <a:lnR>
                      <a:noFill/>
                    </a:lnR>
                    <a:lnT w="5416" cap="flat" cmpd="sng" algn="ctr">
                      <a:solidFill>
                        <a:srgbClr val="333333"/>
                      </a:solidFill>
                      <a:prstDash val="solid"/>
                      <a:round/>
                      <a:headEnd type="none" w="med" len="med"/>
                      <a:tailEnd type="none" w="med" len="med"/>
                    </a:lnT>
                    <a:lnB w="5416" cap="flat" cmpd="sng" algn="ctr">
                      <a:solidFill>
                        <a:srgbClr val="333333"/>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algn="ctr"/>
                      <a:endParaRPr lang="en-US" sz="1050">
                        <a:effectLst/>
                      </a:endParaRPr>
                    </a:p>
                  </a:txBody>
                  <a:tcPr marL="13222" marR="13222" marT="6611" marB="6611" anchor="ctr">
                    <a:lnL>
                      <a:noFill/>
                    </a:lnL>
                    <a:lnR>
                      <a:noFill/>
                    </a:lnR>
                    <a:lnT w="5416" cap="flat" cmpd="sng" algn="ctr">
                      <a:solidFill>
                        <a:srgbClr val="333333"/>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7541971"/>
                  </a:ext>
                </a:extLst>
              </a:tr>
              <a:tr h="106507">
                <a:tc gridSpan="2">
                  <a:txBody>
                    <a:bodyPr/>
                    <a:lstStyle/>
                    <a:p>
                      <a:pPr algn="ctr"/>
                      <a:r>
                        <a:rPr lang="en-US" sz="1050">
                          <a:effectLst/>
                        </a:rPr>
                        <a:t>Type</a:t>
                      </a:r>
                    </a:p>
                  </a:txBody>
                  <a:tcPr marL="13222" marR="13222" marT="6611" marB="6611" anchor="ctr">
                    <a:lnL>
                      <a:noFill/>
                    </a:lnL>
                    <a:lnR>
                      <a:noFill/>
                    </a:lnR>
                    <a:lnT>
                      <a:noFill/>
                    </a:lnT>
                    <a:lnB w="5416" cap="flat" cmpd="sng" algn="ctr">
                      <a:solidFill>
                        <a:srgbClr val="333333"/>
                      </a:solidFill>
                      <a:prstDash val="solid"/>
                      <a:round/>
                      <a:headEnd type="none" w="med" len="med"/>
                      <a:tailEnd type="none" w="med" len="med"/>
                    </a:lnB>
                    <a:noFill/>
                  </a:tcPr>
                </a:tc>
                <a:tc hMerge="1">
                  <a:txBody>
                    <a:bodyPr/>
                    <a:lstStyle/>
                    <a:p>
                      <a:endParaRPr lang="en-US"/>
                    </a:p>
                  </a:txBody>
                  <a:tcPr/>
                </a:tc>
                <a:tc gridSpan="2">
                  <a:txBody>
                    <a:bodyPr/>
                    <a:lstStyle/>
                    <a:p>
                      <a:pPr algn="ctr"/>
                      <a:r>
                        <a:rPr lang="en-US" sz="1050">
                          <a:effectLst/>
                        </a:rPr>
                        <a:t>Effect</a:t>
                      </a:r>
                    </a:p>
                  </a:txBody>
                  <a:tcPr marL="13222" marR="13222" marT="6611" marB="6611" anchor="ctr">
                    <a:lnL>
                      <a:noFill/>
                    </a:lnL>
                    <a:lnR>
                      <a:noFill/>
                    </a:lnR>
                    <a:lnT>
                      <a:noFill/>
                    </a:lnT>
                    <a:lnB w="5416" cap="flat" cmpd="sng" algn="ctr">
                      <a:solidFill>
                        <a:srgbClr val="333333"/>
                      </a:solidFill>
                      <a:prstDash val="solid"/>
                      <a:round/>
                      <a:headEnd type="none" w="med" len="med"/>
                      <a:tailEnd type="none" w="med" len="med"/>
                    </a:lnB>
                    <a:noFill/>
                  </a:tcPr>
                </a:tc>
                <a:tc hMerge="1">
                  <a:txBody>
                    <a:bodyPr/>
                    <a:lstStyle/>
                    <a:p>
                      <a:endParaRPr lang="en-US"/>
                    </a:p>
                  </a:txBody>
                  <a:tcPr/>
                </a:tc>
                <a:tc gridSpan="2">
                  <a:txBody>
                    <a:bodyPr/>
                    <a:lstStyle/>
                    <a:p>
                      <a:pPr algn="ctr"/>
                      <a:r>
                        <a:rPr lang="en-US" sz="1050">
                          <a:effectLst/>
                        </a:rPr>
                        <a:t>Estimate</a:t>
                      </a:r>
                    </a:p>
                  </a:txBody>
                  <a:tcPr marL="13222" marR="13222" marT="6611" marB="6611" anchor="ctr">
                    <a:lnL>
                      <a:noFill/>
                    </a:lnL>
                    <a:lnR>
                      <a:noFill/>
                    </a:lnR>
                    <a:lnT>
                      <a:noFill/>
                    </a:lnT>
                    <a:lnB w="5416" cap="flat" cmpd="sng" algn="ctr">
                      <a:solidFill>
                        <a:srgbClr val="333333"/>
                      </a:solidFill>
                      <a:prstDash val="solid"/>
                      <a:round/>
                      <a:headEnd type="none" w="med" len="med"/>
                      <a:tailEnd type="none" w="med" len="med"/>
                    </a:lnB>
                    <a:noFill/>
                  </a:tcPr>
                </a:tc>
                <a:tc hMerge="1">
                  <a:txBody>
                    <a:bodyPr/>
                    <a:lstStyle/>
                    <a:p>
                      <a:endParaRPr lang="en-US"/>
                    </a:p>
                  </a:txBody>
                  <a:tcPr/>
                </a:tc>
                <a:tc gridSpan="2">
                  <a:txBody>
                    <a:bodyPr/>
                    <a:lstStyle/>
                    <a:p>
                      <a:pPr algn="ctr"/>
                      <a:r>
                        <a:rPr lang="en-US" sz="1050">
                          <a:effectLst/>
                        </a:rPr>
                        <a:t>SE</a:t>
                      </a:r>
                    </a:p>
                  </a:txBody>
                  <a:tcPr marL="13222" marR="13222" marT="6611" marB="6611" anchor="ctr">
                    <a:lnL>
                      <a:noFill/>
                    </a:lnL>
                    <a:lnR>
                      <a:noFill/>
                    </a:lnR>
                    <a:lnT>
                      <a:noFill/>
                    </a:lnT>
                    <a:lnB w="5416" cap="flat" cmpd="sng" algn="ctr">
                      <a:solidFill>
                        <a:srgbClr val="333333"/>
                      </a:solidFill>
                      <a:prstDash val="solid"/>
                      <a:round/>
                      <a:headEnd type="none" w="med" len="med"/>
                      <a:tailEnd type="none" w="med" len="med"/>
                    </a:lnB>
                    <a:noFill/>
                  </a:tcPr>
                </a:tc>
                <a:tc hMerge="1">
                  <a:txBody>
                    <a:bodyPr/>
                    <a:lstStyle/>
                    <a:p>
                      <a:endParaRPr lang="en-US"/>
                    </a:p>
                  </a:txBody>
                  <a:tcPr/>
                </a:tc>
                <a:tc gridSpan="2">
                  <a:txBody>
                    <a:bodyPr/>
                    <a:lstStyle/>
                    <a:p>
                      <a:pPr algn="ctr"/>
                      <a:r>
                        <a:rPr lang="en-US" sz="1050">
                          <a:effectLst/>
                        </a:rPr>
                        <a:t>Lower</a:t>
                      </a:r>
                    </a:p>
                  </a:txBody>
                  <a:tcPr marL="13222" marR="13222" marT="6611" marB="6611" anchor="ctr">
                    <a:lnL>
                      <a:noFill/>
                    </a:lnL>
                    <a:lnR>
                      <a:noFill/>
                    </a:lnR>
                    <a:lnT w="5416" cap="flat" cmpd="sng" algn="ctr">
                      <a:solidFill>
                        <a:srgbClr val="333333"/>
                      </a:solidFill>
                      <a:prstDash val="solid"/>
                      <a:round/>
                      <a:headEnd type="none" w="med" len="med"/>
                      <a:tailEnd type="none" w="med" len="med"/>
                    </a:lnT>
                    <a:lnB w="5416" cap="flat" cmpd="sng" algn="ctr">
                      <a:solidFill>
                        <a:srgbClr val="333333"/>
                      </a:solidFill>
                      <a:prstDash val="solid"/>
                      <a:round/>
                      <a:headEnd type="none" w="med" len="med"/>
                      <a:tailEnd type="none" w="med" len="med"/>
                    </a:lnB>
                    <a:noFill/>
                  </a:tcPr>
                </a:tc>
                <a:tc hMerge="1">
                  <a:txBody>
                    <a:bodyPr/>
                    <a:lstStyle/>
                    <a:p>
                      <a:endParaRPr lang="en-US"/>
                    </a:p>
                  </a:txBody>
                  <a:tcPr/>
                </a:tc>
                <a:tc gridSpan="2">
                  <a:txBody>
                    <a:bodyPr/>
                    <a:lstStyle/>
                    <a:p>
                      <a:pPr algn="ctr"/>
                      <a:r>
                        <a:rPr lang="en-US" sz="1050">
                          <a:effectLst/>
                        </a:rPr>
                        <a:t>Upper</a:t>
                      </a:r>
                    </a:p>
                  </a:txBody>
                  <a:tcPr marL="13222" marR="13222" marT="6611" marB="6611" anchor="ctr">
                    <a:lnL>
                      <a:noFill/>
                    </a:lnL>
                    <a:lnR>
                      <a:noFill/>
                    </a:lnR>
                    <a:lnT w="5416" cap="flat" cmpd="sng" algn="ctr">
                      <a:solidFill>
                        <a:srgbClr val="333333"/>
                      </a:solidFill>
                      <a:prstDash val="solid"/>
                      <a:round/>
                      <a:headEnd type="none" w="med" len="med"/>
                      <a:tailEnd type="none" w="med" len="med"/>
                    </a:lnT>
                    <a:lnB w="5416" cap="flat" cmpd="sng" algn="ctr">
                      <a:solidFill>
                        <a:srgbClr val="333333"/>
                      </a:solidFill>
                      <a:prstDash val="solid"/>
                      <a:round/>
                      <a:headEnd type="none" w="med" len="med"/>
                      <a:tailEnd type="none" w="med" len="med"/>
                    </a:lnB>
                    <a:noFill/>
                  </a:tcPr>
                </a:tc>
                <a:tc hMerge="1">
                  <a:txBody>
                    <a:bodyPr/>
                    <a:lstStyle/>
                    <a:p>
                      <a:endParaRPr lang="en-US"/>
                    </a:p>
                  </a:txBody>
                  <a:tcPr/>
                </a:tc>
                <a:tc gridSpan="2">
                  <a:txBody>
                    <a:bodyPr/>
                    <a:lstStyle/>
                    <a:p>
                      <a:pPr algn="ctr"/>
                      <a:r>
                        <a:rPr lang="el-GR" sz="1050">
                          <a:effectLst/>
                        </a:rPr>
                        <a:t>β</a:t>
                      </a:r>
                    </a:p>
                  </a:txBody>
                  <a:tcPr marL="13222" marR="13222" marT="6611" marB="6611" anchor="ctr">
                    <a:lnL>
                      <a:noFill/>
                    </a:lnL>
                    <a:lnR>
                      <a:noFill/>
                    </a:lnR>
                    <a:lnT>
                      <a:noFill/>
                    </a:lnT>
                    <a:lnB w="5416" cap="flat" cmpd="sng" algn="ctr">
                      <a:solidFill>
                        <a:srgbClr val="333333"/>
                      </a:solidFill>
                      <a:prstDash val="solid"/>
                      <a:round/>
                      <a:headEnd type="none" w="med" len="med"/>
                      <a:tailEnd type="none" w="med" len="med"/>
                    </a:lnB>
                    <a:noFill/>
                  </a:tcPr>
                </a:tc>
                <a:tc hMerge="1">
                  <a:txBody>
                    <a:bodyPr/>
                    <a:lstStyle/>
                    <a:p>
                      <a:endParaRPr lang="en-US"/>
                    </a:p>
                  </a:txBody>
                  <a:tcPr/>
                </a:tc>
                <a:tc gridSpan="2">
                  <a:txBody>
                    <a:bodyPr/>
                    <a:lstStyle/>
                    <a:p>
                      <a:pPr algn="ctr"/>
                      <a:r>
                        <a:rPr lang="en-US" sz="1050">
                          <a:effectLst/>
                        </a:rPr>
                        <a:t>z</a:t>
                      </a:r>
                    </a:p>
                  </a:txBody>
                  <a:tcPr marL="13222" marR="13222" marT="6611" marB="6611" anchor="ctr">
                    <a:lnL>
                      <a:noFill/>
                    </a:lnL>
                    <a:lnR>
                      <a:noFill/>
                    </a:lnR>
                    <a:lnT>
                      <a:noFill/>
                    </a:lnT>
                    <a:lnB w="5416" cap="flat" cmpd="sng" algn="ctr">
                      <a:solidFill>
                        <a:srgbClr val="333333"/>
                      </a:solidFill>
                      <a:prstDash val="solid"/>
                      <a:round/>
                      <a:headEnd type="none" w="med" len="med"/>
                      <a:tailEnd type="none" w="med" len="med"/>
                    </a:lnB>
                    <a:noFill/>
                  </a:tcPr>
                </a:tc>
                <a:tc hMerge="1">
                  <a:txBody>
                    <a:bodyPr/>
                    <a:lstStyle/>
                    <a:p>
                      <a:endParaRPr lang="en-US"/>
                    </a:p>
                  </a:txBody>
                  <a:tcPr/>
                </a:tc>
                <a:tc gridSpan="2">
                  <a:txBody>
                    <a:bodyPr/>
                    <a:lstStyle/>
                    <a:p>
                      <a:pPr algn="ctr"/>
                      <a:r>
                        <a:rPr lang="en-US" sz="1050">
                          <a:effectLst/>
                        </a:rPr>
                        <a:t>p</a:t>
                      </a:r>
                    </a:p>
                  </a:txBody>
                  <a:tcPr marL="13222" marR="13222" marT="6611" marB="6611" anchor="ctr">
                    <a:lnL>
                      <a:noFill/>
                    </a:lnL>
                    <a:lnR>
                      <a:noFill/>
                    </a:lnR>
                    <a:lnT>
                      <a:noFill/>
                    </a:lnT>
                    <a:lnB w="5416" cap="flat" cmpd="sng" algn="ctr">
                      <a:solidFill>
                        <a:srgbClr val="333333"/>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3838487"/>
                  </a:ext>
                </a:extLst>
              </a:tr>
              <a:tr h="477827">
                <a:tc gridSpan="2">
                  <a:txBody>
                    <a:bodyPr/>
                    <a:lstStyle/>
                    <a:p>
                      <a:r>
                        <a:rPr lang="en-US" sz="1050" dirty="0">
                          <a:effectLst/>
                        </a:rPr>
                        <a:t>Indirect</a:t>
                      </a:r>
                    </a:p>
                  </a:txBody>
                  <a:tcPr marL="13222" marR="27767" marT="13222" marB="3306" anchor="ctr">
                    <a:lnL>
                      <a:noFill/>
                    </a:lnL>
                    <a:lnR>
                      <a:noFill/>
                    </a:lnR>
                    <a:lnT w="5416" cap="flat" cmpd="sng" algn="ctr">
                      <a:solidFill>
                        <a:srgbClr val="333333"/>
                      </a:solidFill>
                      <a:prstDash val="solid"/>
                      <a:round/>
                      <a:headEnd type="none" w="med" len="med"/>
                      <a:tailEnd type="none" w="med" len="med"/>
                    </a:lnT>
                    <a:lnB>
                      <a:noFill/>
                    </a:lnB>
                    <a:noFill/>
                  </a:tcPr>
                </a:tc>
                <a:tc hMerge="1">
                  <a:txBody>
                    <a:bodyPr/>
                    <a:lstStyle/>
                    <a:p>
                      <a:endParaRPr lang="en-US" sz="1050" dirty="0">
                        <a:effectLst/>
                      </a:endParaRPr>
                    </a:p>
                  </a:txBody>
                  <a:tcPr marL="3306" marR="13222"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r>
                        <a:rPr lang="en-US" sz="1050" dirty="0">
                          <a:effectLst/>
                        </a:rPr>
                        <a:t>PU_MEAN ⇒ TR_MEAN ⇒ RI_MEAN</a:t>
                      </a:r>
                    </a:p>
                  </a:txBody>
                  <a:tcPr marL="13222" marR="27767"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endParaRPr lang="en-US" sz="1050">
                        <a:effectLst/>
                      </a:endParaRPr>
                    </a:p>
                  </a:txBody>
                  <a:tcPr marL="3306" marR="13222"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pPr algn="r"/>
                      <a:r>
                        <a:rPr lang="en-US" sz="1050">
                          <a:effectLst/>
                        </a:rPr>
                        <a:t>0.165</a:t>
                      </a:r>
                    </a:p>
                  </a:txBody>
                  <a:tcPr marL="13222" marR="27767"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endParaRPr lang="en-US" sz="1050">
                        <a:effectLst/>
                      </a:endParaRPr>
                    </a:p>
                  </a:txBody>
                  <a:tcPr marL="3306" marR="13222"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pPr algn="r"/>
                      <a:r>
                        <a:rPr lang="en-US" sz="1050">
                          <a:effectLst/>
                        </a:rPr>
                        <a:t>0.0407</a:t>
                      </a:r>
                    </a:p>
                  </a:txBody>
                  <a:tcPr marL="13222" marR="27767"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endParaRPr lang="en-US" sz="1050">
                        <a:effectLst/>
                      </a:endParaRPr>
                    </a:p>
                  </a:txBody>
                  <a:tcPr marL="3306" marR="13222"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pPr algn="r"/>
                      <a:r>
                        <a:rPr lang="en-US" sz="1050">
                          <a:effectLst/>
                        </a:rPr>
                        <a:t>0.08490</a:t>
                      </a:r>
                    </a:p>
                  </a:txBody>
                  <a:tcPr marL="13222" marR="27767"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endParaRPr lang="en-US" sz="1050">
                        <a:effectLst/>
                      </a:endParaRPr>
                    </a:p>
                  </a:txBody>
                  <a:tcPr marL="3306" marR="13222"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pPr algn="r"/>
                      <a:r>
                        <a:rPr lang="en-US" sz="1050">
                          <a:effectLst/>
                        </a:rPr>
                        <a:t>0.245</a:t>
                      </a:r>
                    </a:p>
                  </a:txBody>
                  <a:tcPr marL="13222" marR="27767"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endParaRPr lang="en-US" sz="1050">
                        <a:effectLst/>
                      </a:endParaRPr>
                    </a:p>
                  </a:txBody>
                  <a:tcPr marL="3306" marR="13222"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pPr algn="r"/>
                      <a:r>
                        <a:rPr lang="en-US" sz="1050">
                          <a:effectLst/>
                        </a:rPr>
                        <a:t>0.152</a:t>
                      </a:r>
                    </a:p>
                  </a:txBody>
                  <a:tcPr marL="13222" marR="27767"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endParaRPr lang="en-US" sz="1050">
                        <a:effectLst/>
                      </a:endParaRPr>
                    </a:p>
                  </a:txBody>
                  <a:tcPr marL="3306" marR="13222"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pPr algn="r"/>
                      <a:r>
                        <a:rPr lang="en-US" sz="1050">
                          <a:effectLst/>
                        </a:rPr>
                        <a:t>4.05</a:t>
                      </a:r>
                    </a:p>
                  </a:txBody>
                  <a:tcPr marL="13222" marR="27767"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endParaRPr lang="en-US" sz="1050">
                        <a:effectLst/>
                      </a:endParaRPr>
                    </a:p>
                  </a:txBody>
                  <a:tcPr marL="3306" marR="13222"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pPr algn="r"/>
                      <a:r>
                        <a:rPr lang="en-US" sz="1050">
                          <a:effectLst/>
                        </a:rPr>
                        <a:t>&lt; .001</a:t>
                      </a:r>
                    </a:p>
                  </a:txBody>
                  <a:tcPr marL="13222" marR="27767" marT="13222" marB="3306" anchor="ctr">
                    <a:lnL>
                      <a:noFill/>
                    </a:lnL>
                    <a:lnR>
                      <a:noFill/>
                    </a:lnR>
                    <a:lnT w="5416" cap="flat" cmpd="sng" algn="ctr">
                      <a:solidFill>
                        <a:srgbClr val="333333"/>
                      </a:solidFill>
                      <a:prstDash val="solid"/>
                      <a:round/>
                      <a:headEnd type="none" w="med" len="med"/>
                      <a:tailEnd type="none" w="med" len="med"/>
                    </a:lnT>
                    <a:lnB>
                      <a:noFill/>
                    </a:lnB>
                    <a:noFill/>
                  </a:tcPr>
                </a:tc>
                <a:tc>
                  <a:txBody>
                    <a:bodyPr/>
                    <a:lstStyle/>
                    <a:p>
                      <a:endParaRPr lang="en-US" sz="1050">
                        <a:effectLst/>
                      </a:endParaRPr>
                    </a:p>
                  </a:txBody>
                  <a:tcPr marL="3306" marR="13222" marT="13222" marB="3306" anchor="ctr">
                    <a:lnL>
                      <a:noFill/>
                    </a:lnL>
                    <a:lnR>
                      <a:noFill/>
                    </a:lnR>
                    <a:lnT w="5416" cap="flat" cmpd="sng" algn="ctr">
                      <a:solidFill>
                        <a:srgbClr val="333333"/>
                      </a:solidFill>
                      <a:prstDash val="solid"/>
                      <a:round/>
                      <a:headEnd type="none" w="med" len="med"/>
                      <a:tailEnd type="none" w="med" len="med"/>
                    </a:lnT>
                    <a:lnB>
                      <a:noFill/>
                    </a:lnB>
                    <a:noFill/>
                  </a:tcPr>
                </a:tc>
                <a:extLst>
                  <a:ext uri="{0D108BD9-81ED-4DB2-BD59-A6C34878D82A}">
                    <a16:rowId xmlns:a16="http://schemas.microsoft.com/office/drawing/2014/main" val="3506780154"/>
                  </a:ext>
                </a:extLst>
              </a:tr>
              <a:tr h="427714">
                <a:tc gridSpan="2">
                  <a:txBody>
                    <a:bodyPr/>
                    <a:lstStyle/>
                    <a:p>
                      <a:r>
                        <a:rPr lang="en-US" sz="1050" dirty="0">
                          <a:effectLst/>
                        </a:rPr>
                        <a:t> </a:t>
                      </a:r>
                    </a:p>
                  </a:txBody>
                  <a:tcPr marL="13222" marR="27767" marT="3306" marB="3306" anchor="ctr">
                    <a:lnL>
                      <a:noFill/>
                    </a:lnL>
                    <a:lnR>
                      <a:noFill/>
                    </a:lnR>
                    <a:lnT>
                      <a:noFill/>
                    </a:lnT>
                    <a:lnB>
                      <a:noFill/>
                    </a:lnB>
                    <a:noFill/>
                  </a:tcPr>
                </a:tc>
                <a:tc hMerge="1">
                  <a:txBody>
                    <a:bodyPr/>
                    <a:lstStyle/>
                    <a:p>
                      <a:endParaRPr lang="en-US" sz="1050" dirty="0">
                        <a:effectLst/>
                      </a:endParaRPr>
                    </a:p>
                  </a:txBody>
                  <a:tcPr marL="3306" marR="13222" marT="3306" marB="3306" anchor="ctr">
                    <a:lnL>
                      <a:noFill/>
                    </a:lnL>
                    <a:lnR>
                      <a:noFill/>
                    </a:lnR>
                    <a:lnT>
                      <a:noFill/>
                    </a:lnT>
                    <a:lnB>
                      <a:noFill/>
                    </a:lnB>
                    <a:noFill/>
                  </a:tcPr>
                </a:tc>
                <a:tc>
                  <a:txBody>
                    <a:bodyPr/>
                    <a:lstStyle/>
                    <a:p>
                      <a:r>
                        <a:rPr lang="en-US" sz="1050">
                          <a:effectLst/>
                        </a:rPr>
                        <a:t>PEOU_MEAN ⇒ TR_MEAN ⇒ RI_MEAN</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0.184</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0.0457</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0.09478</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0.274</a:t>
                      </a:r>
                    </a:p>
                  </a:txBody>
                  <a:tcPr marL="13222" marR="27767" marT="3306" marB="3306" anchor="ctr">
                    <a:lnL>
                      <a:noFill/>
                    </a:lnL>
                    <a:lnR>
                      <a:noFill/>
                    </a:lnR>
                    <a:lnT>
                      <a:noFill/>
                    </a:lnT>
                    <a:lnB>
                      <a:noFill/>
                    </a:lnB>
                    <a:noFill/>
                  </a:tcPr>
                </a:tc>
                <a:tc>
                  <a:txBody>
                    <a:bodyPr/>
                    <a:lstStyle/>
                    <a:p>
                      <a:endParaRPr lang="en-US" sz="1050" dirty="0">
                        <a:effectLst/>
                      </a:endParaRPr>
                    </a:p>
                  </a:txBody>
                  <a:tcPr marL="3306" marR="13222" marT="3306" marB="3306" anchor="ctr">
                    <a:lnL>
                      <a:noFill/>
                    </a:lnL>
                    <a:lnR>
                      <a:noFill/>
                    </a:lnR>
                    <a:lnT>
                      <a:noFill/>
                    </a:lnT>
                    <a:lnB>
                      <a:noFill/>
                    </a:lnB>
                    <a:noFill/>
                  </a:tcPr>
                </a:tc>
                <a:tc>
                  <a:txBody>
                    <a:bodyPr/>
                    <a:lstStyle/>
                    <a:p>
                      <a:pPr algn="r"/>
                      <a:r>
                        <a:rPr lang="en-US" sz="1050">
                          <a:effectLst/>
                        </a:rPr>
                        <a:t>0.151</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4.03</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&lt; .001</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extLst>
                  <a:ext uri="{0D108BD9-81ED-4DB2-BD59-A6C34878D82A}">
                    <a16:rowId xmlns:a16="http://schemas.microsoft.com/office/drawing/2014/main" val="3664917688"/>
                  </a:ext>
                </a:extLst>
              </a:tr>
              <a:tr h="374966">
                <a:tc>
                  <a:txBody>
                    <a:bodyPr/>
                    <a:lstStyle/>
                    <a:p>
                      <a:r>
                        <a:rPr lang="en-US" sz="1050">
                          <a:effectLst/>
                        </a:rPr>
                        <a:t>Component</a:t>
                      </a:r>
                    </a:p>
                  </a:txBody>
                  <a:tcPr marL="13222" marR="27767" marT="3306" marB="3306" anchor="ctr">
                    <a:lnL>
                      <a:noFill/>
                    </a:lnL>
                    <a:lnR>
                      <a:noFill/>
                    </a:lnR>
                    <a:lnT>
                      <a:noFill/>
                    </a:lnT>
                    <a:lnB>
                      <a:noFill/>
                    </a:lnB>
                    <a:noFill/>
                  </a:tcPr>
                </a:tc>
                <a:tc>
                  <a:txBody>
                    <a:bodyPr/>
                    <a:lstStyle/>
                    <a:p>
                      <a:endParaRPr lang="en-US" sz="1050" dirty="0">
                        <a:effectLst/>
                      </a:endParaRPr>
                    </a:p>
                  </a:txBody>
                  <a:tcPr marL="3306" marR="13222" marT="3306" marB="3306" anchor="ctr">
                    <a:lnL>
                      <a:noFill/>
                    </a:lnL>
                    <a:lnR>
                      <a:noFill/>
                    </a:lnR>
                    <a:lnT>
                      <a:noFill/>
                    </a:lnT>
                    <a:lnB>
                      <a:noFill/>
                    </a:lnB>
                    <a:noFill/>
                  </a:tcPr>
                </a:tc>
                <a:tc>
                  <a:txBody>
                    <a:bodyPr/>
                    <a:lstStyle/>
                    <a:p>
                      <a:r>
                        <a:rPr lang="en-US" sz="1050">
                          <a:effectLst/>
                        </a:rPr>
                        <a:t>PU_MEAN ⇒ TR_MEAN</a:t>
                      </a:r>
                    </a:p>
                  </a:txBody>
                  <a:tcPr marL="39667" marR="27767" marT="3306" marB="3306" anchor="ctr">
                    <a:lnL>
                      <a:noFill/>
                    </a:lnL>
                    <a:lnR>
                      <a:noFill/>
                    </a:lnR>
                    <a:lnT>
                      <a:noFill/>
                    </a:lnT>
                    <a:lnB>
                      <a:noFill/>
                    </a:lnB>
                    <a:noFill/>
                  </a:tcPr>
                </a:tc>
                <a:tc>
                  <a:txBody>
                    <a:bodyPr/>
                    <a:lstStyle/>
                    <a:p>
                      <a:endParaRPr lang="en-US" sz="1050" dirty="0">
                        <a:effectLst/>
                      </a:endParaRPr>
                    </a:p>
                  </a:txBody>
                  <a:tcPr marL="3306" marR="13222" marT="3306" marB="3306" anchor="ctr">
                    <a:lnL>
                      <a:noFill/>
                    </a:lnL>
                    <a:lnR>
                      <a:noFill/>
                    </a:lnR>
                    <a:lnT>
                      <a:noFill/>
                    </a:lnT>
                    <a:lnB>
                      <a:noFill/>
                    </a:lnB>
                    <a:noFill/>
                  </a:tcPr>
                </a:tc>
                <a:tc>
                  <a:txBody>
                    <a:bodyPr/>
                    <a:lstStyle/>
                    <a:p>
                      <a:pPr algn="r"/>
                      <a:r>
                        <a:rPr lang="en-US" sz="1050">
                          <a:effectLst/>
                        </a:rPr>
                        <a:t>0.339</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dirty="0">
                          <a:effectLst/>
                        </a:rPr>
                        <a:t>0.0705</a:t>
                      </a:r>
                    </a:p>
                  </a:txBody>
                  <a:tcPr marL="13222" marR="27767" marT="3306" marB="3306" anchor="ctr">
                    <a:lnL>
                      <a:noFill/>
                    </a:lnL>
                    <a:lnR>
                      <a:noFill/>
                    </a:lnR>
                    <a:lnT>
                      <a:noFill/>
                    </a:lnT>
                    <a:lnB>
                      <a:noFill/>
                    </a:lnB>
                    <a:noFill/>
                  </a:tcPr>
                </a:tc>
                <a:tc>
                  <a:txBody>
                    <a:bodyPr/>
                    <a:lstStyle/>
                    <a:p>
                      <a:endParaRPr lang="en-US" sz="1050" dirty="0">
                        <a:effectLst/>
                      </a:endParaRPr>
                    </a:p>
                  </a:txBody>
                  <a:tcPr marL="3306" marR="13222" marT="3306" marB="3306" anchor="ctr">
                    <a:lnL>
                      <a:noFill/>
                    </a:lnL>
                    <a:lnR>
                      <a:noFill/>
                    </a:lnR>
                    <a:lnT>
                      <a:noFill/>
                    </a:lnT>
                    <a:lnB>
                      <a:noFill/>
                    </a:lnB>
                    <a:noFill/>
                  </a:tcPr>
                </a:tc>
                <a:tc>
                  <a:txBody>
                    <a:bodyPr/>
                    <a:lstStyle/>
                    <a:p>
                      <a:pPr algn="r"/>
                      <a:r>
                        <a:rPr lang="en-US" sz="1050">
                          <a:effectLst/>
                        </a:rPr>
                        <a:t>0.20040</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0.477</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0.332</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4.80</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&lt; .001</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extLst>
                  <a:ext uri="{0D108BD9-81ED-4DB2-BD59-A6C34878D82A}">
                    <a16:rowId xmlns:a16="http://schemas.microsoft.com/office/drawing/2014/main" val="3078988267"/>
                  </a:ext>
                </a:extLst>
              </a:tr>
              <a:tr h="374966">
                <a:tc>
                  <a:txBody>
                    <a:bodyPr/>
                    <a:lstStyle/>
                    <a:p>
                      <a:r>
                        <a:rPr lang="en-US" sz="1050">
                          <a:effectLst/>
                        </a:rPr>
                        <a:t> </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r>
                        <a:rPr lang="en-US" sz="1050">
                          <a:effectLst/>
                        </a:rPr>
                        <a:t>TR_MEAN ⇒ RI_MEAN</a:t>
                      </a:r>
                    </a:p>
                  </a:txBody>
                  <a:tcPr marL="39667"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dirty="0">
                          <a:effectLst/>
                        </a:rPr>
                        <a:t>0.486</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0.0648</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0.35943</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0.613</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0.458</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7.51</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&lt; .001</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extLst>
                  <a:ext uri="{0D108BD9-81ED-4DB2-BD59-A6C34878D82A}">
                    <a16:rowId xmlns:a16="http://schemas.microsoft.com/office/drawing/2014/main" val="2403755266"/>
                  </a:ext>
                </a:extLst>
              </a:tr>
              <a:tr h="374966">
                <a:tc>
                  <a:txBody>
                    <a:bodyPr/>
                    <a:lstStyle/>
                    <a:p>
                      <a:r>
                        <a:rPr lang="en-US" sz="1050">
                          <a:effectLst/>
                        </a:rPr>
                        <a:t> </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r>
                        <a:rPr lang="en-US" sz="1050">
                          <a:effectLst/>
                        </a:rPr>
                        <a:t>PEOU_MEAN ⇒ TR_MEAN</a:t>
                      </a:r>
                    </a:p>
                  </a:txBody>
                  <a:tcPr marL="39667"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0.379</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0.0793</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0.22368</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0.534</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0.331</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4.78</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&lt; .001</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extLst>
                  <a:ext uri="{0D108BD9-81ED-4DB2-BD59-A6C34878D82A}">
                    <a16:rowId xmlns:a16="http://schemas.microsoft.com/office/drawing/2014/main" val="2348548857"/>
                  </a:ext>
                </a:extLst>
              </a:tr>
              <a:tr h="293992">
                <a:tc>
                  <a:txBody>
                    <a:bodyPr/>
                    <a:lstStyle/>
                    <a:p>
                      <a:r>
                        <a:rPr lang="en-US" sz="1050">
                          <a:effectLst/>
                        </a:rPr>
                        <a:t>Direct</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r>
                        <a:rPr lang="en-US" sz="1050">
                          <a:effectLst/>
                        </a:rPr>
                        <a:t>PU_MEAN ⇒ RI_MEAN</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0.130</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0.0682</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-0.00365</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0.264</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0.120</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1.91</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0.057</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extLst>
                  <a:ext uri="{0D108BD9-81ED-4DB2-BD59-A6C34878D82A}">
                    <a16:rowId xmlns:a16="http://schemas.microsoft.com/office/drawing/2014/main" val="3972846977"/>
                  </a:ext>
                </a:extLst>
              </a:tr>
              <a:tr h="283048">
                <a:tc>
                  <a:txBody>
                    <a:bodyPr/>
                    <a:lstStyle/>
                    <a:p>
                      <a:r>
                        <a:rPr lang="en-US" sz="1050">
                          <a:effectLst/>
                        </a:rPr>
                        <a:t> </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r>
                        <a:rPr lang="en-US" sz="1050">
                          <a:effectLst/>
                        </a:rPr>
                        <a:t>PEOU_MEAN ⇒ RI_MEAN</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0.321</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0.0767</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0.17111</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0.472</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0.264</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4.19</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&lt; .001</a:t>
                      </a:r>
                    </a:p>
                  </a:txBody>
                  <a:tcPr marL="13222" marR="27767" marT="3306"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extLst>
                  <a:ext uri="{0D108BD9-81ED-4DB2-BD59-A6C34878D82A}">
                    <a16:rowId xmlns:a16="http://schemas.microsoft.com/office/drawing/2014/main" val="3751672844"/>
                  </a:ext>
                </a:extLst>
              </a:tr>
              <a:tr h="293992">
                <a:tc>
                  <a:txBody>
                    <a:bodyPr/>
                    <a:lstStyle/>
                    <a:p>
                      <a:r>
                        <a:rPr lang="en-US" sz="1050">
                          <a:effectLst/>
                        </a:rPr>
                        <a:t>Total</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r>
                        <a:rPr lang="en-US" sz="1050">
                          <a:effectLst/>
                        </a:rPr>
                        <a:t>PU_MEAN ⇒ RI_MEAN</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0.295</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0.0733</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0.15107</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0.439</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0.272</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4.02</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tc>
                  <a:txBody>
                    <a:bodyPr/>
                    <a:lstStyle/>
                    <a:p>
                      <a:pPr algn="r"/>
                      <a:r>
                        <a:rPr lang="en-US" sz="1050">
                          <a:effectLst/>
                        </a:rPr>
                        <a:t>&lt; .001</a:t>
                      </a:r>
                    </a:p>
                  </a:txBody>
                  <a:tcPr marL="13222" marR="27767" marT="13222" marB="3306" anchor="ctr">
                    <a:lnL>
                      <a:noFill/>
                    </a:lnL>
                    <a:lnR>
                      <a:noFill/>
                    </a:lnR>
                    <a:lnT>
                      <a:noFill/>
                    </a:lnT>
                    <a:lnB>
                      <a:noFill/>
                    </a:lnB>
                    <a:noFill/>
                  </a:tcPr>
                </a:tc>
                <a:tc>
                  <a:txBody>
                    <a:bodyPr/>
                    <a:lstStyle/>
                    <a:p>
                      <a:endParaRPr lang="en-US" sz="1050">
                        <a:effectLst/>
                      </a:endParaRPr>
                    </a:p>
                  </a:txBody>
                  <a:tcPr marL="3306" marR="13222" marT="3306" marB="3306" anchor="ctr">
                    <a:lnL>
                      <a:noFill/>
                    </a:lnL>
                    <a:lnR>
                      <a:noFill/>
                    </a:lnR>
                    <a:lnT>
                      <a:noFill/>
                    </a:lnT>
                    <a:lnB>
                      <a:noFill/>
                    </a:lnB>
                    <a:noFill/>
                  </a:tcPr>
                </a:tc>
                <a:extLst>
                  <a:ext uri="{0D108BD9-81ED-4DB2-BD59-A6C34878D82A}">
                    <a16:rowId xmlns:a16="http://schemas.microsoft.com/office/drawing/2014/main" val="2308105046"/>
                  </a:ext>
                </a:extLst>
              </a:tr>
              <a:tr h="293992">
                <a:tc>
                  <a:txBody>
                    <a:bodyPr/>
                    <a:lstStyle/>
                    <a:p>
                      <a:r>
                        <a:rPr lang="en-US" sz="1050">
                          <a:effectLst/>
                        </a:rPr>
                        <a:t> </a:t>
                      </a:r>
                    </a:p>
                  </a:txBody>
                  <a:tcPr marL="13222" marR="27767"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endParaRPr lang="en-US" sz="1050">
                        <a:effectLst/>
                      </a:endParaRPr>
                    </a:p>
                  </a:txBody>
                  <a:tcPr marL="3306" marR="13222"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r>
                        <a:rPr lang="en-US" sz="1050">
                          <a:effectLst/>
                        </a:rPr>
                        <a:t>PEOU_MEAN ⇒ RI_MEAN</a:t>
                      </a:r>
                    </a:p>
                  </a:txBody>
                  <a:tcPr marL="13222" marR="27767"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endParaRPr lang="en-US" sz="1050">
                        <a:effectLst/>
                      </a:endParaRPr>
                    </a:p>
                  </a:txBody>
                  <a:tcPr marL="3306" marR="13222"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pPr algn="r"/>
                      <a:r>
                        <a:rPr lang="en-US" sz="1050">
                          <a:effectLst/>
                        </a:rPr>
                        <a:t>0.506</a:t>
                      </a:r>
                    </a:p>
                  </a:txBody>
                  <a:tcPr marL="13222" marR="27767"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endParaRPr lang="en-US" sz="1050">
                        <a:effectLst/>
                      </a:endParaRPr>
                    </a:p>
                  </a:txBody>
                  <a:tcPr marL="3306" marR="13222"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pPr algn="r"/>
                      <a:r>
                        <a:rPr lang="en-US" sz="1050">
                          <a:effectLst/>
                        </a:rPr>
                        <a:t>0.0825</a:t>
                      </a:r>
                    </a:p>
                  </a:txBody>
                  <a:tcPr marL="13222" marR="27767"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endParaRPr lang="en-US" sz="1050">
                        <a:effectLst/>
                      </a:endParaRPr>
                    </a:p>
                  </a:txBody>
                  <a:tcPr marL="3306" marR="13222"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pPr algn="r"/>
                      <a:r>
                        <a:rPr lang="en-US" sz="1050">
                          <a:effectLst/>
                        </a:rPr>
                        <a:t>0.34421</a:t>
                      </a:r>
                    </a:p>
                  </a:txBody>
                  <a:tcPr marL="13222" marR="27767"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endParaRPr lang="en-US" sz="1050">
                        <a:effectLst/>
                      </a:endParaRPr>
                    </a:p>
                  </a:txBody>
                  <a:tcPr marL="3306" marR="13222"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pPr algn="r"/>
                      <a:r>
                        <a:rPr lang="en-US" sz="1050">
                          <a:effectLst/>
                        </a:rPr>
                        <a:t>0.667</a:t>
                      </a:r>
                    </a:p>
                  </a:txBody>
                  <a:tcPr marL="13222" marR="27767"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endParaRPr lang="en-US" sz="1050">
                        <a:effectLst/>
                      </a:endParaRPr>
                    </a:p>
                  </a:txBody>
                  <a:tcPr marL="3306" marR="13222"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pPr algn="r"/>
                      <a:r>
                        <a:rPr lang="en-US" sz="1050">
                          <a:effectLst/>
                        </a:rPr>
                        <a:t>0.415</a:t>
                      </a:r>
                    </a:p>
                  </a:txBody>
                  <a:tcPr marL="13222" marR="27767"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endParaRPr lang="en-US" sz="1050">
                        <a:effectLst/>
                      </a:endParaRPr>
                    </a:p>
                  </a:txBody>
                  <a:tcPr marL="3306" marR="13222"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pPr algn="r"/>
                      <a:r>
                        <a:rPr lang="en-US" sz="1050">
                          <a:effectLst/>
                        </a:rPr>
                        <a:t>6.13</a:t>
                      </a:r>
                    </a:p>
                  </a:txBody>
                  <a:tcPr marL="13222" marR="27767"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endParaRPr lang="en-US" sz="1050">
                        <a:effectLst/>
                      </a:endParaRPr>
                    </a:p>
                  </a:txBody>
                  <a:tcPr marL="3306" marR="13222"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pPr algn="r"/>
                      <a:r>
                        <a:rPr lang="en-US" sz="1050">
                          <a:effectLst/>
                        </a:rPr>
                        <a:t>&lt; .001</a:t>
                      </a:r>
                    </a:p>
                  </a:txBody>
                  <a:tcPr marL="13222" marR="27767" marT="3306" marB="13222" anchor="ctr">
                    <a:lnL>
                      <a:noFill/>
                    </a:lnL>
                    <a:lnR>
                      <a:noFill/>
                    </a:lnR>
                    <a:lnT>
                      <a:noFill/>
                    </a:lnT>
                    <a:lnB w="10869" cap="flat" cmpd="sng" algn="ctr">
                      <a:solidFill>
                        <a:srgbClr val="333333"/>
                      </a:solidFill>
                      <a:prstDash val="solid"/>
                      <a:round/>
                      <a:headEnd type="none" w="med" len="med"/>
                      <a:tailEnd type="none" w="med" len="med"/>
                    </a:lnB>
                    <a:noFill/>
                  </a:tcPr>
                </a:tc>
                <a:tc>
                  <a:txBody>
                    <a:bodyPr/>
                    <a:lstStyle/>
                    <a:p>
                      <a:endParaRPr lang="en-US" sz="1050">
                        <a:effectLst/>
                      </a:endParaRPr>
                    </a:p>
                  </a:txBody>
                  <a:tcPr marL="3306" marR="13222" marT="3306" marB="13222" anchor="ctr">
                    <a:lnL>
                      <a:noFill/>
                    </a:lnL>
                    <a:lnR>
                      <a:noFill/>
                    </a:lnR>
                    <a:lnT>
                      <a:noFill/>
                    </a:lnT>
                    <a:lnB w="10869" cap="flat" cmpd="sng" algn="ctr">
                      <a:solidFill>
                        <a:srgbClr val="333333"/>
                      </a:solidFill>
                      <a:prstDash val="solid"/>
                      <a:round/>
                      <a:headEnd type="none" w="med" len="med"/>
                      <a:tailEnd type="none" w="med" len="med"/>
                    </a:lnB>
                    <a:noFill/>
                  </a:tcPr>
                </a:tc>
                <a:extLst>
                  <a:ext uri="{0D108BD9-81ED-4DB2-BD59-A6C34878D82A}">
                    <a16:rowId xmlns:a16="http://schemas.microsoft.com/office/drawing/2014/main" val="1272350386"/>
                  </a:ext>
                </a:extLst>
              </a:tr>
              <a:tr h="106508">
                <a:tc gridSpan="18">
                  <a:txBody>
                    <a:bodyPr/>
                    <a:lstStyle/>
                    <a:p>
                      <a:r>
                        <a:rPr lang="en-US" sz="1050" b="0" i="1">
                          <a:effectLst/>
                        </a:rPr>
                        <a:t>Note.</a:t>
                      </a:r>
                      <a:r>
                        <a:rPr lang="en-US" sz="1050">
                          <a:effectLst/>
                        </a:rPr>
                        <a:t> Confidence intervals computed with method: Standard (Delta method)</a:t>
                      </a:r>
                    </a:p>
                  </a:txBody>
                  <a:tcPr marL="13222" marR="13222" marT="9917" marB="3306" anchor="ctr">
                    <a:lnL>
                      <a:noFill/>
                    </a:lnL>
                    <a:lnR>
                      <a:noFill/>
                    </a:lnR>
                    <a:lnT w="10869" cap="flat" cmpd="sng" algn="ctr">
                      <a:solidFill>
                        <a:srgbClr val="333333"/>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53321072"/>
                  </a:ext>
                </a:extLst>
              </a:tr>
              <a:tr h="99213">
                <a:tc gridSpan="18">
                  <a:txBody>
                    <a:bodyPr/>
                    <a:lstStyle/>
                    <a:p>
                      <a:r>
                        <a:rPr lang="en-US" sz="1050" b="0" i="1">
                          <a:effectLst/>
                        </a:rPr>
                        <a:t>Note.</a:t>
                      </a:r>
                      <a:r>
                        <a:rPr lang="en-US" sz="1050">
                          <a:effectLst/>
                        </a:rPr>
                        <a:t> Betas are completely standardized effect sizes</a:t>
                      </a:r>
                    </a:p>
                  </a:txBody>
                  <a:tcPr marL="13222" marR="13222" marT="3306" marB="3306" anchor="ctr">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71131916"/>
                  </a:ext>
                </a:extLst>
              </a:tr>
              <a:tr h="99213">
                <a:tc gridSpan="18">
                  <a:txBody>
                    <a:bodyPr/>
                    <a:lstStyle/>
                    <a:p>
                      <a:endParaRPr lang="en-US" sz="1050" dirty="0">
                        <a:effectLst/>
                      </a:endParaRPr>
                    </a:p>
                  </a:txBody>
                  <a:tcPr marL="13222" marR="13222" marT="3306" marB="3306" anchor="ctr">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55761177"/>
                  </a:ext>
                </a:extLst>
              </a:tr>
            </a:tbl>
          </a:graphicData>
        </a:graphic>
      </p:graphicFrame>
      <p:sp>
        <p:nvSpPr>
          <p:cNvPr id="4" name="Slide Number Placeholder 3">
            <a:extLst>
              <a:ext uri="{FF2B5EF4-FFF2-40B4-BE49-F238E27FC236}">
                <a16:creationId xmlns:a16="http://schemas.microsoft.com/office/drawing/2014/main" id="{E5E818A6-9D5C-3272-B525-25A643133D1D}"/>
              </a:ext>
            </a:extLst>
          </p:cNvPr>
          <p:cNvSpPr>
            <a:spLocks noGrp="1"/>
          </p:cNvSpPr>
          <p:nvPr>
            <p:ph type="sldNum" sz="quarter" idx="10"/>
          </p:nvPr>
        </p:nvSpPr>
        <p:spPr/>
        <p:txBody>
          <a:bodyPr/>
          <a:lstStyle/>
          <a:p>
            <a:fld id="{48F63A3B-78C7-47BE-AE5E-E10140E04643}" type="slidenum">
              <a:rPr lang="en-US" smtClean="0"/>
              <a:pPr/>
              <a:t>33</a:t>
            </a:fld>
            <a:endParaRPr lang="en-US" dirty="0"/>
          </a:p>
        </p:txBody>
      </p:sp>
    </p:spTree>
    <p:extLst>
      <p:ext uri="{BB962C8B-B14F-4D97-AF65-F5344CB8AC3E}">
        <p14:creationId xmlns:p14="http://schemas.microsoft.com/office/powerpoint/2010/main" val="12004512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F2B4C-AC56-72D3-9FF2-45FB6A6356AA}"/>
              </a:ext>
            </a:extLst>
          </p:cNvPr>
          <p:cNvSpPr>
            <a:spLocks noGrp="1"/>
          </p:cNvSpPr>
          <p:nvPr>
            <p:ph type="title"/>
          </p:nvPr>
        </p:nvSpPr>
        <p:spPr/>
        <p:txBody>
          <a:bodyPr/>
          <a:lstStyle/>
          <a:p>
            <a:r>
              <a:rPr lang="en-US" dirty="0"/>
              <a:t>Assignment #3</a:t>
            </a:r>
          </a:p>
        </p:txBody>
      </p:sp>
      <p:sp>
        <p:nvSpPr>
          <p:cNvPr id="3" name="Content Placeholder 2">
            <a:extLst>
              <a:ext uri="{FF2B5EF4-FFF2-40B4-BE49-F238E27FC236}">
                <a16:creationId xmlns:a16="http://schemas.microsoft.com/office/drawing/2014/main" id="{69BEC802-CCCA-5D96-7AEF-1F6C2B2A6020}"/>
              </a:ext>
            </a:extLst>
          </p:cNvPr>
          <p:cNvSpPr>
            <a:spLocks noGrp="1"/>
          </p:cNvSpPr>
          <p:nvPr>
            <p:ph sz="half" idx="2"/>
          </p:nvPr>
        </p:nvSpPr>
        <p:spPr/>
        <p:txBody>
          <a:bodyPr/>
          <a:lstStyle/>
          <a:p>
            <a:pPr marL="0" indent="0">
              <a:buNone/>
            </a:pPr>
            <a:r>
              <a:rPr lang="en-US" dirty="0"/>
              <a:t>S</a:t>
            </a:r>
            <a:r>
              <a:rPr lang="en-US" altLang="zh-CN" dirty="0"/>
              <a:t>ubmit your questionnaire to my email: </a:t>
            </a:r>
            <a:r>
              <a:rPr lang="en-US" sz="1800" b="1" dirty="0">
                <a:effectLst/>
                <a:latin typeface="Calibri" panose="020F0502020204030204" pitchFamily="34" charset="0"/>
                <a:ea typeface="宋体" panose="02010600030101010101" pitchFamily="2" charset="-122"/>
                <a:cs typeface="Cordia New" panose="020B0304020202020204" pitchFamily="34" charset="-34"/>
              </a:rPr>
              <a:t>guqizhen@au.edu</a:t>
            </a:r>
            <a:endParaRPr lang="en-US" altLang="zh-CN" b="1" dirty="0"/>
          </a:p>
          <a:p>
            <a:pPr lvl="1"/>
            <a:r>
              <a:rPr lang="en-US" dirty="0"/>
              <a:t>Section 1: Scanning question (set up 2-3 questions based on your target population) </a:t>
            </a:r>
          </a:p>
          <a:p>
            <a:pPr lvl="1"/>
            <a:r>
              <a:rPr lang="en-US" dirty="0"/>
              <a:t>Section 2: Demographic Question (depend on your research design,  can be Gender; Age; Income; Education level)</a:t>
            </a:r>
          </a:p>
          <a:p>
            <a:pPr lvl="1"/>
            <a:r>
              <a:rPr lang="en-US" dirty="0"/>
              <a:t>Section 3:Scale items (that use to measure all your variables)</a:t>
            </a:r>
          </a:p>
        </p:txBody>
      </p:sp>
      <p:sp>
        <p:nvSpPr>
          <p:cNvPr id="4" name="Slide Number Placeholder 3">
            <a:extLst>
              <a:ext uri="{FF2B5EF4-FFF2-40B4-BE49-F238E27FC236}">
                <a16:creationId xmlns:a16="http://schemas.microsoft.com/office/drawing/2014/main" id="{1D7D82E1-D921-B9CB-0D6E-FDD66EA10C3F}"/>
              </a:ext>
            </a:extLst>
          </p:cNvPr>
          <p:cNvSpPr>
            <a:spLocks noGrp="1"/>
          </p:cNvSpPr>
          <p:nvPr>
            <p:ph type="sldNum" sz="quarter" idx="10"/>
          </p:nvPr>
        </p:nvSpPr>
        <p:spPr/>
        <p:txBody>
          <a:bodyPr/>
          <a:lstStyle/>
          <a:p>
            <a:fld id="{48F63A3B-78C7-47BE-AE5E-E10140E04643}" type="slidenum">
              <a:rPr lang="en-US" smtClean="0"/>
              <a:pPr/>
              <a:t>34</a:t>
            </a:fld>
            <a:endParaRPr lang="en-US" dirty="0"/>
          </a:p>
        </p:txBody>
      </p:sp>
    </p:spTree>
    <p:extLst>
      <p:ext uri="{BB962C8B-B14F-4D97-AF65-F5344CB8AC3E}">
        <p14:creationId xmlns:p14="http://schemas.microsoft.com/office/powerpoint/2010/main" val="2446564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r>
              <a:rPr lang="en-US" sz="1800" dirty="0">
                <a:effectLst/>
                <a:latin typeface="Calibri" panose="020F0502020204030204" pitchFamily="34" charset="0"/>
                <a:ea typeface="等线" panose="02010600030101010101" pitchFamily="2" charset="-122"/>
                <a:cs typeface="Cordia New" panose="020B0304020202020204" pitchFamily="34" charset="-34"/>
              </a:rPr>
              <a:t>Faculty member of </a:t>
            </a:r>
            <a:r>
              <a:rPr lang="en-US" sz="1800" dirty="0">
                <a:latin typeface="Calibri" panose="020F0502020204030204" pitchFamily="34" charset="0"/>
                <a:ea typeface="等线" panose="02010600030101010101" pitchFamily="2" charset="-122"/>
                <a:cs typeface="Cordia New" panose="020B0304020202020204" pitchFamily="34" charset="-34"/>
              </a:rPr>
              <a:t>ITM</a:t>
            </a:r>
            <a:endParaRPr lang="en-US" sz="1800" dirty="0">
              <a:effectLst/>
              <a:latin typeface="Calibri" panose="020F0502020204030204" pitchFamily="34" charset="0"/>
              <a:ea typeface="等线" panose="02010600030101010101" pitchFamily="2" charset="-122"/>
              <a:cs typeface="Cordia New" panose="020B0304020202020204" pitchFamily="34" charset="-34"/>
            </a:endParaRPr>
          </a:p>
          <a:p>
            <a:r>
              <a:rPr lang="en-US" sz="1800" dirty="0">
                <a:effectLst/>
                <a:latin typeface="Calibri" panose="020F0502020204030204" pitchFamily="34" charset="0"/>
                <a:ea typeface="宋体" panose="02010600030101010101" pitchFamily="2" charset="-122"/>
                <a:cs typeface="Cordia New" panose="020B0304020202020204" pitchFamily="34" charset="-34"/>
              </a:rPr>
              <a:t>guqizhen@au.edu</a:t>
            </a:r>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{A19EE2B7-4BD1-416A-835A-83F29D751134}tf78438558_win32</Template>
  <TotalTime>408</TotalTime>
  <Words>1540</Words>
  <Application>Microsoft Office PowerPoint</Application>
  <PresentationFormat>Widescreen</PresentationFormat>
  <Paragraphs>252</Paragraphs>
  <Slides>35</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Poppins-Medium</vt:lpstr>
      <vt:lpstr>Arial</vt:lpstr>
      <vt:lpstr>Arial Black</vt:lpstr>
      <vt:lpstr>Calibri</vt:lpstr>
      <vt:lpstr>georgia</vt:lpstr>
      <vt:lpstr>Sabon Next LT</vt:lpstr>
      <vt:lpstr>Times New Roman</vt:lpstr>
      <vt:lpstr>Custom</vt:lpstr>
      <vt:lpstr>ITM7000 Master project</vt:lpstr>
      <vt:lpstr>Chapter 4 Research methodology</vt:lpstr>
      <vt:lpstr>4.1 Research Design</vt:lpstr>
      <vt:lpstr>4.2 Sampling procedure </vt:lpstr>
      <vt:lpstr>Sample Size Determination Using Krejcie and Morgan Table</vt:lpstr>
      <vt:lpstr>Sample Size Determination Using Krejcie and Morgan Table</vt:lpstr>
      <vt:lpstr>4.3 Research Instrument / Questionnaire Design</vt:lpstr>
      <vt:lpstr>4.4 Data Collection</vt:lpstr>
      <vt:lpstr>4.5 Statistical Treatment of Data</vt:lpstr>
      <vt:lpstr>4.5 Statistical Treatment of Data</vt:lpstr>
      <vt:lpstr>Examples</vt:lpstr>
      <vt:lpstr>Open data</vt:lpstr>
      <vt:lpstr>Open data</vt:lpstr>
      <vt:lpstr>Reliability analysis</vt:lpstr>
      <vt:lpstr>Reliability analysis</vt:lpstr>
      <vt:lpstr>Reliability analysis</vt:lpstr>
      <vt:lpstr>Reliability analysis</vt:lpstr>
      <vt:lpstr>Descriptive analysis</vt:lpstr>
      <vt:lpstr>Descriptive analysis</vt:lpstr>
      <vt:lpstr>Descriptive analysis</vt:lpstr>
      <vt:lpstr>Descriptive analysis</vt:lpstr>
      <vt:lpstr>Descriptive analysis</vt:lpstr>
      <vt:lpstr>Descriptive analysis</vt:lpstr>
      <vt:lpstr>Multiple linear regression</vt:lpstr>
      <vt:lpstr>Multiple linear regression</vt:lpstr>
      <vt:lpstr>Multiple linear regression</vt:lpstr>
      <vt:lpstr>Multiple linear regression</vt:lpstr>
      <vt:lpstr>Multiple linear regression</vt:lpstr>
      <vt:lpstr>Multiple linear regression</vt:lpstr>
      <vt:lpstr>Multiple linear regression</vt:lpstr>
      <vt:lpstr>Examples</vt:lpstr>
      <vt:lpstr>MLR ANALYSIS</vt:lpstr>
      <vt:lpstr>Mediation analysis</vt:lpstr>
      <vt:lpstr>Assignment #3</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Gu Qizhen</dc:creator>
  <cp:lastModifiedBy>Gu Qizhen</cp:lastModifiedBy>
  <cp:revision>7</cp:revision>
  <dcterms:created xsi:type="dcterms:W3CDTF">2025-05-24T16:08:20Z</dcterms:created>
  <dcterms:modified xsi:type="dcterms:W3CDTF">2025-05-31T08:34:33Z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