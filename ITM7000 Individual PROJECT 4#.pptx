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26"/>
  </p:notesMasterIdLst>
  <p:handoutMasterIdLst>
    <p:handoutMasterId r:id="rId27"/>
  </p:handoutMasterIdLst>
  <p:sldIdLst>
    <p:sldId id="312" r:id="rId5"/>
    <p:sldId id="304" r:id="rId6"/>
    <p:sldId id="282" r:id="rId7"/>
    <p:sldId id="349" r:id="rId8"/>
    <p:sldId id="350" r:id="rId9"/>
    <p:sldId id="352" r:id="rId10"/>
    <p:sldId id="354" r:id="rId11"/>
    <p:sldId id="355" r:id="rId12"/>
    <p:sldId id="353" r:id="rId13"/>
    <p:sldId id="356" r:id="rId14"/>
    <p:sldId id="357" r:id="rId15"/>
    <p:sldId id="358" r:id="rId16"/>
    <p:sldId id="359" r:id="rId17"/>
    <p:sldId id="361" r:id="rId18"/>
    <p:sldId id="362" r:id="rId19"/>
    <p:sldId id="363" r:id="rId20"/>
    <p:sldId id="364" r:id="rId21"/>
    <p:sldId id="365" r:id="rId22"/>
    <p:sldId id="366" r:id="rId23"/>
    <p:sldId id="333" r:id="rId24"/>
    <p:sldId id="347" r:id="rId25"/>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15" autoAdjust="0"/>
    <p:restoredTop sz="95388" autoAdjust="0"/>
  </p:normalViewPr>
  <p:slideViewPr>
    <p:cSldViewPr snapToGrid="0" snapToObjects="1">
      <p:cViewPr varScale="1">
        <p:scale>
          <a:sx n="101" d="100"/>
          <a:sy n="101" d="100"/>
        </p:scale>
        <p:origin x="175" y="41"/>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2025</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87736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193977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1AFD3-9D15-D099-786B-6DC3887E2B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1377F6-368D-C901-9A2A-0D63F58E857A}"/>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6EB7810F-A9F0-C87B-2B6F-0A6EC0F182F9}"/>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2579180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31307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p:nvPr>
        </p:nvSpPr>
        <p:spPr>
          <a:xfrm>
            <a:off x="2899790" y="810227"/>
            <a:ext cx="6392421" cy="3831221"/>
          </a:xfrm>
        </p:spPr>
        <p:txBody>
          <a:bodyPr anchor="ctr"/>
          <a:lstStyle/>
          <a:p>
            <a:r>
              <a:rPr lang="en-US" b="0" i="0" dirty="0">
                <a:effectLst/>
                <a:latin typeface="georgia" panose="02040502050405020303" pitchFamily="18" charset="0"/>
              </a:rPr>
              <a:t>ITM7000 </a:t>
            </a:r>
            <a:r>
              <a:rPr lang="en-US" altLang="zh-CN" b="0" i="0" dirty="0">
                <a:effectLst/>
                <a:latin typeface="georgia" panose="02040502050405020303" pitchFamily="18" charset="0"/>
              </a:rPr>
              <a:t>Master project</a:t>
            </a:r>
            <a:endParaRPr lang="en-US" dirty="0"/>
          </a:p>
        </p:txBody>
      </p:sp>
      <p:sp>
        <p:nvSpPr>
          <p:cNvPr id="3" name="Rectangle 2">
            <a:extLst>
              <a:ext uri="{FF2B5EF4-FFF2-40B4-BE49-F238E27FC236}">
                <a16:creationId xmlns:a16="http://schemas.microsoft.com/office/drawing/2014/main" id="{14E859B6-8E4B-6574-3D08-504C7AED16DB}"/>
              </a:ext>
            </a:extLst>
          </p:cNvPr>
          <p:cNvSpPr/>
          <p:nvPr/>
        </p:nvSpPr>
        <p:spPr>
          <a:xfrm>
            <a:off x="1524001" y="6547854"/>
            <a:ext cx="2470484" cy="3048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Dr. Qizhen Gu (Kimi)</a:t>
            </a:r>
          </a:p>
        </p:txBody>
      </p:sp>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21072-4A77-DB4D-DF41-58EADB7DA94E}"/>
              </a:ext>
            </a:extLst>
          </p:cNvPr>
          <p:cNvSpPr>
            <a:spLocks noGrp="1"/>
          </p:cNvSpPr>
          <p:nvPr>
            <p:ph type="title"/>
          </p:nvPr>
        </p:nvSpPr>
        <p:spPr>
          <a:xfrm>
            <a:off x="914400" y="1057274"/>
            <a:ext cx="6583680" cy="1531357"/>
          </a:xfrm>
        </p:spPr>
        <p:txBody>
          <a:bodyPr/>
          <a:lstStyle/>
          <a:p>
            <a:r>
              <a:rPr lang="en-US" dirty="0"/>
              <a:t>RESEARCH PAPER</a:t>
            </a:r>
          </a:p>
        </p:txBody>
      </p:sp>
      <p:sp>
        <p:nvSpPr>
          <p:cNvPr id="3" name="Content Placeholder 2">
            <a:extLst>
              <a:ext uri="{FF2B5EF4-FFF2-40B4-BE49-F238E27FC236}">
                <a16:creationId xmlns:a16="http://schemas.microsoft.com/office/drawing/2014/main" id="{D4D22962-3C7F-E480-5C35-7F4860A098E1}"/>
              </a:ext>
            </a:extLst>
          </p:cNvPr>
          <p:cNvSpPr>
            <a:spLocks noGrp="1"/>
          </p:cNvSpPr>
          <p:nvPr>
            <p:ph idx="1"/>
          </p:nvPr>
        </p:nvSpPr>
        <p:spPr>
          <a:xfrm>
            <a:off x="914400" y="2834640"/>
            <a:ext cx="6583680" cy="3207344"/>
          </a:xfrm>
        </p:spPr>
        <p:txBody>
          <a:bodyPr>
            <a:normAutofit lnSpcReduction="10000"/>
          </a:bodyPr>
          <a:lstStyle/>
          <a:p>
            <a:r>
              <a:rPr lang="en-US" strike="sngStrike" dirty="0"/>
              <a:t>Chapter 1: introduction</a:t>
            </a:r>
          </a:p>
          <a:p>
            <a:r>
              <a:rPr lang="en-US" dirty="0">
                <a:solidFill>
                  <a:srgbClr val="FF0000"/>
                </a:solidFill>
              </a:rPr>
              <a:t>Chapter 2 : Literature review</a:t>
            </a:r>
          </a:p>
          <a:p>
            <a:r>
              <a:rPr lang="en-US" dirty="0">
                <a:solidFill>
                  <a:srgbClr val="FF0000"/>
                </a:solidFill>
              </a:rPr>
              <a:t>Chapter 3 Research framework</a:t>
            </a:r>
          </a:p>
          <a:p>
            <a:r>
              <a:rPr lang="en-US" dirty="0"/>
              <a:t>Chapter 4 Research methodology</a:t>
            </a:r>
          </a:p>
          <a:p>
            <a:r>
              <a:rPr lang="en-US" dirty="0"/>
              <a:t>C</a:t>
            </a:r>
            <a:r>
              <a:rPr lang="en-US" altLang="zh-CN" dirty="0"/>
              <a:t>hapter 5 Research result</a:t>
            </a:r>
          </a:p>
          <a:p>
            <a:r>
              <a:rPr lang="en-US" dirty="0"/>
              <a:t>Chapter 6 Discussion and recommendation</a:t>
            </a:r>
          </a:p>
          <a:p>
            <a:endParaRPr lang="en-US" dirty="0"/>
          </a:p>
        </p:txBody>
      </p:sp>
      <p:sp>
        <p:nvSpPr>
          <p:cNvPr id="4" name="Slide Number Placeholder 3">
            <a:extLst>
              <a:ext uri="{FF2B5EF4-FFF2-40B4-BE49-F238E27FC236}">
                <a16:creationId xmlns:a16="http://schemas.microsoft.com/office/drawing/2014/main" id="{18D5CFA2-4E67-F157-5FFD-A246307D41F7}"/>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2</a:t>
            </a:fld>
            <a:endParaRPr lang="en-US" dirty="0"/>
          </a:p>
        </p:txBody>
      </p:sp>
    </p:spTree>
    <p:extLst>
      <p:ext uri="{BB962C8B-B14F-4D97-AF65-F5344CB8AC3E}">
        <p14:creationId xmlns:p14="http://schemas.microsoft.com/office/powerpoint/2010/main" val="3913219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E8954-9BCB-7FD9-A210-38DC54382D45}"/>
              </a:ext>
            </a:extLst>
          </p:cNvPr>
          <p:cNvSpPr>
            <a:spLocks noGrp="1"/>
          </p:cNvSpPr>
          <p:nvPr>
            <p:ph type="title"/>
          </p:nvPr>
        </p:nvSpPr>
        <p:spPr>
          <a:xfrm>
            <a:off x="3460565" y="1057274"/>
            <a:ext cx="7965461" cy="994164"/>
          </a:xfrm>
        </p:spPr>
        <p:txBody>
          <a:bodyPr/>
          <a:lstStyle/>
          <a:p>
            <a:r>
              <a:rPr lang="en-US" sz="3200" dirty="0"/>
              <a:t>Chapter 2 : Literature review</a:t>
            </a:r>
          </a:p>
        </p:txBody>
      </p:sp>
      <p:sp>
        <p:nvSpPr>
          <p:cNvPr id="3" name="Content Placeholder 2">
            <a:extLst>
              <a:ext uri="{FF2B5EF4-FFF2-40B4-BE49-F238E27FC236}">
                <a16:creationId xmlns:a16="http://schemas.microsoft.com/office/drawing/2014/main" id="{75111C33-898C-4414-4665-5136EB6FC126}"/>
              </a:ext>
            </a:extLst>
          </p:cNvPr>
          <p:cNvSpPr>
            <a:spLocks noGrp="1"/>
          </p:cNvSpPr>
          <p:nvPr>
            <p:ph sz="half" idx="2"/>
          </p:nvPr>
        </p:nvSpPr>
        <p:spPr>
          <a:xfrm>
            <a:off x="3460565" y="2303029"/>
            <a:ext cx="7965460" cy="3497698"/>
          </a:xfrm>
        </p:spPr>
        <p:txBody>
          <a:bodyPr>
            <a:normAutofit/>
          </a:bodyPr>
          <a:lstStyle/>
          <a:p>
            <a:pPr marL="0" indent="0">
              <a:buNone/>
            </a:pPr>
            <a:r>
              <a:rPr lang="en-US" sz="2000" b="1" dirty="0"/>
              <a:t>2.1</a:t>
            </a:r>
            <a:r>
              <a:rPr lang="en-US" dirty="0">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Theories Related to Each Variable </a:t>
            </a:r>
            <a:r>
              <a:rPr lang="en-US" sz="1800" dirty="0">
                <a:effectLst/>
                <a:latin typeface="Times New Roman" panose="02020603050405020304" pitchFamily="18" charset="0"/>
                <a:ea typeface="Times New Roman" panose="02020603050405020304" pitchFamily="18" charset="0"/>
              </a:rPr>
              <a:t>- </a:t>
            </a:r>
            <a:r>
              <a:rPr lang="en-US" dirty="0"/>
              <a:t>which theoretical model(s) </a:t>
            </a:r>
            <a:r>
              <a:rPr lang="en-US" altLang="zh-CN" dirty="0"/>
              <a:t>your study based on </a:t>
            </a:r>
          </a:p>
          <a:p>
            <a:pPr marL="0" indent="0">
              <a:buNone/>
            </a:pPr>
            <a:r>
              <a:rPr lang="en-US" b="1" dirty="0"/>
              <a:t>1. Introduce the Theory</a:t>
            </a:r>
          </a:p>
          <a:p>
            <a:pPr lvl="1"/>
            <a:r>
              <a:rPr lang="en-US" dirty="0"/>
              <a:t>Briefly introduce the main theory or theories being applied. </a:t>
            </a:r>
          </a:p>
          <a:p>
            <a:pPr lvl="1"/>
            <a:r>
              <a:rPr lang="en-US" dirty="0"/>
              <a:t>Provide a concise background and main concepts of each theory.</a:t>
            </a:r>
            <a:endParaRPr lang="en-US" dirty="0">
              <a:effectLst/>
              <a:latin typeface="Times New Roman" panose="02020603050405020304" pitchFamily="18" charset="0"/>
              <a:ea typeface="Times New Roman" panose="02020603050405020304" pitchFamily="18" charset="0"/>
            </a:endParaRPr>
          </a:p>
          <a:p>
            <a:pPr marL="0" indent="0">
              <a:buNone/>
            </a:pPr>
            <a:r>
              <a:rPr lang="en-US" b="1" dirty="0"/>
              <a:t>2. Explain Relevance</a:t>
            </a:r>
          </a:p>
          <a:p>
            <a:pPr lvl="1"/>
            <a:r>
              <a:rPr lang="en-US" dirty="0"/>
              <a:t>Explain why this theory is relevant to your research problem.</a:t>
            </a:r>
          </a:p>
          <a:p>
            <a:pPr lvl="1"/>
            <a:r>
              <a:rPr lang="en-US" dirty="0"/>
              <a:t>Connect key components of the theory to your study’s variables.</a:t>
            </a:r>
            <a:endParaRPr lang="en-US" dirty="0">
              <a:effectLst/>
              <a:latin typeface="Times New Roman" panose="02020603050405020304" pitchFamily="18" charset="0"/>
              <a:ea typeface="Times New Roman" panose="02020603050405020304" pitchFamily="18" charset="0"/>
            </a:endParaRPr>
          </a:p>
          <a:p>
            <a:pPr marL="0" indent="0">
              <a:buNone/>
            </a:pPr>
            <a:endParaRPr lang="en-US" dirty="0"/>
          </a:p>
        </p:txBody>
      </p:sp>
      <p:sp>
        <p:nvSpPr>
          <p:cNvPr id="23" name="Slide Number Placeholder 22">
            <a:extLst>
              <a:ext uri="{FF2B5EF4-FFF2-40B4-BE49-F238E27FC236}">
                <a16:creationId xmlns:a16="http://schemas.microsoft.com/office/drawing/2014/main" id="{94FF72B7-0438-3641-5939-75128934B0DF}"/>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3</a:t>
            </a:fld>
            <a:endParaRPr lang="en-US" dirty="0"/>
          </a:p>
        </p:txBody>
      </p:sp>
    </p:spTree>
    <p:extLst>
      <p:ext uri="{BB962C8B-B14F-4D97-AF65-F5344CB8AC3E}">
        <p14:creationId xmlns:p14="http://schemas.microsoft.com/office/powerpoint/2010/main" val="6856810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FA5BB8-E577-0C44-F204-291051AF79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902940-9A0D-4C89-B07E-9AF3BD6E1D50}"/>
              </a:ext>
            </a:extLst>
          </p:cNvPr>
          <p:cNvSpPr>
            <a:spLocks noGrp="1"/>
          </p:cNvSpPr>
          <p:nvPr>
            <p:ph type="title"/>
          </p:nvPr>
        </p:nvSpPr>
        <p:spPr>
          <a:xfrm>
            <a:off x="3460565" y="1057274"/>
            <a:ext cx="7965461" cy="994164"/>
          </a:xfrm>
        </p:spPr>
        <p:txBody>
          <a:bodyPr/>
          <a:lstStyle/>
          <a:p>
            <a:r>
              <a:rPr lang="en-US" sz="3200" dirty="0"/>
              <a:t>Chapter 2 : Literature review</a:t>
            </a:r>
          </a:p>
        </p:txBody>
      </p:sp>
      <p:sp>
        <p:nvSpPr>
          <p:cNvPr id="3" name="Content Placeholder 2">
            <a:extLst>
              <a:ext uri="{FF2B5EF4-FFF2-40B4-BE49-F238E27FC236}">
                <a16:creationId xmlns:a16="http://schemas.microsoft.com/office/drawing/2014/main" id="{AC8BED51-09EF-4B2B-A2EE-7079B11D43B2}"/>
              </a:ext>
            </a:extLst>
          </p:cNvPr>
          <p:cNvSpPr>
            <a:spLocks noGrp="1"/>
          </p:cNvSpPr>
          <p:nvPr>
            <p:ph sz="half" idx="2"/>
          </p:nvPr>
        </p:nvSpPr>
        <p:spPr>
          <a:xfrm>
            <a:off x="3460565" y="2303029"/>
            <a:ext cx="7965460" cy="3497698"/>
          </a:xfrm>
        </p:spPr>
        <p:txBody>
          <a:bodyPr>
            <a:normAutofit/>
          </a:bodyPr>
          <a:lstStyle/>
          <a:p>
            <a:pPr marL="0" indent="0">
              <a:buNone/>
            </a:pPr>
            <a:r>
              <a:rPr lang="en-US" sz="2000" b="1" dirty="0"/>
              <a:t>2.1</a:t>
            </a:r>
            <a:r>
              <a:rPr lang="en-US" dirty="0">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Theories Related to Each Variable </a:t>
            </a:r>
            <a:r>
              <a:rPr lang="en-US" sz="1800" dirty="0">
                <a:effectLst/>
                <a:latin typeface="Times New Roman" panose="02020603050405020304" pitchFamily="18" charset="0"/>
                <a:ea typeface="Times New Roman" panose="02020603050405020304" pitchFamily="18" charset="0"/>
              </a:rPr>
              <a:t>- </a:t>
            </a:r>
            <a:r>
              <a:rPr lang="en-US" dirty="0"/>
              <a:t>which theoretical model(s) </a:t>
            </a:r>
            <a:r>
              <a:rPr lang="en-US" altLang="zh-CN" dirty="0"/>
              <a:t>your study based on </a:t>
            </a:r>
          </a:p>
          <a:p>
            <a:pPr marL="342900" indent="-342900">
              <a:buFont typeface="+mj-lt"/>
              <a:buAutoNum type="arabicPeriod" startAt="3"/>
            </a:pPr>
            <a:r>
              <a:rPr lang="en-US" b="1" dirty="0"/>
              <a:t>Discuss Key Constructs and Relationships</a:t>
            </a:r>
          </a:p>
          <a:p>
            <a:pPr lvl="1"/>
            <a:r>
              <a:rPr lang="en-US" dirty="0"/>
              <a:t>Clearly define the main constructs (variables) from the theory as they relate to your research.</a:t>
            </a:r>
          </a:p>
          <a:p>
            <a:pPr lvl="1"/>
            <a:r>
              <a:rPr lang="en-US" dirty="0"/>
              <a:t>Explain how the theory predicts or supports the hypothesized relationships between these constructs.</a:t>
            </a:r>
          </a:p>
        </p:txBody>
      </p:sp>
      <p:sp>
        <p:nvSpPr>
          <p:cNvPr id="23" name="Slide Number Placeholder 22">
            <a:extLst>
              <a:ext uri="{FF2B5EF4-FFF2-40B4-BE49-F238E27FC236}">
                <a16:creationId xmlns:a16="http://schemas.microsoft.com/office/drawing/2014/main" id="{62EF9521-4994-8C5E-E4A2-6FC2F7987AA9}"/>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4</a:t>
            </a:fld>
            <a:endParaRPr lang="en-US" dirty="0"/>
          </a:p>
        </p:txBody>
      </p:sp>
    </p:spTree>
    <p:extLst>
      <p:ext uri="{BB962C8B-B14F-4D97-AF65-F5344CB8AC3E}">
        <p14:creationId xmlns:p14="http://schemas.microsoft.com/office/powerpoint/2010/main" val="2097262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2778E-320C-E09C-F8C7-CB215BECBB54}"/>
              </a:ext>
            </a:extLst>
          </p:cNvPr>
          <p:cNvSpPr>
            <a:spLocks noGrp="1"/>
          </p:cNvSpPr>
          <p:nvPr>
            <p:ph type="title"/>
          </p:nvPr>
        </p:nvSpPr>
        <p:spPr/>
        <p:txBody>
          <a:bodyPr/>
          <a:lstStyle/>
          <a:p>
            <a:r>
              <a:rPr lang="en-US" sz="3200" b="1" kern="1200" cap="all" baseline="0" dirty="0">
                <a:solidFill>
                  <a:srgbClr val="1F2C8F"/>
                </a:solidFill>
                <a:effectLst/>
                <a:latin typeface="Arial Black" panose="020B0A04020102020204" pitchFamily="34" charset="0"/>
                <a:ea typeface="+mj-ea"/>
                <a:cs typeface="Arial" panose="020B0604020202020204" pitchFamily="34" charset="0"/>
              </a:rPr>
              <a:t>Chapter 2 : Literature review</a:t>
            </a:r>
            <a:endParaRPr lang="en-US" sz="5400" dirty="0"/>
          </a:p>
        </p:txBody>
      </p:sp>
      <p:sp>
        <p:nvSpPr>
          <p:cNvPr id="3" name="Content Placeholder 2">
            <a:extLst>
              <a:ext uri="{FF2B5EF4-FFF2-40B4-BE49-F238E27FC236}">
                <a16:creationId xmlns:a16="http://schemas.microsoft.com/office/drawing/2014/main" id="{109DAE21-4AB9-1BE2-D2F2-76CEBFDB4DEB}"/>
              </a:ext>
            </a:extLst>
          </p:cNvPr>
          <p:cNvSpPr>
            <a:spLocks noGrp="1"/>
          </p:cNvSpPr>
          <p:nvPr>
            <p:ph sz="half" idx="2"/>
          </p:nvPr>
        </p:nvSpPr>
        <p:spPr>
          <a:xfrm>
            <a:off x="3460564" y="2248921"/>
            <a:ext cx="7965460" cy="4265501"/>
          </a:xfrm>
        </p:spPr>
        <p:txBody>
          <a:bodyPr>
            <a:normAutofit fontScale="85000" lnSpcReduction="10000"/>
          </a:bodyPr>
          <a:lstStyle/>
          <a:p>
            <a:pPr algn="just">
              <a:buNone/>
            </a:pPr>
            <a:r>
              <a:rPr lang="en-US" b="1" dirty="0"/>
              <a:t>2.1 Applied Theory: Stimulus-Organism-Response (SOR) Model</a:t>
            </a:r>
          </a:p>
          <a:p>
            <a:pPr algn="just">
              <a:buNone/>
            </a:pPr>
            <a:r>
              <a:rPr lang="en-US" dirty="0"/>
              <a:t>The present study adopts the </a:t>
            </a:r>
            <a:r>
              <a:rPr lang="en-US" b="1" dirty="0"/>
              <a:t>Stimulus-Organism-Response (SOR) model</a:t>
            </a:r>
            <a:r>
              <a:rPr lang="en-US" dirty="0"/>
              <a:t> as its underlying theoretical framework. Originally proposed by Mehrabian and Russell (1974), the SOR model posits that external stimuli (S) influence an individual’s internal state (O), which in turn leads to behavioral responses (R). In marketing research, this model has been widely used to examine how environmental cues shape consumer attitudes and behaviors (Donovan &amp; Rossiter, 1982).</a:t>
            </a:r>
          </a:p>
          <a:p>
            <a:pPr algn="just">
              <a:buNone/>
            </a:pPr>
            <a:r>
              <a:rPr lang="en-US" dirty="0"/>
              <a:t>In the context of this study, </a:t>
            </a:r>
            <a:r>
              <a:rPr lang="en-US" b="1" dirty="0"/>
              <a:t>social media marketing activities</a:t>
            </a:r>
            <a:r>
              <a:rPr lang="en-US" dirty="0"/>
              <a:t>, </a:t>
            </a:r>
            <a:r>
              <a:rPr lang="en-US" b="1" dirty="0"/>
              <a:t>brand authenticity</a:t>
            </a:r>
            <a:r>
              <a:rPr lang="en-US" dirty="0"/>
              <a:t>, and </a:t>
            </a:r>
            <a:r>
              <a:rPr lang="en-US" b="1" dirty="0"/>
              <a:t>electronic word-of-mouth (e-WOM)</a:t>
            </a:r>
            <a:r>
              <a:rPr lang="en-US" dirty="0"/>
              <a:t> function as stimuli (S). These stimuli affect the consumer’s internal state, operationalized as </a:t>
            </a:r>
            <a:r>
              <a:rPr lang="en-US" b="1" dirty="0"/>
              <a:t>brand engagement</a:t>
            </a:r>
            <a:r>
              <a:rPr lang="en-US" dirty="0"/>
              <a:t> (O), which subsequently influences the behavioral response, measured as </a:t>
            </a:r>
            <a:r>
              <a:rPr lang="en-US" b="1" dirty="0"/>
              <a:t>consumer trust</a:t>
            </a:r>
            <a:r>
              <a:rPr lang="en-US" dirty="0"/>
              <a:t> (R). Prior research has demonstrated the suitability of the SOR model for explaining consumer decision-making in digital environments (Islam &amp; Rahman, 2017).</a:t>
            </a:r>
          </a:p>
          <a:p>
            <a:pPr marL="0" indent="0" algn="just">
              <a:buNone/>
            </a:pPr>
            <a:r>
              <a:rPr lang="en-US" dirty="0"/>
              <a:t>The SOR framework is particularly relevant because it systematically links marketing actions to psychological engagement and subsequent trust-building behaviors. By applying this model, the study seeks to clarify the mechanisms by which digital marketing efforts translate into enhanced consumer trust, thereby addressing gaps in both theory and practice.</a:t>
            </a:r>
          </a:p>
          <a:p>
            <a:pPr algn="just"/>
            <a:endParaRPr lang="en-US" dirty="0"/>
          </a:p>
        </p:txBody>
      </p:sp>
      <p:sp>
        <p:nvSpPr>
          <p:cNvPr id="4" name="Slide Number Placeholder 3">
            <a:extLst>
              <a:ext uri="{FF2B5EF4-FFF2-40B4-BE49-F238E27FC236}">
                <a16:creationId xmlns:a16="http://schemas.microsoft.com/office/drawing/2014/main" id="{F083B193-D6A3-AF27-7A08-2300C14627D9}"/>
              </a:ext>
            </a:extLst>
          </p:cNvPr>
          <p:cNvSpPr>
            <a:spLocks noGrp="1"/>
          </p:cNvSpPr>
          <p:nvPr>
            <p:ph type="sldNum" sz="quarter" idx="10"/>
          </p:nvPr>
        </p:nvSpPr>
        <p:spPr/>
        <p:txBody>
          <a:bodyPr/>
          <a:lstStyle/>
          <a:p>
            <a:fld id="{48F63A3B-78C7-47BE-AE5E-E10140E04643}" type="slidenum">
              <a:rPr lang="en-US" smtClean="0"/>
              <a:pPr/>
              <a:t>5</a:t>
            </a:fld>
            <a:endParaRPr lang="en-US" dirty="0"/>
          </a:p>
        </p:txBody>
      </p:sp>
    </p:spTree>
    <p:extLst>
      <p:ext uri="{BB962C8B-B14F-4D97-AF65-F5344CB8AC3E}">
        <p14:creationId xmlns:p14="http://schemas.microsoft.com/office/powerpoint/2010/main" val="6862787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A130B-5C66-2C61-73A0-5F3E5BD454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E8A160-CE73-FB85-1D1E-689123708EBC}"/>
              </a:ext>
            </a:extLst>
          </p:cNvPr>
          <p:cNvSpPr>
            <a:spLocks noGrp="1"/>
          </p:cNvSpPr>
          <p:nvPr>
            <p:ph type="title"/>
          </p:nvPr>
        </p:nvSpPr>
        <p:spPr/>
        <p:txBody>
          <a:bodyPr/>
          <a:lstStyle/>
          <a:p>
            <a:r>
              <a:rPr lang="en-US" sz="3200" b="1" kern="1200" cap="all" baseline="0" dirty="0">
                <a:solidFill>
                  <a:srgbClr val="1F2C8F"/>
                </a:solidFill>
                <a:effectLst/>
                <a:latin typeface="Arial Black" panose="020B0A04020102020204" pitchFamily="34" charset="0"/>
                <a:ea typeface="+mj-ea"/>
                <a:cs typeface="Arial" panose="020B0604020202020204" pitchFamily="34" charset="0"/>
              </a:rPr>
              <a:t>Chapter 2 : Literature review</a:t>
            </a:r>
            <a:endParaRPr lang="en-US" sz="5400" dirty="0"/>
          </a:p>
        </p:txBody>
      </p:sp>
      <p:sp>
        <p:nvSpPr>
          <p:cNvPr id="3" name="Content Placeholder 2">
            <a:extLst>
              <a:ext uri="{FF2B5EF4-FFF2-40B4-BE49-F238E27FC236}">
                <a16:creationId xmlns:a16="http://schemas.microsoft.com/office/drawing/2014/main" id="{A4AB508F-3CCF-CF35-FE7C-3F6DDA1ABB43}"/>
              </a:ext>
            </a:extLst>
          </p:cNvPr>
          <p:cNvSpPr>
            <a:spLocks noGrp="1"/>
          </p:cNvSpPr>
          <p:nvPr>
            <p:ph sz="half" idx="2"/>
          </p:nvPr>
        </p:nvSpPr>
        <p:spPr>
          <a:xfrm>
            <a:off x="3460564" y="2248921"/>
            <a:ext cx="7965460" cy="4265501"/>
          </a:xfrm>
        </p:spPr>
        <p:txBody>
          <a:bodyPr>
            <a:normAutofit fontScale="85000" lnSpcReduction="20000"/>
          </a:bodyPr>
          <a:lstStyle/>
          <a:p>
            <a:pPr>
              <a:buNone/>
            </a:pPr>
            <a:r>
              <a:rPr lang="en-US" b="1" dirty="0"/>
              <a:t>2.1 Applied Theory: Technology Acceptance Model (TAM)</a:t>
            </a:r>
          </a:p>
          <a:p>
            <a:pPr>
              <a:buNone/>
            </a:pPr>
            <a:r>
              <a:rPr lang="en-US" dirty="0"/>
              <a:t>The present study employs the </a:t>
            </a:r>
            <a:r>
              <a:rPr lang="en-US" b="1" dirty="0"/>
              <a:t>Technology Acceptance Model (TAM)</a:t>
            </a:r>
            <a:r>
              <a:rPr lang="en-US" dirty="0"/>
              <a:t> as its primary theoretical foundation to explain the determinants of consumer adoption and use of digital technologies in the marketing context. Developed by Davis (1989), TAM is a widely recognized framework for predicting user acceptance and usage of information technology.</a:t>
            </a:r>
          </a:p>
          <a:p>
            <a:pPr>
              <a:buNone/>
            </a:pPr>
            <a:r>
              <a:rPr lang="en-US" dirty="0"/>
              <a:t>TAM posits that two key constructs—</a:t>
            </a:r>
            <a:r>
              <a:rPr lang="en-US" b="1" dirty="0"/>
              <a:t>Perceived Usefulness (PU)</a:t>
            </a:r>
            <a:r>
              <a:rPr lang="en-US" dirty="0"/>
              <a:t> and </a:t>
            </a:r>
            <a:r>
              <a:rPr lang="en-US" b="1" dirty="0"/>
              <a:t>Perceived Ease of Use (PEOU)</a:t>
            </a:r>
            <a:r>
              <a:rPr lang="en-US" dirty="0"/>
              <a:t>—directly influence an individual’s attitude toward using a technology, which subsequently affects their behavioral intention and actual usage behavior. </a:t>
            </a:r>
            <a:r>
              <a:rPr lang="en-US" b="1" dirty="0"/>
              <a:t>Perceived Usefulness</a:t>
            </a:r>
            <a:r>
              <a:rPr lang="en-US" dirty="0"/>
              <a:t> refers to the degree to which an individual believes that using a particular system will enhance their job performance, while </a:t>
            </a:r>
            <a:r>
              <a:rPr lang="en-US" b="1" dirty="0"/>
              <a:t>Perceived Ease of Use</a:t>
            </a:r>
            <a:r>
              <a:rPr lang="en-US" dirty="0"/>
              <a:t> refers to the degree to which an individual believes that using the system would be free of effort (Davis, 1989).</a:t>
            </a:r>
          </a:p>
          <a:p>
            <a:pPr>
              <a:buNone/>
            </a:pPr>
            <a:r>
              <a:rPr lang="en-US" dirty="0"/>
              <a:t>In the context of this study, TAM is applied to examine how consumers decide to engage with digital marketing tools or social media platforms. For example, the research investigates how perceptions of usefulness and ease of use of social media marketing activities influence attitudes and intentions to engage with brands online. Several extensions of TAM incorporate variables such as </a:t>
            </a:r>
            <a:r>
              <a:rPr lang="en-US" b="1" dirty="0"/>
              <a:t>Subjective Norms</a:t>
            </a:r>
            <a:r>
              <a:rPr lang="en-US" dirty="0"/>
              <a:t>, </a:t>
            </a:r>
            <a:r>
              <a:rPr lang="en-US" b="1" dirty="0"/>
              <a:t>Trust</a:t>
            </a:r>
            <a:r>
              <a:rPr lang="en-US" dirty="0"/>
              <a:t>, or </a:t>
            </a:r>
            <a:r>
              <a:rPr lang="en-US" b="1" dirty="0"/>
              <a:t>Perceived Risk</a:t>
            </a:r>
            <a:r>
              <a:rPr lang="en-US" dirty="0"/>
              <a:t> to better explain technology adoption in various contexts (Venkatesh &amp; Davis, 2000).</a:t>
            </a:r>
          </a:p>
          <a:p>
            <a:pPr marL="0" indent="0">
              <a:buNone/>
            </a:pPr>
            <a:r>
              <a:rPr lang="en-US" dirty="0"/>
              <a:t>By applying TAM, this study systematically analyzes the cognitive processes influencing digital technology acceptance, thus offering valuable insights for both academics and practitioners seeking to improve user engagement strategies.</a:t>
            </a:r>
          </a:p>
        </p:txBody>
      </p:sp>
      <p:sp>
        <p:nvSpPr>
          <p:cNvPr id="4" name="Slide Number Placeholder 3">
            <a:extLst>
              <a:ext uri="{FF2B5EF4-FFF2-40B4-BE49-F238E27FC236}">
                <a16:creationId xmlns:a16="http://schemas.microsoft.com/office/drawing/2014/main" id="{8B61A0E1-58DC-8BA8-6648-D2CC5143DE4E}"/>
              </a:ext>
            </a:extLst>
          </p:cNvPr>
          <p:cNvSpPr>
            <a:spLocks noGrp="1"/>
          </p:cNvSpPr>
          <p:nvPr>
            <p:ph type="sldNum" sz="quarter" idx="10"/>
          </p:nvPr>
        </p:nvSpPr>
        <p:spPr/>
        <p:txBody>
          <a:bodyPr/>
          <a:lstStyle/>
          <a:p>
            <a:fld id="{48F63A3B-78C7-47BE-AE5E-E10140E04643}" type="slidenum">
              <a:rPr lang="en-US" smtClean="0"/>
              <a:pPr/>
              <a:t>6</a:t>
            </a:fld>
            <a:endParaRPr lang="en-US" dirty="0"/>
          </a:p>
        </p:txBody>
      </p:sp>
    </p:spTree>
    <p:extLst>
      <p:ext uri="{BB962C8B-B14F-4D97-AF65-F5344CB8AC3E}">
        <p14:creationId xmlns:p14="http://schemas.microsoft.com/office/powerpoint/2010/main" val="17534602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47D9E-F1B0-A029-DA20-8DC41BF8F8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7E7411-AE75-CEDB-71CA-FD4E2FAEEE94}"/>
              </a:ext>
            </a:extLst>
          </p:cNvPr>
          <p:cNvSpPr>
            <a:spLocks noGrp="1"/>
          </p:cNvSpPr>
          <p:nvPr>
            <p:ph type="title"/>
          </p:nvPr>
        </p:nvSpPr>
        <p:spPr/>
        <p:txBody>
          <a:bodyPr/>
          <a:lstStyle/>
          <a:p>
            <a:r>
              <a:rPr lang="en-US" sz="3200" b="1" kern="1200" cap="all" baseline="0" dirty="0">
                <a:solidFill>
                  <a:srgbClr val="1F2C8F"/>
                </a:solidFill>
                <a:effectLst/>
                <a:latin typeface="Arial Black" panose="020B0A04020102020204" pitchFamily="34" charset="0"/>
                <a:ea typeface="+mj-ea"/>
                <a:cs typeface="Arial" panose="020B0604020202020204" pitchFamily="34" charset="0"/>
              </a:rPr>
              <a:t>Chapter 2 : Literature review</a:t>
            </a:r>
            <a:endParaRPr lang="en-US" sz="5400" dirty="0"/>
          </a:p>
        </p:txBody>
      </p:sp>
      <p:sp>
        <p:nvSpPr>
          <p:cNvPr id="3" name="Content Placeholder 2">
            <a:extLst>
              <a:ext uri="{FF2B5EF4-FFF2-40B4-BE49-F238E27FC236}">
                <a16:creationId xmlns:a16="http://schemas.microsoft.com/office/drawing/2014/main" id="{CF90D0FE-BABF-F9CB-737A-1104999E5394}"/>
              </a:ext>
            </a:extLst>
          </p:cNvPr>
          <p:cNvSpPr>
            <a:spLocks noGrp="1"/>
          </p:cNvSpPr>
          <p:nvPr>
            <p:ph sz="half" idx="2"/>
          </p:nvPr>
        </p:nvSpPr>
        <p:spPr/>
        <p:txBody>
          <a:bodyPr/>
          <a:lstStyle/>
          <a:p>
            <a:pPr marL="0" indent="0">
              <a:buNone/>
            </a:pPr>
            <a:r>
              <a:rPr lang="en-US" sz="1800" b="1" dirty="0">
                <a:effectLst/>
                <a:latin typeface="Times New Roman" panose="02020603050405020304" pitchFamily="18" charset="0"/>
                <a:ea typeface="Times New Roman" panose="02020603050405020304" pitchFamily="18" charset="0"/>
              </a:rPr>
              <a:t>2.2 Related Review Literature</a:t>
            </a:r>
          </a:p>
          <a:p>
            <a:pPr marL="338328" lvl="1" indent="0">
              <a:buNone/>
            </a:pPr>
            <a:r>
              <a:rPr lang="en-US" b="1" dirty="0">
                <a:latin typeface="Times New Roman" panose="02020603050405020304" pitchFamily="18" charset="0"/>
                <a:ea typeface="Times New Roman" panose="02020603050405020304" pitchFamily="18" charset="0"/>
              </a:rPr>
              <a:t>Definition of each variable</a:t>
            </a:r>
          </a:p>
          <a:p>
            <a:pPr lvl="1"/>
            <a:r>
              <a:rPr lang="en-US" b="1" dirty="0"/>
              <a:t>Clearly define each key variable/concept</a:t>
            </a:r>
            <a:r>
              <a:rPr lang="en-US" dirty="0"/>
              <a:t> as used in your study</a:t>
            </a:r>
          </a:p>
          <a:p>
            <a:pPr lvl="1"/>
            <a:r>
              <a:rPr lang="en-US" dirty="0"/>
              <a:t>E</a:t>
            </a:r>
            <a:r>
              <a:rPr lang="en-US" altLang="zh-CN" dirty="0"/>
              <a:t>ach variable need to p</a:t>
            </a:r>
            <a:r>
              <a:rPr lang="en-US" dirty="0"/>
              <a:t>rovide conceptual definition. (4-5 citation/definition for each variable) </a:t>
            </a:r>
          </a:p>
          <a:p>
            <a:pPr marL="795528" lvl="2" indent="0">
              <a:buNone/>
            </a:pPr>
            <a:r>
              <a:rPr lang="en-US" dirty="0"/>
              <a:t>- From board to narrow, the citation from old to new </a:t>
            </a:r>
          </a:p>
          <a:p>
            <a:pPr lvl="1"/>
            <a:r>
              <a:rPr lang="en-US" dirty="0"/>
              <a:t>From previous studies</a:t>
            </a:r>
          </a:p>
          <a:p>
            <a:pPr lvl="1"/>
            <a:r>
              <a:rPr lang="en-US" dirty="0"/>
              <a:t>Provide one definition for your study based on the definition you citated </a:t>
            </a:r>
          </a:p>
        </p:txBody>
      </p:sp>
      <p:sp>
        <p:nvSpPr>
          <p:cNvPr id="4" name="Slide Number Placeholder 3">
            <a:extLst>
              <a:ext uri="{FF2B5EF4-FFF2-40B4-BE49-F238E27FC236}">
                <a16:creationId xmlns:a16="http://schemas.microsoft.com/office/drawing/2014/main" id="{9B119491-2A70-1D0A-A218-40CD6FE4AA16}"/>
              </a:ext>
            </a:extLst>
          </p:cNvPr>
          <p:cNvSpPr>
            <a:spLocks noGrp="1"/>
          </p:cNvSpPr>
          <p:nvPr>
            <p:ph type="sldNum" sz="quarter" idx="10"/>
          </p:nvPr>
        </p:nvSpPr>
        <p:spPr/>
        <p:txBody>
          <a:bodyPr/>
          <a:lstStyle/>
          <a:p>
            <a:fld id="{48F63A3B-78C7-47BE-AE5E-E10140E04643}" type="slidenum">
              <a:rPr lang="en-US" smtClean="0"/>
              <a:pPr/>
              <a:t>7</a:t>
            </a:fld>
            <a:endParaRPr lang="en-US" dirty="0"/>
          </a:p>
        </p:txBody>
      </p:sp>
    </p:spTree>
    <p:extLst>
      <p:ext uri="{BB962C8B-B14F-4D97-AF65-F5344CB8AC3E}">
        <p14:creationId xmlns:p14="http://schemas.microsoft.com/office/powerpoint/2010/main" val="40637467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294E7-962F-E055-C3CB-B1DFE5CEB5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0D89AD-2F4B-603A-996F-24C0E6B15B72}"/>
              </a:ext>
            </a:extLst>
          </p:cNvPr>
          <p:cNvSpPr>
            <a:spLocks noGrp="1"/>
          </p:cNvSpPr>
          <p:nvPr>
            <p:ph type="title"/>
          </p:nvPr>
        </p:nvSpPr>
        <p:spPr/>
        <p:txBody>
          <a:bodyPr/>
          <a:lstStyle/>
          <a:p>
            <a:r>
              <a:rPr lang="en-US" sz="3200" b="1" kern="1200" cap="all" baseline="0" dirty="0">
                <a:solidFill>
                  <a:srgbClr val="1F2C8F"/>
                </a:solidFill>
                <a:effectLst/>
                <a:latin typeface="Arial Black" panose="020B0A04020102020204" pitchFamily="34" charset="0"/>
                <a:ea typeface="+mj-ea"/>
                <a:cs typeface="Arial" panose="020B0604020202020204" pitchFamily="34" charset="0"/>
              </a:rPr>
              <a:t>Chapter 2 : Literature review</a:t>
            </a:r>
            <a:endParaRPr lang="en-US" sz="5400" dirty="0"/>
          </a:p>
        </p:txBody>
      </p:sp>
      <p:sp>
        <p:nvSpPr>
          <p:cNvPr id="3" name="Content Placeholder 2">
            <a:extLst>
              <a:ext uri="{FF2B5EF4-FFF2-40B4-BE49-F238E27FC236}">
                <a16:creationId xmlns:a16="http://schemas.microsoft.com/office/drawing/2014/main" id="{3430A411-A157-A556-1A94-BED2DBE466CD}"/>
              </a:ext>
            </a:extLst>
          </p:cNvPr>
          <p:cNvSpPr>
            <a:spLocks noGrp="1"/>
          </p:cNvSpPr>
          <p:nvPr>
            <p:ph sz="half" idx="2"/>
          </p:nvPr>
        </p:nvSpPr>
        <p:spPr/>
        <p:txBody>
          <a:bodyPr/>
          <a:lstStyle/>
          <a:p>
            <a:pPr marL="0" indent="0">
              <a:buNone/>
            </a:pPr>
            <a:r>
              <a:rPr lang="en-US" sz="1800" b="1" dirty="0">
                <a:effectLst/>
                <a:latin typeface="Times New Roman" panose="02020603050405020304" pitchFamily="18" charset="0"/>
                <a:ea typeface="Times New Roman" panose="02020603050405020304" pitchFamily="18" charset="0"/>
              </a:rPr>
              <a:t>2.2 Related Review Literature</a:t>
            </a:r>
          </a:p>
          <a:p>
            <a:pPr marL="338328" lvl="1" indent="0">
              <a:buNone/>
            </a:pPr>
            <a:r>
              <a:rPr lang="en-US" b="1" dirty="0">
                <a:latin typeface="Times New Roman" panose="02020603050405020304" pitchFamily="18" charset="0"/>
                <a:ea typeface="Times New Roman" panose="02020603050405020304" pitchFamily="18" charset="0"/>
              </a:rPr>
              <a:t>Definition of each variable</a:t>
            </a:r>
          </a:p>
          <a:p>
            <a:pPr lvl="1"/>
            <a:r>
              <a:rPr lang="en-US" b="1" dirty="0"/>
              <a:t>Social Media Marketing</a:t>
            </a:r>
            <a:br>
              <a:rPr lang="en-US" dirty="0"/>
            </a:br>
            <a:r>
              <a:rPr lang="en-US" dirty="0"/>
              <a:t>Social media marketing refers to the use of online social platforms (such as Facebook, Instagram, and Twitter) by businesses to promote their brands, engage with customers, and build lasting relationships (Tuten &amp; Solomon, 2021). In this study, it is operationalized by the frequency, interactivity, and perceived usefulness of a brand’s online activities.</a:t>
            </a:r>
          </a:p>
        </p:txBody>
      </p:sp>
      <p:sp>
        <p:nvSpPr>
          <p:cNvPr id="4" name="Slide Number Placeholder 3">
            <a:extLst>
              <a:ext uri="{FF2B5EF4-FFF2-40B4-BE49-F238E27FC236}">
                <a16:creationId xmlns:a16="http://schemas.microsoft.com/office/drawing/2014/main" id="{69D65F25-A0E3-F279-53B4-702C997CC7CD}"/>
              </a:ext>
            </a:extLst>
          </p:cNvPr>
          <p:cNvSpPr>
            <a:spLocks noGrp="1"/>
          </p:cNvSpPr>
          <p:nvPr>
            <p:ph type="sldNum" sz="quarter" idx="10"/>
          </p:nvPr>
        </p:nvSpPr>
        <p:spPr/>
        <p:txBody>
          <a:bodyPr/>
          <a:lstStyle/>
          <a:p>
            <a:fld id="{48F63A3B-78C7-47BE-AE5E-E10140E04643}" type="slidenum">
              <a:rPr lang="en-US" smtClean="0"/>
              <a:pPr/>
              <a:t>8</a:t>
            </a:fld>
            <a:endParaRPr lang="en-US" dirty="0"/>
          </a:p>
        </p:txBody>
      </p:sp>
    </p:spTree>
    <p:extLst>
      <p:ext uri="{BB962C8B-B14F-4D97-AF65-F5344CB8AC3E}">
        <p14:creationId xmlns:p14="http://schemas.microsoft.com/office/powerpoint/2010/main" val="38973291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A7E3E-D3CE-87F6-2E91-AE0601EF97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D286C6-0F84-A910-88F0-92035EE4CF47}"/>
              </a:ext>
            </a:extLst>
          </p:cNvPr>
          <p:cNvSpPr>
            <a:spLocks noGrp="1"/>
          </p:cNvSpPr>
          <p:nvPr>
            <p:ph type="title"/>
          </p:nvPr>
        </p:nvSpPr>
        <p:spPr/>
        <p:txBody>
          <a:bodyPr/>
          <a:lstStyle/>
          <a:p>
            <a:r>
              <a:rPr lang="en-US" sz="3200" b="1" kern="1200" cap="all" baseline="0" dirty="0">
                <a:solidFill>
                  <a:srgbClr val="1F2C8F"/>
                </a:solidFill>
                <a:effectLst/>
                <a:latin typeface="Arial Black" panose="020B0A04020102020204" pitchFamily="34" charset="0"/>
                <a:ea typeface="+mj-ea"/>
                <a:cs typeface="Arial" panose="020B0604020202020204" pitchFamily="34" charset="0"/>
              </a:rPr>
              <a:t>Chapter 2 : Literature review</a:t>
            </a:r>
            <a:endParaRPr lang="en-US" sz="5400" dirty="0"/>
          </a:p>
        </p:txBody>
      </p:sp>
      <p:sp>
        <p:nvSpPr>
          <p:cNvPr id="3" name="Content Placeholder 2">
            <a:extLst>
              <a:ext uri="{FF2B5EF4-FFF2-40B4-BE49-F238E27FC236}">
                <a16:creationId xmlns:a16="http://schemas.microsoft.com/office/drawing/2014/main" id="{228F8232-1155-A0D3-D317-68D67C4F6032}"/>
              </a:ext>
            </a:extLst>
          </p:cNvPr>
          <p:cNvSpPr>
            <a:spLocks noGrp="1"/>
          </p:cNvSpPr>
          <p:nvPr>
            <p:ph sz="half" idx="2"/>
          </p:nvPr>
        </p:nvSpPr>
        <p:spPr/>
        <p:txBody>
          <a:bodyPr/>
          <a:lstStyle/>
          <a:p>
            <a:pPr marL="0" indent="0">
              <a:buNone/>
            </a:pPr>
            <a:r>
              <a:rPr lang="en-US" sz="1800" b="1" dirty="0">
                <a:effectLst/>
                <a:latin typeface="Times New Roman" panose="02020603050405020304" pitchFamily="18" charset="0"/>
                <a:ea typeface="Times New Roman" panose="02020603050405020304" pitchFamily="18" charset="0"/>
              </a:rPr>
              <a:t>2.2 Related Review Literature</a:t>
            </a:r>
          </a:p>
          <a:p>
            <a:pPr marL="338328" lvl="1" indent="0">
              <a:buNone/>
            </a:pPr>
            <a:r>
              <a:rPr lang="en-US" b="1" dirty="0"/>
              <a:t>Relationship Between Variables </a:t>
            </a:r>
          </a:p>
          <a:p>
            <a:pPr lvl="1"/>
            <a:r>
              <a:rPr lang="en-US" dirty="0"/>
              <a:t>Review </a:t>
            </a:r>
            <a:r>
              <a:rPr lang="en-US" altLang="zh-CN" dirty="0"/>
              <a:t>pervious</a:t>
            </a:r>
            <a:r>
              <a:rPr lang="en-US" dirty="0"/>
              <a:t> studies/theories about the relationship between variables.</a:t>
            </a:r>
          </a:p>
          <a:p>
            <a:pPr lvl="1"/>
            <a:r>
              <a:rPr lang="en-US" dirty="0"/>
              <a:t>Discuss what existing research has found about how these variables are related.</a:t>
            </a:r>
          </a:p>
          <a:p>
            <a:pPr lvl="1"/>
            <a:r>
              <a:rPr lang="en-US" dirty="0"/>
              <a:t>Use evidence from academic journals, or recent empirical studies.</a:t>
            </a:r>
          </a:p>
          <a:p>
            <a:pPr lvl="1"/>
            <a:r>
              <a:rPr lang="en-US" dirty="0"/>
              <a:t>Clearly indicate if there are gaps, contradictions, or unresolved issues.</a:t>
            </a:r>
          </a:p>
        </p:txBody>
      </p:sp>
      <p:sp>
        <p:nvSpPr>
          <p:cNvPr id="4" name="Slide Number Placeholder 3">
            <a:extLst>
              <a:ext uri="{FF2B5EF4-FFF2-40B4-BE49-F238E27FC236}">
                <a16:creationId xmlns:a16="http://schemas.microsoft.com/office/drawing/2014/main" id="{1F45092F-1103-6ACC-C06E-508D4B30E37C}"/>
              </a:ext>
            </a:extLst>
          </p:cNvPr>
          <p:cNvSpPr>
            <a:spLocks noGrp="1"/>
          </p:cNvSpPr>
          <p:nvPr>
            <p:ph type="sldNum" sz="quarter" idx="10"/>
          </p:nvPr>
        </p:nvSpPr>
        <p:spPr/>
        <p:txBody>
          <a:bodyPr/>
          <a:lstStyle/>
          <a:p>
            <a:fld id="{48F63A3B-78C7-47BE-AE5E-E10140E04643}" type="slidenum">
              <a:rPr lang="en-US" smtClean="0"/>
              <a:pPr/>
              <a:t>9</a:t>
            </a:fld>
            <a:endParaRPr lang="en-US" dirty="0"/>
          </a:p>
        </p:txBody>
      </p:sp>
    </p:spTree>
    <p:extLst>
      <p:ext uri="{BB962C8B-B14F-4D97-AF65-F5344CB8AC3E}">
        <p14:creationId xmlns:p14="http://schemas.microsoft.com/office/powerpoint/2010/main" val="2524837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821BCB-0402-149D-E362-F8CE3F55B8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05A6A4-9308-D13F-AB8F-40CBF3CC3919}"/>
              </a:ext>
            </a:extLst>
          </p:cNvPr>
          <p:cNvSpPr>
            <a:spLocks noGrp="1"/>
          </p:cNvSpPr>
          <p:nvPr>
            <p:ph type="title"/>
          </p:nvPr>
        </p:nvSpPr>
        <p:spPr/>
        <p:txBody>
          <a:bodyPr/>
          <a:lstStyle/>
          <a:p>
            <a:r>
              <a:rPr lang="en-US" sz="3200" b="1" kern="1200" cap="all" baseline="0" dirty="0">
                <a:solidFill>
                  <a:srgbClr val="1F2C8F"/>
                </a:solidFill>
                <a:effectLst/>
                <a:latin typeface="Arial Black" panose="020B0A04020102020204" pitchFamily="34" charset="0"/>
                <a:ea typeface="+mj-ea"/>
                <a:cs typeface="Arial" panose="020B0604020202020204" pitchFamily="34" charset="0"/>
              </a:rPr>
              <a:t>Chapter 2 : Literature review</a:t>
            </a:r>
            <a:endParaRPr lang="en-US" sz="5400" dirty="0"/>
          </a:p>
        </p:txBody>
      </p:sp>
      <p:sp>
        <p:nvSpPr>
          <p:cNvPr id="3" name="Content Placeholder 2">
            <a:extLst>
              <a:ext uri="{FF2B5EF4-FFF2-40B4-BE49-F238E27FC236}">
                <a16:creationId xmlns:a16="http://schemas.microsoft.com/office/drawing/2014/main" id="{F51506E3-52DC-BE45-7CCC-0BEAC54A74C0}"/>
              </a:ext>
            </a:extLst>
          </p:cNvPr>
          <p:cNvSpPr>
            <a:spLocks noGrp="1"/>
          </p:cNvSpPr>
          <p:nvPr>
            <p:ph sz="half" idx="2"/>
          </p:nvPr>
        </p:nvSpPr>
        <p:spPr/>
        <p:txBody>
          <a:bodyPr/>
          <a:lstStyle/>
          <a:p>
            <a:pPr marL="0" indent="0">
              <a:buNone/>
            </a:pPr>
            <a:r>
              <a:rPr lang="en-US" sz="1800" b="1" dirty="0">
                <a:effectLst/>
                <a:latin typeface="Times New Roman" panose="02020603050405020304" pitchFamily="18" charset="0"/>
                <a:ea typeface="Times New Roman" panose="02020603050405020304" pitchFamily="18" charset="0"/>
              </a:rPr>
              <a:t>2.2 Related Review Literature</a:t>
            </a:r>
          </a:p>
          <a:p>
            <a:pPr marL="338328" lvl="1" indent="0">
              <a:buNone/>
            </a:pPr>
            <a:r>
              <a:rPr lang="en-US" b="1" dirty="0"/>
              <a:t>Relationship Between Variables </a:t>
            </a:r>
          </a:p>
          <a:p>
            <a:pPr lvl="1"/>
            <a:r>
              <a:rPr lang="en-US" b="1" dirty="0"/>
              <a:t>Social Media Marketing and Brand Engagement/Trust</a:t>
            </a:r>
            <a:br>
              <a:rPr lang="en-US" dirty="0"/>
            </a:br>
            <a:r>
              <a:rPr lang="en-US" dirty="0"/>
              <a:t>Empirical evidence shows that effective social media marketing positively influences consumer engagement and trust by facilitating two-way communication and providing valuable information (</a:t>
            </a:r>
            <a:r>
              <a:rPr lang="en-US" dirty="0" err="1"/>
              <a:t>Hollebeek</a:t>
            </a:r>
            <a:r>
              <a:rPr lang="en-US" dirty="0"/>
              <a:t> et al., 2014; Shareef et al., 2019). Interactivity and transparency in social media campaigns foster consumer participation and strengthen trust.</a:t>
            </a:r>
          </a:p>
        </p:txBody>
      </p:sp>
      <p:sp>
        <p:nvSpPr>
          <p:cNvPr id="4" name="Slide Number Placeholder 3">
            <a:extLst>
              <a:ext uri="{FF2B5EF4-FFF2-40B4-BE49-F238E27FC236}">
                <a16:creationId xmlns:a16="http://schemas.microsoft.com/office/drawing/2014/main" id="{9D26D632-7A69-B39A-5D6E-855E79E98D79}"/>
              </a:ext>
            </a:extLst>
          </p:cNvPr>
          <p:cNvSpPr>
            <a:spLocks noGrp="1"/>
          </p:cNvSpPr>
          <p:nvPr>
            <p:ph type="sldNum" sz="quarter" idx="10"/>
          </p:nvPr>
        </p:nvSpPr>
        <p:spPr/>
        <p:txBody>
          <a:bodyPr/>
          <a:lstStyle/>
          <a:p>
            <a:fld id="{48F63A3B-78C7-47BE-AE5E-E10140E04643}" type="slidenum">
              <a:rPr lang="en-US" smtClean="0"/>
              <a:pPr/>
              <a:t>10</a:t>
            </a:fld>
            <a:endParaRPr lang="en-US" dirty="0"/>
          </a:p>
        </p:txBody>
      </p:sp>
    </p:spTree>
    <p:extLst>
      <p:ext uri="{BB962C8B-B14F-4D97-AF65-F5344CB8AC3E}">
        <p14:creationId xmlns:p14="http://schemas.microsoft.com/office/powerpoint/2010/main" val="34560649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A1EAA-8A82-E800-0E33-275D8C577F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F8DDD1-6442-27CF-1F0F-170D43957880}"/>
              </a:ext>
            </a:extLst>
          </p:cNvPr>
          <p:cNvSpPr>
            <a:spLocks noGrp="1"/>
          </p:cNvSpPr>
          <p:nvPr>
            <p:ph type="title"/>
          </p:nvPr>
        </p:nvSpPr>
        <p:spPr/>
        <p:txBody>
          <a:bodyPr/>
          <a:lstStyle/>
          <a:p>
            <a:r>
              <a:rPr lang="en-US" sz="3200" b="1" kern="1200" cap="all" baseline="0" dirty="0">
                <a:solidFill>
                  <a:srgbClr val="1F2C8F"/>
                </a:solidFill>
                <a:effectLst/>
                <a:latin typeface="Arial Black" panose="020B0A04020102020204" pitchFamily="34" charset="0"/>
                <a:ea typeface="+mj-ea"/>
                <a:cs typeface="Arial" panose="020B0604020202020204" pitchFamily="34" charset="0"/>
              </a:rPr>
              <a:t>Chapter 2 : Literature review</a:t>
            </a:r>
            <a:endParaRPr lang="en-US" sz="5400" dirty="0"/>
          </a:p>
        </p:txBody>
      </p:sp>
      <p:sp>
        <p:nvSpPr>
          <p:cNvPr id="3" name="Content Placeholder 2">
            <a:extLst>
              <a:ext uri="{FF2B5EF4-FFF2-40B4-BE49-F238E27FC236}">
                <a16:creationId xmlns:a16="http://schemas.microsoft.com/office/drawing/2014/main" id="{F49D8266-96E8-6B1A-8B50-F0AD510F92A1}"/>
              </a:ext>
            </a:extLst>
          </p:cNvPr>
          <p:cNvSpPr>
            <a:spLocks noGrp="1"/>
          </p:cNvSpPr>
          <p:nvPr>
            <p:ph sz="half" idx="2"/>
          </p:nvPr>
        </p:nvSpPr>
        <p:spPr/>
        <p:txBody>
          <a:bodyPr/>
          <a:lstStyle/>
          <a:p>
            <a:pPr marL="0" indent="0" algn="l" rtl="0" eaLnBrk="1" latinLnBrk="0" hangingPunct="1">
              <a:spcBef>
                <a:spcPts val="1000"/>
              </a:spcBef>
              <a:buNone/>
            </a:pPr>
            <a:r>
              <a:rPr lang="en-US" sz="1800" b="1" kern="1200" dirty="0">
                <a:solidFill>
                  <a:srgbClr val="1F2C8F"/>
                </a:solidFill>
                <a:effectLst/>
                <a:latin typeface="Times New Roman" panose="02020603050405020304" pitchFamily="18" charset="0"/>
                <a:ea typeface="+mn-ea"/>
                <a:cs typeface="+mn-cs"/>
              </a:rPr>
              <a:t>2.3 </a:t>
            </a:r>
            <a:r>
              <a:rPr lang="en-US" sz="1800" b="1" kern="1200" dirty="0">
                <a:solidFill>
                  <a:srgbClr val="1F2C8F"/>
                </a:solidFill>
                <a:effectLst/>
                <a:latin typeface="Times New Roman" panose="02020603050405020304" pitchFamily="18" charset="0"/>
                <a:ea typeface="Times New Roman" panose="02020603050405020304" pitchFamily="18" charset="0"/>
                <a:cs typeface="+mn-cs"/>
              </a:rPr>
              <a:t>Previous Studies</a:t>
            </a:r>
            <a:endParaRPr lang="en-US" b="1" dirty="0">
              <a:effectLst/>
            </a:endParaRPr>
          </a:p>
        </p:txBody>
      </p:sp>
      <p:sp>
        <p:nvSpPr>
          <p:cNvPr id="4" name="Slide Number Placeholder 3">
            <a:extLst>
              <a:ext uri="{FF2B5EF4-FFF2-40B4-BE49-F238E27FC236}">
                <a16:creationId xmlns:a16="http://schemas.microsoft.com/office/drawing/2014/main" id="{774EAD99-F878-0270-20BB-E5D6EBCD63B9}"/>
              </a:ext>
            </a:extLst>
          </p:cNvPr>
          <p:cNvSpPr>
            <a:spLocks noGrp="1"/>
          </p:cNvSpPr>
          <p:nvPr>
            <p:ph type="sldNum" sz="quarter" idx="10"/>
          </p:nvPr>
        </p:nvSpPr>
        <p:spPr/>
        <p:txBody>
          <a:bodyPr/>
          <a:lstStyle/>
          <a:p>
            <a:fld id="{48F63A3B-78C7-47BE-AE5E-E10140E04643}" type="slidenum">
              <a:rPr lang="en-US" smtClean="0"/>
              <a:pPr/>
              <a:t>11</a:t>
            </a:fld>
            <a:endParaRPr lang="en-US" dirty="0"/>
          </a:p>
        </p:txBody>
      </p:sp>
      <p:graphicFrame>
        <p:nvGraphicFramePr>
          <p:cNvPr id="5" name="Table 4">
            <a:extLst>
              <a:ext uri="{FF2B5EF4-FFF2-40B4-BE49-F238E27FC236}">
                <a16:creationId xmlns:a16="http://schemas.microsoft.com/office/drawing/2014/main" id="{E0B96393-1E5E-F983-0541-4BEC9CDDD3CF}"/>
              </a:ext>
            </a:extLst>
          </p:cNvPr>
          <p:cNvGraphicFramePr>
            <a:graphicFrameLocks noGrp="1"/>
          </p:cNvGraphicFramePr>
          <p:nvPr>
            <p:extLst>
              <p:ext uri="{D42A27DB-BD31-4B8C-83A1-F6EECF244321}">
                <p14:modId xmlns:p14="http://schemas.microsoft.com/office/powerpoint/2010/main" val="1312656552"/>
              </p:ext>
            </p:extLst>
          </p:nvPr>
        </p:nvGraphicFramePr>
        <p:xfrm>
          <a:off x="3626005" y="2576207"/>
          <a:ext cx="7638970" cy="4261018"/>
        </p:xfrm>
        <a:graphic>
          <a:graphicData uri="http://schemas.openxmlformats.org/drawingml/2006/table">
            <a:tbl>
              <a:tblPr/>
              <a:tblGrid>
                <a:gridCol w="1527794">
                  <a:extLst>
                    <a:ext uri="{9D8B030D-6E8A-4147-A177-3AD203B41FA5}">
                      <a16:colId xmlns:a16="http://schemas.microsoft.com/office/drawing/2014/main" val="2497758965"/>
                    </a:ext>
                  </a:extLst>
                </a:gridCol>
                <a:gridCol w="1527794">
                  <a:extLst>
                    <a:ext uri="{9D8B030D-6E8A-4147-A177-3AD203B41FA5}">
                      <a16:colId xmlns:a16="http://schemas.microsoft.com/office/drawing/2014/main" val="878586166"/>
                    </a:ext>
                  </a:extLst>
                </a:gridCol>
                <a:gridCol w="1527794">
                  <a:extLst>
                    <a:ext uri="{9D8B030D-6E8A-4147-A177-3AD203B41FA5}">
                      <a16:colId xmlns:a16="http://schemas.microsoft.com/office/drawing/2014/main" val="4002425823"/>
                    </a:ext>
                  </a:extLst>
                </a:gridCol>
                <a:gridCol w="1527794">
                  <a:extLst>
                    <a:ext uri="{9D8B030D-6E8A-4147-A177-3AD203B41FA5}">
                      <a16:colId xmlns:a16="http://schemas.microsoft.com/office/drawing/2014/main" val="2575415330"/>
                    </a:ext>
                  </a:extLst>
                </a:gridCol>
                <a:gridCol w="1527794">
                  <a:extLst>
                    <a:ext uri="{9D8B030D-6E8A-4147-A177-3AD203B41FA5}">
                      <a16:colId xmlns:a16="http://schemas.microsoft.com/office/drawing/2014/main" val="1606471307"/>
                    </a:ext>
                  </a:extLst>
                </a:gridCol>
              </a:tblGrid>
              <a:tr h="457032">
                <a:tc>
                  <a:txBody>
                    <a:bodyPr/>
                    <a:lstStyle/>
                    <a:p>
                      <a:r>
                        <a:rPr lang="en-US" sz="1400" b="1" dirty="0"/>
                        <a:t>Author(s) &amp; Year</a:t>
                      </a:r>
                    </a:p>
                  </a:txBody>
                  <a:tcPr marL="55786" marR="55786" marT="27893" marB="27893" anchor="ctr">
                    <a:lnL>
                      <a:noFill/>
                    </a:lnL>
                    <a:lnR>
                      <a:noFill/>
                    </a:lnR>
                    <a:lnT>
                      <a:noFill/>
                    </a:lnT>
                    <a:lnB>
                      <a:noFill/>
                    </a:lnB>
                    <a:noFill/>
                  </a:tcPr>
                </a:tc>
                <a:tc>
                  <a:txBody>
                    <a:bodyPr/>
                    <a:lstStyle/>
                    <a:p>
                      <a:r>
                        <a:rPr lang="en-US" sz="1400" b="1" dirty="0"/>
                        <a:t>Research Topic / Title</a:t>
                      </a:r>
                    </a:p>
                  </a:txBody>
                  <a:tcPr marL="55786" marR="55786" marT="27893" marB="27893" anchor="ctr">
                    <a:lnL>
                      <a:noFill/>
                    </a:lnL>
                    <a:lnR>
                      <a:noFill/>
                    </a:lnR>
                    <a:lnT>
                      <a:noFill/>
                    </a:lnT>
                    <a:lnB>
                      <a:noFill/>
                    </a:lnB>
                    <a:noFill/>
                  </a:tcPr>
                </a:tc>
                <a:tc>
                  <a:txBody>
                    <a:bodyPr/>
                    <a:lstStyle/>
                    <a:p>
                      <a:r>
                        <a:rPr lang="en-US" sz="1400" b="1" dirty="0"/>
                        <a:t>Variables Studied</a:t>
                      </a:r>
                    </a:p>
                  </a:txBody>
                  <a:tcPr marL="55786" marR="55786" marT="27893" marB="27893" anchor="ctr">
                    <a:lnL>
                      <a:noFill/>
                    </a:lnL>
                    <a:lnR>
                      <a:noFill/>
                    </a:lnR>
                    <a:lnT>
                      <a:noFill/>
                    </a:lnT>
                    <a:lnB>
                      <a:noFill/>
                    </a:lnB>
                    <a:noFill/>
                  </a:tcPr>
                </a:tc>
                <a:tc>
                  <a:txBody>
                    <a:bodyPr/>
                    <a:lstStyle/>
                    <a:p>
                      <a:r>
                        <a:rPr lang="en-US" sz="1400" b="1" dirty="0"/>
                        <a:t>Methodology</a:t>
                      </a:r>
                    </a:p>
                  </a:txBody>
                  <a:tcPr marL="55786" marR="55786" marT="27893" marB="27893" anchor="ctr">
                    <a:lnL>
                      <a:noFill/>
                    </a:lnL>
                    <a:lnR>
                      <a:noFill/>
                    </a:lnR>
                    <a:lnT>
                      <a:noFill/>
                    </a:lnT>
                    <a:lnB>
                      <a:noFill/>
                    </a:lnB>
                    <a:noFill/>
                  </a:tcPr>
                </a:tc>
                <a:tc>
                  <a:txBody>
                    <a:bodyPr/>
                    <a:lstStyle/>
                    <a:p>
                      <a:r>
                        <a:rPr lang="en-US" sz="1400" b="1" dirty="0"/>
                        <a:t>Key Findings</a:t>
                      </a:r>
                    </a:p>
                  </a:txBody>
                  <a:tcPr marL="55786" marR="55786" marT="27893" marB="27893" anchor="ctr">
                    <a:lnL>
                      <a:noFill/>
                    </a:lnL>
                    <a:lnR>
                      <a:noFill/>
                    </a:lnR>
                    <a:lnT>
                      <a:noFill/>
                    </a:lnT>
                    <a:lnB>
                      <a:noFill/>
                    </a:lnB>
                    <a:noFill/>
                  </a:tcPr>
                </a:tc>
                <a:extLst>
                  <a:ext uri="{0D108BD9-81ED-4DB2-BD59-A6C34878D82A}">
                    <a16:rowId xmlns:a16="http://schemas.microsoft.com/office/drawing/2014/main" val="477406854"/>
                  </a:ext>
                </a:extLst>
              </a:tr>
              <a:tr h="686934">
                <a:tc>
                  <a:txBody>
                    <a:bodyPr/>
                    <a:lstStyle/>
                    <a:p>
                      <a:r>
                        <a:rPr lang="en-US" sz="1400" dirty="0"/>
                        <a:t>Davis (1989)</a:t>
                      </a:r>
                    </a:p>
                  </a:txBody>
                  <a:tcPr marL="55786" marR="55786" marT="27893" marB="27893" anchor="ctr">
                    <a:lnL>
                      <a:noFill/>
                    </a:lnL>
                    <a:lnR>
                      <a:noFill/>
                    </a:lnR>
                    <a:lnT>
                      <a:noFill/>
                    </a:lnT>
                    <a:lnB>
                      <a:noFill/>
                    </a:lnB>
                    <a:noFill/>
                  </a:tcPr>
                </a:tc>
                <a:tc>
                  <a:txBody>
                    <a:bodyPr/>
                    <a:lstStyle/>
                    <a:p>
                      <a:r>
                        <a:rPr lang="en-US" sz="1400"/>
                        <a:t>User acceptance of IT</a:t>
                      </a:r>
                    </a:p>
                  </a:txBody>
                  <a:tcPr marL="55786" marR="55786" marT="27893" marB="27893" anchor="ctr">
                    <a:lnL>
                      <a:noFill/>
                    </a:lnL>
                    <a:lnR>
                      <a:noFill/>
                    </a:lnR>
                    <a:lnT>
                      <a:noFill/>
                    </a:lnT>
                    <a:lnB>
                      <a:noFill/>
                    </a:lnB>
                    <a:noFill/>
                  </a:tcPr>
                </a:tc>
                <a:tc>
                  <a:txBody>
                    <a:bodyPr/>
                    <a:lstStyle/>
                    <a:p>
                      <a:r>
                        <a:rPr lang="en-US" sz="1400" dirty="0"/>
                        <a:t>PU, PEOU, Attitude, Intention</a:t>
                      </a:r>
                    </a:p>
                  </a:txBody>
                  <a:tcPr marL="55786" marR="55786" marT="27893" marB="27893" anchor="ctr">
                    <a:lnL>
                      <a:noFill/>
                    </a:lnL>
                    <a:lnR>
                      <a:noFill/>
                    </a:lnR>
                    <a:lnT>
                      <a:noFill/>
                    </a:lnT>
                    <a:lnB>
                      <a:noFill/>
                    </a:lnB>
                    <a:noFill/>
                  </a:tcPr>
                </a:tc>
                <a:tc>
                  <a:txBody>
                    <a:bodyPr/>
                    <a:lstStyle/>
                    <a:p>
                      <a:r>
                        <a:rPr lang="en-US" sz="1400"/>
                        <a:t>Survey, SEM</a:t>
                      </a:r>
                    </a:p>
                  </a:txBody>
                  <a:tcPr marL="55786" marR="55786" marT="27893" marB="27893" anchor="ctr">
                    <a:lnL>
                      <a:noFill/>
                    </a:lnL>
                    <a:lnR>
                      <a:noFill/>
                    </a:lnR>
                    <a:lnT>
                      <a:noFill/>
                    </a:lnT>
                    <a:lnB>
                      <a:noFill/>
                    </a:lnB>
                    <a:noFill/>
                  </a:tcPr>
                </a:tc>
                <a:tc>
                  <a:txBody>
                    <a:bodyPr/>
                    <a:lstStyle/>
                    <a:p>
                      <a:r>
                        <a:rPr lang="en-US" sz="1400" dirty="0"/>
                        <a:t>PU &amp; PEOU significantly affect intention</a:t>
                      </a:r>
                    </a:p>
                  </a:txBody>
                  <a:tcPr marL="55786" marR="55786" marT="27893" marB="27893" anchor="ctr">
                    <a:lnL>
                      <a:noFill/>
                    </a:lnL>
                    <a:lnR>
                      <a:noFill/>
                    </a:lnR>
                    <a:lnT>
                      <a:noFill/>
                    </a:lnT>
                    <a:lnB>
                      <a:noFill/>
                    </a:lnB>
                    <a:noFill/>
                  </a:tcPr>
                </a:tc>
                <a:extLst>
                  <a:ext uri="{0D108BD9-81ED-4DB2-BD59-A6C34878D82A}">
                    <a16:rowId xmlns:a16="http://schemas.microsoft.com/office/drawing/2014/main" val="3037652133"/>
                  </a:ext>
                </a:extLst>
              </a:tr>
              <a:tr h="845457">
                <a:tc>
                  <a:txBody>
                    <a:bodyPr/>
                    <a:lstStyle/>
                    <a:p>
                      <a:r>
                        <a:rPr lang="en-US" sz="1400"/>
                        <a:t>Hollebeek et al. (2014)</a:t>
                      </a:r>
                    </a:p>
                  </a:txBody>
                  <a:tcPr marL="55786" marR="55786" marT="27893" marB="27893" anchor="ctr">
                    <a:lnL>
                      <a:noFill/>
                    </a:lnL>
                    <a:lnR>
                      <a:noFill/>
                    </a:lnR>
                    <a:lnT>
                      <a:noFill/>
                    </a:lnT>
                    <a:lnB>
                      <a:noFill/>
                    </a:lnB>
                    <a:noFill/>
                  </a:tcPr>
                </a:tc>
                <a:tc>
                  <a:txBody>
                    <a:bodyPr/>
                    <a:lstStyle/>
                    <a:p>
                      <a:r>
                        <a:rPr lang="en-US" sz="1400" dirty="0"/>
                        <a:t>Consumer brand engagement in social media</a:t>
                      </a:r>
                    </a:p>
                  </a:txBody>
                  <a:tcPr marL="55786" marR="55786" marT="27893" marB="27893" anchor="ctr">
                    <a:lnL>
                      <a:noFill/>
                    </a:lnL>
                    <a:lnR>
                      <a:noFill/>
                    </a:lnR>
                    <a:lnT>
                      <a:noFill/>
                    </a:lnT>
                    <a:lnB>
                      <a:noFill/>
                    </a:lnB>
                    <a:noFill/>
                  </a:tcPr>
                </a:tc>
                <a:tc>
                  <a:txBody>
                    <a:bodyPr/>
                    <a:lstStyle/>
                    <a:p>
                      <a:r>
                        <a:rPr lang="en-US" sz="1400" dirty="0"/>
                        <a:t>Brand Engagement, SMM</a:t>
                      </a:r>
                    </a:p>
                  </a:txBody>
                  <a:tcPr marL="55786" marR="55786" marT="27893" marB="27893" anchor="ctr">
                    <a:lnL>
                      <a:noFill/>
                    </a:lnL>
                    <a:lnR>
                      <a:noFill/>
                    </a:lnR>
                    <a:lnT>
                      <a:noFill/>
                    </a:lnT>
                    <a:lnB>
                      <a:noFill/>
                    </a:lnB>
                    <a:noFill/>
                  </a:tcPr>
                </a:tc>
                <a:tc>
                  <a:txBody>
                    <a:bodyPr/>
                    <a:lstStyle/>
                    <a:p>
                      <a:r>
                        <a:rPr lang="en-US" sz="1400" dirty="0"/>
                        <a:t>Survey, CFA</a:t>
                      </a:r>
                    </a:p>
                  </a:txBody>
                  <a:tcPr marL="55786" marR="55786" marT="27893" marB="27893" anchor="ctr">
                    <a:lnL>
                      <a:noFill/>
                    </a:lnL>
                    <a:lnR>
                      <a:noFill/>
                    </a:lnR>
                    <a:lnT>
                      <a:noFill/>
                    </a:lnT>
                    <a:lnB>
                      <a:noFill/>
                    </a:lnB>
                    <a:noFill/>
                  </a:tcPr>
                </a:tc>
                <a:tc>
                  <a:txBody>
                    <a:bodyPr/>
                    <a:lstStyle/>
                    <a:p>
                      <a:r>
                        <a:rPr lang="en-US" sz="1400" dirty="0"/>
                        <a:t>SMM positively influences brand engagement</a:t>
                      </a:r>
                    </a:p>
                  </a:txBody>
                  <a:tcPr marL="55786" marR="55786" marT="27893" marB="27893" anchor="ctr">
                    <a:lnL>
                      <a:noFill/>
                    </a:lnL>
                    <a:lnR>
                      <a:noFill/>
                    </a:lnR>
                    <a:lnT>
                      <a:noFill/>
                    </a:lnT>
                    <a:lnB>
                      <a:noFill/>
                    </a:lnB>
                    <a:noFill/>
                  </a:tcPr>
                </a:tc>
                <a:extLst>
                  <a:ext uri="{0D108BD9-81ED-4DB2-BD59-A6C34878D82A}">
                    <a16:rowId xmlns:a16="http://schemas.microsoft.com/office/drawing/2014/main" val="3222650773"/>
                  </a:ext>
                </a:extLst>
              </a:tr>
              <a:tr h="686934">
                <a:tc>
                  <a:txBody>
                    <a:bodyPr/>
                    <a:lstStyle/>
                    <a:p>
                      <a:r>
                        <a:rPr lang="en-US" sz="1400"/>
                        <a:t>Morhart et al. (2015)</a:t>
                      </a:r>
                    </a:p>
                  </a:txBody>
                  <a:tcPr marL="55786" marR="55786" marT="27893" marB="27893" anchor="ctr">
                    <a:lnL>
                      <a:noFill/>
                    </a:lnL>
                    <a:lnR>
                      <a:noFill/>
                    </a:lnR>
                    <a:lnT>
                      <a:noFill/>
                    </a:lnT>
                    <a:lnB>
                      <a:noFill/>
                    </a:lnB>
                    <a:noFill/>
                  </a:tcPr>
                </a:tc>
                <a:tc>
                  <a:txBody>
                    <a:bodyPr/>
                    <a:lstStyle/>
                    <a:p>
                      <a:r>
                        <a:rPr lang="en-US" sz="1400"/>
                        <a:t>Brand authenticity framework</a:t>
                      </a:r>
                    </a:p>
                  </a:txBody>
                  <a:tcPr marL="55786" marR="55786" marT="27893" marB="27893" anchor="ctr">
                    <a:lnL>
                      <a:noFill/>
                    </a:lnL>
                    <a:lnR>
                      <a:noFill/>
                    </a:lnR>
                    <a:lnT>
                      <a:noFill/>
                    </a:lnT>
                    <a:lnB>
                      <a:noFill/>
                    </a:lnB>
                    <a:noFill/>
                  </a:tcPr>
                </a:tc>
                <a:tc>
                  <a:txBody>
                    <a:bodyPr/>
                    <a:lstStyle/>
                    <a:p>
                      <a:r>
                        <a:rPr lang="en-US" sz="1400" dirty="0"/>
                        <a:t>Brand Authenticity, Trust</a:t>
                      </a:r>
                    </a:p>
                  </a:txBody>
                  <a:tcPr marL="55786" marR="55786" marT="27893" marB="27893" anchor="ctr">
                    <a:lnL>
                      <a:noFill/>
                    </a:lnL>
                    <a:lnR>
                      <a:noFill/>
                    </a:lnR>
                    <a:lnT>
                      <a:noFill/>
                    </a:lnT>
                    <a:lnB>
                      <a:noFill/>
                    </a:lnB>
                    <a:noFill/>
                  </a:tcPr>
                </a:tc>
                <a:tc>
                  <a:txBody>
                    <a:bodyPr/>
                    <a:lstStyle/>
                    <a:p>
                      <a:r>
                        <a:rPr lang="en-US" sz="1400"/>
                        <a:t>Survey, SEM</a:t>
                      </a:r>
                    </a:p>
                  </a:txBody>
                  <a:tcPr marL="55786" marR="55786" marT="27893" marB="27893" anchor="ctr">
                    <a:lnL>
                      <a:noFill/>
                    </a:lnL>
                    <a:lnR>
                      <a:noFill/>
                    </a:lnR>
                    <a:lnT>
                      <a:noFill/>
                    </a:lnT>
                    <a:lnB>
                      <a:noFill/>
                    </a:lnB>
                    <a:noFill/>
                  </a:tcPr>
                </a:tc>
                <a:tc>
                  <a:txBody>
                    <a:bodyPr/>
                    <a:lstStyle/>
                    <a:p>
                      <a:r>
                        <a:rPr lang="en-US" sz="1400" dirty="0"/>
                        <a:t>Authenticity increases trust and loyalty</a:t>
                      </a:r>
                    </a:p>
                  </a:txBody>
                  <a:tcPr marL="55786" marR="55786" marT="27893" marB="27893" anchor="ctr">
                    <a:lnL>
                      <a:noFill/>
                    </a:lnL>
                    <a:lnR>
                      <a:noFill/>
                    </a:lnR>
                    <a:lnT>
                      <a:noFill/>
                    </a:lnT>
                    <a:lnB>
                      <a:noFill/>
                    </a:lnB>
                    <a:noFill/>
                  </a:tcPr>
                </a:tc>
                <a:extLst>
                  <a:ext uri="{0D108BD9-81ED-4DB2-BD59-A6C34878D82A}">
                    <a16:rowId xmlns:a16="http://schemas.microsoft.com/office/drawing/2014/main" val="1184995340"/>
                  </a:ext>
                </a:extLst>
              </a:tr>
              <a:tr h="686934">
                <a:tc>
                  <a:txBody>
                    <a:bodyPr/>
                    <a:lstStyle/>
                    <a:p>
                      <a:r>
                        <a:rPr lang="en-US" sz="1400" dirty="0"/>
                        <a:t>Cheung &amp; Thadani (2012)</a:t>
                      </a:r>
                    </a:p>
                  </a:txBody>
                  <a:tcPr marL="55786" marR="55786" marT="27893" marB="27893" anchor="ctr">
                    <a:lnL>
                      <a:noFill/>
                    </a:lnL>
                    <a:lnR>
                      <a:noFill/>
                    </a:lnR>
                    <a:lnT>
                      <a:noFill/>
                    </a:lnT>
                    <a:lnB>
                      <a:noFill/>
                    </a:lnB>
                    <a:noFill/>
                  </a:tcPr>
                </a:tc>
                <a:tc>
                  <a:txBody>
                    <a:bodyPr/>
                    <a:lstStyle/>
                    <a:p>
                      <a:r>
                        <a:rPr lang="en-US" sz="1400" dirty="0"/>
                        <a:t>e-WOM and consumer decision-making</a:t>
                      </a:r>
                    </a:p>
                  </a:txBody>
                  <a:tcPr marL="55786" marR="55786" marT="27893" marB="27893" anchor="ctr">
                    <a:lnL>
                      <a:noFill/>
                    </a:lnL>
                    <a:lnR>
                      <a:noFill/>
                    </a:lnR>
                    <a:lnT>
                      <a:noFill/>
                    </a:lnT>
                    <a:lnB>
                      <a:noFill/>
                    </a:lnB>
                    <a:noFill/>
                  </a:tcPr>
                </a:tc>
                <a:tc>
                  <a:txBody>
                    <a:bodyPr/>
                    <a:lstStyle/>
                    <a:p>
                      <a:r>
                        <a:rPr lang="en-US" sz="1400" dirty="0"/>
                        <a:t>e-WOM, Trust, Purchase Intention</a:t>
                      </a:r>
                    </a:p>
                  </a:txBody>
                  <a:tcPr marL="55786" marR="55786" marT="27893" marB="27893" anchor="ctr">
                    <a:lnL>
                      <a:noFill/>
                    </a:lnL>
                    <a:lnR>
                      <a:noFill/>
                    </a:lnR>
                    <a:lnT>
                      <a:noFill/>
                    </a:lnT>
                    <a:lnB>
                      <a:noFill/>
                    </a:lnB>
                    <a:noFill/>
                  </a:tcPr>
                </a:tc>
                <a:tc>
                  <a:txBody>
                    <a:bodyPr/>
                    <a:lstStyle/>
                    <a:p>
                      <a:r>
                        <a:rPr lang="en-US" sz="1400" dirty="0"/>
                        <a:t>Literature review</a:t>
                      </a:r>
                    </a:p>
                  </a:txBody>
                  <a:tcPr marL="55786" marR="55786" marT="27893" marB="27893" anchor="ctr">
                    <a:lnL>
                      <a:noFill/>
                    </a:lnL>
                    <a:lnR>
                      <a:noFill/>
                    </a:lnR>
                    <a:lnT>
                      <a:noFill/>
                    </a:lnT>
                    <a:lnB>
                      <a:noFill/>
                    </a:lnB>
                    <a:noFill/>
                  </a:tcPr>
                </a:tc>
                <a:tc>
                  <a:txBody>
                    <a:bodyPr/>
                    <a:lstStyle/>
                    <a:p>
                      <a:r>
                        <a:rPr lang="en-US" sz="1400"/>
                        <a:t>e-WOM impacts trust and purchase intention</a:t>
                      </a:r>
                    </a:p>
                  </a:txBody>
                  <a:tcPr marL="55786" marR="55786" marT="27893" marB="27893" anchor="ctr">
                    <a:lnL>
                      <a:noFill/>
                    </a:lnL>
                    <a:lnR>
                      <a:noFill/>
                    </a:lnR>
                    <a:lnT>
                      <a:noFill/>
                    </a:lnT>
                    <a:lnB>
                      <a:noFill/>
                    </a:lnB>
                    <a:noFill/>
                  </a:tcPr>
                </a:tc>
                <a:extLst>
                  <a:ext uri="{0D108BD9-81ED-4DB2-BD59-A6C34878D82A}">
                    <a16:rowId xmlns:a16="http://schemas.microsoft.com/office/drawing/2014/main" val="3582114013"/>
                  </a:ext>
                </a:extLst>
              </a:tr>
              <a:tr h="845457">
                <a:tc>
                  <a:txBody>
                    <a:bodyPr/>
                    <a:lstStyle/>
                    <a:p>
                      <a:r>
                        <a:rPr lang="en-US" sz="1400"/>
                        <a:t>Shareef et al. (2019)</a:t>
                      </a:r>
                    </a:p>
                  </a:txBody>
                  <a:tcPr marL="55786" marR="55786" marT="27893" marB="27893" anchor="ctr">
                    <a:lnL>
                      <a:noFill/>
                    </a:lnL>
                    <a:lnR>
                      <a:noFill/>
                    </a:lnR>
                    <a:lnT>
                      <a:noFill/>
                    </a:lnT>
                    <a:lnB>
                      <a:noFill/>
                    </a:lnB>
                    <a:noFill/>
                  </a:tcPr>
                </a:tc>
                <a:tc>
                  <a:txBody>
                    <a:bodyPr/>
                    <a:lstStyle/>
                    <a:p>
                      <a:r>
                        <a:rPr lang="en-US" sz="1400" dirty="0"/>
                        <a:t>Adoption of mobile banking services</a:t>
                      </a:r>
                    </a:p>
                  </a:txBody>
                  <a:tcPr marL="55786" marR="55786" marT="27893" marB="27893" anchor="ctr">
                    <a:lnL>
                      <a:noFill/>
                    </a:lnL>
                    <a:lnR>
                      <a:noFill/>
                    </a:lnR>
                    <a:lnT>
                      <a:noFill/>
                    </a:lnT>
                    <a:lnB>
                      <a:noFill/>
                    </a:lnB>
                    <a:noFill/>
                  </a:tcPr>
                </a:tc>
                <a:tc>
                  <a:txBody>
                    <a:bodyPr/>
                    <a:lstStyle/>
                    <a:p>
                      <a:r>
                        <a:rPr lang="en-US" sz="1400" dirty="0"/>
                        <a:t>SMM, Trust, Adoption</a:t>
                      </a:r>
                    </a:p>
                  </a:txBody>
                  <a:tcPr marL="55786" marR="55786" marT="27893" marB="27893" anchor="ctr">
                    <a:lnL>
                      <a:noFill/>
                    </a:lnL>
                    <a:lnR>
                      <a:noFill/>
                    </a:lnR>
                    <a:lnT>
                      <a:noFill/>
                    </a:lnT>
                    <a:lnB>
                      <a:noFill/>
                    </a:lnB>
                    <a:noFill/>
                  </a:tcPr>
                </a:tc>
                <a:tc>
                  <a:txBody>
                    <a:bodyPr/>
                    <a:lstStyle/>
                    <a:p>
                      <a:r>
                        <a:rPr lang="en-US" sz="1400" dirty="0"/>
                        <a:t>Survey, PLS-SEM</a:t>
                      </a:r>
                    </a:p>
                  </a:txBody>
                  <a:tcPr marL="55786" marR="55786" marT="27893" marB="27893" anchor="ctr">
                    <a:lnL>
                      <a:noFill/>
                    </a:lnL>
                    <a:lnR>
                      <a:noFill/>
                    </a:lnR>
                    <a:lnT>
                      <a:noFill/>
                    </a:lnT>
                    <a:lnB>
                      <a:noFill/>
                    </a:lnB>
                    <a:noFill/>
                  </a:tcPr>
                </a:tc>
                <a:tc>
                  <a:txBody>
                    <a:bodyPr/>
                    <a:lstStyle/>
                    <a:p>
                      <a:r>
                        <a:rPr lang="en-US" sz="1400" dirty="0"/>
                        <a:t>SMM enhances trust, trust predicts adoption</a:t>
                      </a:r>
                    </a:p>
                  </a:txBody>
                  <a:tcPr marL="55786" marR="55786" marT="27893" marB="27893" anchor="ctr">
                    <a:lnL>
                      <a:noFill/>
                    </a:lnL>
                    <a:lnR>
                      <a:noFill/>
                    </a:lnR>
                    <a:lnT>
                      <a:noFill/>
                    </a:lnT>
                    <a:lnB>
                      <a:noFill/>
                    </a:lnB>
                    <a:noFill/>
                  </a:tcPr>
                </a:tc>
                <a:extLst>
                  <a:ext uri="{0D108BD9-81ED-4DB2-BD59-A6C34878D82A}">
                    <a16:rowId xmlns:a16="http://schemas.microsoft.com/office/drawing/2014/main" val="1667214711"/>
                  </a:ext>
                </a:extLst>
              </a:tr>
            </a:tbl>
          </a:graphicData>
        </a:graphic>
      </p:graphicFrame>
    </p:spTree>
    <p:extLst>
      <p:ext uri="{BB962C8B-B14F-4D97-AF65-F5344CB8AC3E}">
        <p14:creationId xmlns:p14="http://schemas.microsoft.com/office/powerpoint/2010/main" val="32411772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7E8523-A0BC-E02A-8064-12D9C9A72A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C9A985-117F-CA8F-E565-168080BD9123}"/>
              </a:ext>
            </a:extLst>
          </p:cNvPr>
          <p:cNvSpPr>
            <a:spLocks noGrp="1"/>
          </p:cNvSpPr>
          <p:nvPr>
            <p:ph type="title"/>
          </p:nvPr>
        </p:nvSpPr>
        <p:spPr/>
        <p:txBody>
          <a:bodyPr/>
          <a:lstStyle/>
          <a:p>
            <a:r>
              <a:rPr lang="en-US" sz="3200" b="1" kern="1200" cap="all" baseline="0" dirty="0">
                <a:solidFill>
                  <a:srgbClr val="1F2C8F"/>
                </a:solidFill>
                <a:effectLst/>
                <a:latin typeface="Arial Black" panose="020B0A04020102020204" pitchFamily="34" charset="0"/>
                <a:ea typeface="+mj-ea"/>
                <a:cs typeface="Arial" panose="020B0604020202020204" pitchFamily="34" charset="0"/>
              </a:rPr>
              <a:t>Chapter 2 : Literature review</a:t>
            </a:r>
            <a:endParaRPr lang="en-US" sz="5400" dirty="0"/>
          </a:p>
        </p:txBody>
      </p:sp>
      <p:sp>
        <p:nvSpPr>
          <p:cNvPr id="3" name="Content Placeholder 2">
            <a:extLst>
              <a:ext uri="{FF2B5EF4-FFF2-40B4-BE49-F238E27FC236}">
                <a16:creationId xmlns:a16="http://schemas.microsoft.com/office/drawing/2014/main" id="{9FDBE543-D0AF-A495-4BEF-526B7060F6ED}"/>
              </a:ext>
            </a:extLst>
          </p:cNvPr>
          <p:cNvSpPr>
            <a:spLocks noGrp="1"/>
          </p:cNvSpPr>
          <p:nvPr>
            <p:ph sz="half" idx="2"/>
          </p:nvPr>
        </p:nvSpPr>
        <p:spPr/>
        <p:txBody>
          <a:bodyPr/>
          <a:lstStyle/>
          <a:p>
            <a:pPr marL="0" indent="0" algn="l" rtl="0" eaLnBrk="1" latinLnBrk="0" hangingPunct="1">
              <a:lnSpc>
                <a:spcPct val="150000"/>
              </a:lnSpc>
              <a:spcBef>
                <a:spcPts val="1000"/>
              </a:spcBef>
              <a:buNone/>
            </a:pPr>
            <a:r>
              <a:rPr lang="en-US" sz="1800" b="1" kern="1200" dirty="0">
                <a:solidFill>
                  <a:srgbClr val="1F2C8F"/>
                </a:solidFill>
                <a:effectLst/>
                <a:latin typeface="Times New Roman" panose="02020603050405020304" pitchFamily="18" charset="0"/>
                <a:ea typeface="+mn-ea"/>
                <a:cs typeface="+mn-cs"/>
              </a:rPr>
              <a:t>2.3 </a:t>
            </a:r>
            <a:r>
              <a:rPr lang="en-US" sz="1800" b="1" kern="1200" dirty="0">
                <a:solidFill>
                  <a:srgbClr val="1F2C8F"/>
                </a:solidFill>
                <a:effectLst/>
                <a:latin typeface="Times New Roman" panose="02020603050405020304" pitchFamily="18" charset="0"/>
                <a:ea typeface="Times New Roman" panose="02020603050405020304" pitchFamily="18" charset="0"/>
                <a:cs typeface="+mn-cs"/>
              </a:rPr>
              <a:t>Previous Studies</a:t>
            </a:r>
          </a:p>
          <a:p>
            <a:pPr>
              <a:lnSpc>
                <a:spcPct val="150000"/>
              </a:lnSpc>
            </a:pPr>
            <a:r>
              <a:rPr lang="en-US" b="1" dirty="0"/>
              <a:t>Select studies</a:t>
            </a:r>
            <a:r>
              <a:rPr lang="en-US" dirty="0"/>
              <a:t> most relevant to your variables and research context.</a:t>
            </a:r>
          </a:p>
          <a:p>
            <a:pPr>
              <a:lnSpc>
                <a:spcPct val="150000"/>
              </a:lnSpc>
            </a:pPr>
            <a:r>
              <a:rPr lang="en-US" b="1" dirty="0"/>
              <a:t>Summarize concisely</a:t>
            </a:r>
            <a:r>
              <a:rPr lang="en-US" dirty="0"/>
              <a:t>: focus on variables, methods </a:t>
            </a:r>
            <a:r>
              <a:rPr lang="en-US" altLang="zh-CN" dirty="0"/>
              <a:t>and </a:t>
            </a:r>
            <a:r>
              <a:rPr lang="en-US" dirty="0"/>
              <a:t>findings</a:t>
            </a:r>
            <a:endParaRPr lang="en-US" b="1" dirty="0">
              <a:effectLst/>
            </a:endParaRPr>
          </a:p>
        </p:txBody>
      </p:sp>
      <p:sp>
        <p:nvSpPr>
          <p:cNvPr id="4" name="Slide Number Placeholder 3">
            <a:extLst>
              <a:ext uri="{FF2B5EF4-FFF2-40B4-BE49-F238E27FC236}">
                <a16:creationId xmlns:a16="http://schemas.microsoft.com/office/drawing/2014/main" id="{6F13E477-B6A3-3B83-9E36-F45B8309DD7D}"/>
              </a:ext>
            </a:extLst>
          </p:cNvPr>
          <p:cNvSpPr>
            <a:spLocks noGrp="1"/>
          </p:cNvSpPr>
          <p:nvPr>
            <p:ph type="sldNum" sz="quarter" idx="10"/>
          </p:nvPr>
        </p:nvSpPr>
        <p:spPr/>
        <p:txBody>
          <a:bodyPr/>
          <a:lstStyle/>
          <a:p>
            <a:fld id="{48F63A3B-78C7-47BE-AE5E-E10140E04643}" type="slidenum">
              <a:rPr lang="en-US" smtClean="0"/>
              <a:pPr/>
              <a:t>12</a:t>
            </a:fld>
            <a:endParaRPr lang="en-US" dirty="0"/>
          </a:p>
        </p:txBody>
      </p:sp>
    </p:spTree>
    <p:extLst>
      <p:ext uri="{BB962C8B-B14F-4D97-AF65-F5344CB8AC3E}">
        <p14:creationId xmlns:p14="http://schemas.microsoft.com/office/powerpoint/2010/main" val="34957872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FBEF2-ADD3-709B-42B2-52F953D760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1FE026-0B05-081C-766A-38A1A24C6C7D}"/>
              </a:ext>
            </a:extLst>
          </p:cNvPr>
          <p:cNvSpPr>
            <a:spLocks noGrp="1"/>
          </p:cNvSpPr>
          <p:nvPr>
            <p:ph type="title"/>
          </p:nvPr>
        </p:nvSpPr>
        <p:spPr/>
        <p:txBody>
          <a:bodyPr/>
          <a:lstStyle/>
          <a:p>
            <a:r>
              <a:rPr lang="en-US" sz="2800" b="1" kern="1200" cap="all" baseline="0" dirty="0">
                <a:solidFill>
                  <a:srgbClr val="1F2C8F"/>
                </a:solidFill>
                <a:effectLst/>
                <a:latin typeface="Arial Black" panose="020B0A04020102020204" pitchFamily="34" charset="0"/>
                <a:ea typeface="+mj-ea"/>
                <a:cs typeface="Arial" panose="020B0604020202020204" pitchFamily="34" charset="0"/>
              </a:rPr>
              <a:t>Chapter 3 : </a:t>
            </a:r>
            <a:r>
              <a:rPr lang="en-US" sz="2800" dirty="0">
                <a:solidFill>
                  <a:srgbClr val="1F2C8F"/>
                </a:solidFill>
                <a:latin typeface="Arial Black" panose="020B0A04020102020204" pitchFamily="34" charset="0"/>
              </a:rPr>
              <a:t>Research framework</a:t>
            </a:r>
          </a:p>
        </p:txBody>
      </p:sp>
      <p:sp>
        <p:nvSpPr>
          <p:cNvPr id="3" name="Content Placeholder 2">
            <a:extLst>
              <a:ext uri="{FF2B5EF4-FFF2-40B4-BE49-F238E27FC236}">
                <a16:creationId xmlns:a16="http://schemas.microsoft.com/office/drawing/2014/main" id="{7B578BFF-C6DA-82C8-7DE2-B9EEAE05D112}"/>
              </a:ext>
            </a:extLst>
          </p:cNvPr>
          <p:cNvSpPr>
            <a:spLocks noGrp="1"/>
          </p:cNvSpPr>
          <p:nvPr>
            <p:ph sz="half" idx="2"/>
          </p:nvPr>
        </p:nvSpPr>
        <p:spPr/>
        <p:txBody>
          <a:bodyPr/>
          <a:lstStyle/>
          <a:p>
            <a:pPr marL="0" indent="0">
              <a:lnSpc>
                <a:spcPct val="150000"/>
              </a:lnSpc>
              <a:buNone/>
            </a:pPr>
            <a:r>
              <a:rPr lang="en-US" sz="1800" b="1" kern="1200" dirty="0">
                <a:solidFill>
                  <a:srgbClr val="1F2C8F"/>
                </a:solidFill>
                <a:effectLst/>
                <a:latin typeface="Times New Roman" panose="02020603050405020304" pitchFamily="18" charset="0"/>
                <a:ea typeface="Times New Roman" panose="02020603050405020304" pitchFamily="18" charset="0"/>
                <a:cs typeface="+mn-cs"/>
              </a:rPr>
              <a:t>3.1 Theoretical frameworks </a:t>
            </a:r>
            <a:r>
              <a:rPr lang="en-US" dirty="0">
                <a:solidFill>
                  <a:srgbClr val="1F2C8F"/>
                </a:solidFill>
                <a:latin typeface="Times New Roman" panose="02020603050405020304" pitchFamily="18" charset="0"/>
                <a:ea typeface="Times New Roman" panose="02020603050405020304" pitchFamily="18" charset="0"/>
              </a:rPr>
              <a:t>(Framework you borrowed from pervious studies)</a:t>
            </a:r>
            <a:endParaRPr lang="en-US" sz="1800" kern="1200" dirty="0">
              <a:solidFill>
                <a:srgbClr val="1F2C8F"/>
              </a:solidFill>
              <a:effectLst/>
              <a:latin typeface="Times New Roman" panose="02020603050405020304" pitchFamily="18" charset="0"/>
              <a:ea typeface="Times New Roman" panose="02020603050405020304" pitchFamily="18" charset="0"/>
              <a:cs typeface="+mn-cs"/>
            </a:endParaRPr>
          </a:p>
          <a:p>
            <a:pPr>
              <a:lnSpc>
                <a:spcPct val="150000"/>
              </a:lnSpc>
            </a:pPr>
            <a:r>
              <a:rPr lang="en-US" sz="1600" dirty="0"/>
              <a:t>The Theoretical Framework section identifies, describes, and justifies the main theories or models that underpin your research.</a:t>
            </a:r>
          </a:p>
          <a:p>
            <a:pPr>
              <a:lnSpc>
                <a:spcPct val="150000"/>
              </a:lnSpc>
            </a:pPr>
            <a:r>
              <a:rPr lang="en-US" sz="1600" dirty="0"/>
              <a:t>It connects your research variables and hypotheses to established academic thought.</a:t>
            </a:r>
          </a:p>
          <a:p>
            <a:pPr>
              <a:lnSpc>
                <a:spcPct val="150000"/>
              </a:lnSpc>
            </a:pPr>
            <a:r>
              <a:rPr lang="en-US" sz="1600" dirty="0"/>
              <a:t>Providing a logical basis for your conceptual model and proposed relationships.</a:t>
            </a:r>
            <a:endParaRPr lang="en-US" sz="1600" dirty="0">
              <a:effectLst/>
            </a:endParaRPr>
          </a:p>
          <a:p>
            <a:pPr marL="0" indent="0" algn="l" rtl="0" eaLnBrk="1" latinLnBrk="0" hangingPunct="1">
              <a:lnSpc>
                <a:spcPct val="150000"/>
              </a:lnSpc>
              <a:spcBef>
                <a:spcPts val="1000"/>
              </a:spcBef>
              <a:buNone/>
            </a:pPr>
            <a:endParaRPr lang="en-US" sz="1600" b="1" dirty="0">
              <a:effectLst/>
            </a:endParaRPr>
          </a:p>
        </p:txBody>
      </p:sp>
      <p:sp>
        <p:nvSpPr>
          <p:cNvPr id="4" name="Slide Number Placeholder 3">
            <a:extLst>
              <a:ext uri="{FF2B5EF4-FFF2-40B4-BE49-F238E27FC236}">
                <a16:creationId xmlns:a16="http://schemas.microsoft.com/office/drawing/2014/main" id="{8DD35D12-7CB8-105C-69C6-18D3CE1376CC}"/>
              </a:ext>
            </a:extLst>
          </p:cNvPr>
          <p:cNvSpPr>
            <a:spLocks noGrp="1"/>
          </p:cNvSpPr>
          <p:nvPr>
            <p:ph type="sldNum" sz="quarter" idx="10"/>
          </p:nvPr>
        </p:nvSpPr>
        <p:spPr/>
        <p:txBody>
          <a:bodyPr/>
          <a:lstStyle/>
          <a:p>
            <a:fld id="{48F63A3B-78C7-47BE-AE5E-E10140E04643}" type="slidenum">
              <a:rPr lang="en-US" sz="1400" smtClean="0"/>
              <a:pPr/>
              <a:t>13</a:t>
            </a:fld>
            <a:endParaRPr lang="en-US" sz="1400" dirty="0"/>
          </a:p>
        </p:txBody>
      </p:sp>
    </p:spTree>
    <p:extLst>
      <p:ext uri="{BB962C8B-B14F-4D97-AF65-F5344CB8AC3E}">
        <p14:creationId xmlns:p14="http://schemas.microsoft.com/office/powerpoint/2010/main" val="19222619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3181F-1C04-985A-4F86-5EFC79F407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833471-F4CA-C206-B4C0-40869187F1FA}"/>
              </a:ext>
            </a:extLst>
          </p:cNvPr>
          <p:cNvSpPr>
            <a:spLocks noGrp="1"/>
          </p:cNvSpPr>
          <p:nvPr>
            <p:ph type="title"/>
          </p:nvPr>
        </p:nvSpPr>
        <p:spPr/>
        <p:txBody>
          <a:bodyPr/>
          <a:lstStyle/>
          <a:p>
            <a:r>
              <a:rPr lang="en-US" sz="2800" b="1" kern="1200" cap="all" baseline="0" dirty="0">
                <a:solidFill>
                  <a:srgbClr val="1F2C8F"/>
                </a:solidFill>
                <a:effectLst/>
                <a:latin typeface="Arial Black" panose="020B0A04020102020204" pitchFamily="34" charset="0"/>
                <a:ea typeface="+mj-ea"/>
                <a:cs typeface="Arial" panose="020B0604020202020204" pitchFamily="34" charset="0"/>
              </a:rPr>
              <a:t>Chapter 3 : </a:t>
            </a:r>
            <a:r>
              <a:rPr lang="en-US" sz="2800" dirty="0">
                <a:solidFill>
                  <a:srgbClr val="1F2C8F"/>
                </a:solidFill>
                <a:latin typeface="Arial Black" panose="020B0A04020102020204" pitchFamily="34" charset="0"/>
              </a:rPr>
              <a:t>Research framework</a:t>
            </a:r>
          </a:p>
        </p:txBody>
      </p:sp>
      <p:sp>
        <p:nvSpPr>
          <p:cNvPr id="3" name="Content Placeholder 2">
            <a:extLst>
              <a:ext uri="{FF2B5EF4-FFF2-40B4-BE49-F238E27FC236}">
                <a16:creationId xmlns:a16="http://schemas.microsoft.com/office/drawing/2014/main" id="{7FDFE975-E952-DD31-3003-9C4778EC6A54}"/>
              </a:ext>
            </a:extLst>
          </p:cNvPr>
          <p:cNvSpPr>
            <a:spLocks noGrp="1"/>
          </p:cNvSpPr>
          <p:nvPr>
            <p:ph sz="half" idx="2"/>
          </p:nvPr>
        </p:nvSpPr>
        <p:spPr/>
        <p:txBody>
          <a:bodyPr>
            <a:normAutofit fontScale="92500" lnSpcReduction="20000"/>
          </a:bodyPr>
          <a:lstStyle/>
          <a:p>
            <a:pPr marL="0" indent="0">
              <a:lnSpc>
                <a:spcPct val="150000"/>
              </a:lnSpc>
              <a:buNone/>
            </a:pPr>
            <a:r>
              <a:rPr lang="en-US" sz="1800" b="1" kern="1200" dirty="0">
                <a:solidFill>
                  <a:srgbClr val="1F2C8F"/>
                </a:solidFill>
                <a:effectLst/>
                <a:latin typeface="Times New Roman" panose="02020603050405020304" pitchFamily="18" charset="0"/>
                <a:ea typeface="Times New Roman" panose="02020603050405020304" pitchFamily="18" charset="0"/>
                <a:cs typeface="+mn-cs"/>
              </a:rPr>
              <a:t>3.1 Theoretical frameworks </a:t>
            </a:r>
            <a:r>
              <a:rPr lang="en-US" sz="1800" kern="1200" dirty="0">
                <a:solidFill>
                  <a:srgbClr val="1F2C8F"/>
                </a:solidFill>
                <a:effectLst/>
                <a:latin typeface="Times New Roman" panose="02020603050405020304" pitchFamily="18" charset="0"/>
                <a:ea typeface="Times New Roman" panose="02020603050405020304" pitchFamily="18" charset="0"/>
                <a:cs typeface="+mn-cs"/>
              </a:rPr>
              <a:t>(</a:t>
            </a:r>
            <a:r>
              <a:rPr lang="en-US" sz="1600" dirty="0"/>
              <a:t>Visual Representation) </a:t>
            </a:r>
            <a:r>
              <a:rPr lang="en-US" sz="1600" b="1" dirty="0"/>
              <a:t>Structure</a:t>
            </a:r>
            <a:r>
              <a:rPr lang="zh-CN" altLang="en-US" sz="1600" b="1" dirty="0"/>
              <a:t>：</a:t>
            </a:r>
            <a:endParaRPr lang="en-US" altLang="zh-CN" sz="1600" b="1" dirty="0"/>
          </a:p>
          <a:p>
            <a:pPr marL="342900" indent="-342900">
              <a:lnSpc>
                <a:spcPct val="150000"/>
              </a:lnSpc>
              <a:buFont typeface="+mj-lt"/>
              <a:buAutoNum type="arabicPeriod"/>
            </a:pPr>
            <a:r>
              <a:rPr lang="en-US" sz="1600" b="1" dirty="0"/>
              <a:t>Introduction</a:t>
            </a:r>
          </a:p>
          <a:p>
            <a:pPr lvl="1"/>
            <a:r>
              <a:rPr lang="en-US" sz="1600" dirty="0"/>
              <a:t>Briefly state the importance of a strong theoretical foundation.</a:t>
            </a:r>
            <a:endParaRPr lang="en-US" sz="1600" b="1" dirty="0"/>
          </a:p>
          <a:p>
            <a:pPr lvl="1"/>
            <a:r>
              <a:rPr lang="en-US" sz="1600" dirty="0"/>
              <a:t>Mention which main theory or theories your research adopts.</a:t>
            </a:r>
            <a:endParaRPr lang="en-US" sz="1600" b="1" dirty="0"/>
          </a:p>
          <a:p>
            <a:pPr marL="342900" indent="-342900" algn="l" rtl="0" eaLnBrk="1" latinLnBrk="0" hangingPunct="1">
              <a:lnSpc>
                <a:spcPct val="150000"/>
              </a:lnSpc>
              <a:spcBef>
                <a:spcPts val="1000"/>
              </a:spcBef>
              <a:buFont typeface="+mj-lt"/>
              <a:buAutoNum type="arabicPeriod"/>
            </a:pPr>
            <a:r>
              <a:rPr lang="en-US" sz="1600" b="1" dirty="0"/>
              <a:t>Description of Main Theories/Models</a:t>
            </a:r>
          </a:p>
          <a:p>
            <a:pPr lvl="1">
              <a:lnSpc>
                <a:spcPct val="150000"/>
              </a:lnSpc>
            </a:pPr>
            <a:r>
              <a:rPr lang="en-US" sz="1600" dirty="0"/>
              <a:t>Explain the origin, key components, and relevance of each selected theory.</a:t>
            </a:r>
          </a:p>
          <a:p>
            <a:pPr lvl="1">
              <a:lnSpc>
                <a:spcPct val="150000"/>
              </a:lnSpc>
            </a:pPr>
            <a:r>
              <a:rPr lang="en-US" sz="1600" dirty="0"/>
              <a:t>Clearly define theoretical constructs as they relate to your study variables.</a:t>
            </a:r>
          </a:p>
          <a:p>
            <a:pPr marL="342900" indent="-342900" algn="l" rtl="0" eaLnBrk="1" latinLnBrk="0" hangingPunct="1">
              <a:lnSpc>
                <a:spcPct val="150000"/>
              </a:lnSpc>
              <a:spcBef>
                <a:spcPts val="1000"/>
              </a:spcBef>
              <a:buFont typeface="+mj-lt"/>
              <a:buAutoNum type="arabicPeriod"/>
            </a:pPr>
            <a:r>
              <a:rPr lang="en-US" sz="1600" b="1" dirty="0"/>
              <a:t>Application to Your Study</a:t>
            </a:r>
          </a:p>
          <a:p>
            <a:pPr lvl="1">
              <a:lnSpc>
                <a:spcPct val="150000"/>
              </a:lnSpc>
            </a:pPr>
            <a:r>
              <a:rPr lang="en-US" sz="1600" dirty="0"/>
              <a:t>Justify why the chosen theories are suitable for your research context and objectives.</a:t>
            </a:r>
            <a:endParaRPr lang="en-US" sz="1600" b="1" dirty="0">
              <a:effectLst/>
            </a:endParaRPr>
          </a:p>
        </p:txBody>
      </p:sp>
      <p:sp>
        <p:nvSpPr>
          <p:cNvPr id="4" name="Slide Number Placeholder 3">
            <a:extLst>
              <a:ext uri="{FF2B5EF4-FFF2-40B4-BE49-F238E27FC236}">
                <a16:creationId xmlns:a16="http://schemas.microsoft.com/office/drawing/2014/main" id="{C3B06B84-4FDF-EEC1-86D4-40481FED3210}"/>
              </a:ext>
            </a:extLst>
          </p:cNvPr>
          <p:cNvSpPr>
            <a:spLocks noGrp="1"/>
          </p:cNvSpPr>
          <p:nvPr>
            <p:ph type="sldNum" sz="quarter" idx="10"/>
          </p:nvPr>
        </p:nvSpPr>
        <p:spPr/>
        <p:txBody>
          <a:bodyPr/>
          <a:lstStyle/>
          <a:p>
            <a:fld id="{48F63A3B-78C7-47BE-AE5E-E10140E04643}" type="slidenum">
              <a:rPr lang="en-US" sz="1400" smtClean="0"/>
              <a:pPr/>
              <a:t>14</a:t>
            </a:fld>
            <a:endParaRPr lang="en-US" sz="1400" dirty="0"/>
          </a:p>
        </p:txBody>
      </p:sp>
    </p:spTree>
    <p:extLst>
      <p:ext uri="{BB962C8B-B14F-4D97-AF65-F5344CB8AC3E}">
        <p14:creationId xmlns:p14="http://schemas.microsoft.com/office/powerpoint/2010/main" val="33474698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DC55A-C80E-1F95-A5FD-8F76432A7F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39721E-E9D9-4C06-D9EC-A5AD4D0D4DE0}"/>
              </a:ext>
            </a:extLst>
          </p:cNvPr>
          <p:cNvSpPr>
            <a:spLocks noGrp="1"/>
          </p:cNvSpPr>
          <p:nvPr>
            <p:ph type="title"/>
          </p:nvPr>
        </p:nvSpPr>
        <p:spPr/>
        <p:txBody>
          <a:bodyPr/>
          <a:lstStyle/>
          <a:p>
            <a:r>
              <a:rPr lang="en-US" sz="2800" b="1" kern="1200" cap="all" baseline="0" dirty="0">
                <a:solidFill>
                  <a:srgbClr val="1F2C8F"/>
                </a:solidFill>
                <a:effectLst/>
                <a:latin typeface="Arial Black" panose="020B0A04020102020204" pitchFamily="34" charset="0"/>
                <a:ea typeface="+mj-ea"/>
                <a:cs typeface="Arial" panose="020B0604020202020204" pitchFamily="34" charset="0"/>
              </a:rPr>
              <a:t>Chapter 3 : </a:t>
            </a:r>
            <a:r>
              <a:rPr lang="en-US" sz="2800" dirty="0">
                <a:solidFill>
                  <a:srgbClr val="1F2C8F"/>
                </a:solidFill>
                <a:latin typeface="Arial Black" panose="020B0A04020102020204" pitchFamily="34" charset="0"/>
              </a:rPr>
              <a:t>Research framework</a:t>
            </a:r>
          </a:p>
        </p:txBody>
      </p:sp>
      <p:sp>
        <p:nvSpPr>
          <p:cNvPr id="3" name="Content Placeholder 2">
            <a:extLst>
              <a:ext uri="{FF2B5EF4-FFF2-40B4-BE49-F238E27FC236}">
                <a16:creationId xmlns:a16="http://schemas.microsoft.com/office/drawing/2014/main" id="{596D31D4-C7B5-F4A5-02F7-DDAB45558590}"/>
              </a:ext>
            </a:extLst>
          </p:cNvPr>
          <p:cNvSpPr>
            <a:spLocks noGrp="1"/>
          </p:cNvSpPr>
          <p:nvPr>
            <p:ph sz="half" idx="2"/>
          </p:nvPr>
        </p:nvSpPr>
        <p:spPr/>
        <p:txBody>
          <a:bodyPr>
            <a:normAutofit/>
          </a:bodyPr>
          <a:lstStyle/>
          <a:p>
            <a:pPr marL="0" indent="0">
              <a:lnSpc>
                <a:spcPct val="150000"/>
              </a:lnSpc>
              <a:buNone/>
            </a:pPr>
            <a:r>
              <a:rPr lang="en-US" sz="1800" b="1" kern="1200" dirty="0">
                <a:solidFill>
                  <a:srgbClr val="1F2C8F"/>
                </a:solidFill>
                <a:effectLst/>
                <a:latin typeface="Times New Roman" panose="02020603050405020304" pitchFamily="18" charset="0"/>
                <a:ea typeface="+mn-ea"/>
                <a:cs typeface="+mn-cs"/>
              </a:rPr>
              <a:t>3.2 </a:t>
            </a:r>
            <a:r>
              <a:rPr lang="en-US" sz="1800" b="1" kern="1200" dirty="0">
                <a:solidFill>
                  <a:srgbClr val="1F2C8F"/>
                </a:solidFill>
                <a:effectLst/>
                <a:latin typeface="Times New Roman" panose="02020603050405020304" pitchFamily="18" charset="0"/>
                <a:ea typeface="Times New Roman" panose="02020603050405020304" pitchFamily="18" charset="0"/>
                <a:cs typeface="+mn-cs"/>
              </a:rPr>
              <a:t>Conceptual framework</a:t>
            </a:r>
          </a:p>
          <a:p>
            <a:pPr>
              <a:lnSpc>
                <a:spcPct val="150000"/>
              </a:lnSpc>
            </a:pPr>
            <a:r>
              <a:rPr lang="en-US" sz="1600" b="1" dirty="0"/>
              <a:t>Visually and Textually </a:t>
            </a:r>
            <a:r>
              <a:rPr lang="en-US" sz="1600" dirty="0"/>
              <a:t>presents how the variables in your research are expected to relate to each other.</a:t>
            </a:r>
            <a:endParaRPr lang="en-US" sz="1600" b="1" dirty="0">
              <a:effectLst/>
            </a:endParaRPr>
          </a:p>
          <a:p>
            <a:pPr>
              <a:lnSpc>
                <a:spcPct val="150000"/>
              </a:lnSpc>
            </a:pPr>
            <a:r>
              <a:rPr lang="en-US" sz="1600" dirty="0"/>
              <a:t>It serves as a blueprint for your </a:t>
            </a:r>
            <a:r>
              <a:rPr lang="en-US" sz="1600" b="1" dirty="0"/>
              <a:t>research model </a:t>
            </a:r>
            <a:r>
              <a:rPr lang="en-US" sz="1600" dirty="0"/>
              <a:t>and </a:t>
            </a:r>
            <a:r>
              <a:rPr lang="en-US" sz="1600" b="1" dirty="0"/>
              <a:t>hypothesis development</a:t>
            </a:r>
            <a:r>
              <a:rPr lang="en-US" sz="1600" dirty="0"/>
              <a:t>.</a:t>
            </a:r>
          </a:p>
          <a:p>
            <a:pPr>
              <a:lnSpc>
                <a:spcPct val="150000"/>
              </a:lnSpc>
            </a:pPr>
            <a:r>
              <a:rPr lang="en-US" sz="1600" b="1" dirty="0"/>
              <a:t>Briefly</a:t>
            </a:r>
            <a:r>
              <a:rPr lang="en-US" sz="1600" dirty="0"/>
              <a:t> state the importance of a conceptual framework in guiding the research.</a:t>
            </a:r>
          </a:p>
          <a:p>
            <a:pPr>
              <a:lnSpc>
                <a:spcPct val="150000"/>
              </a:lnSpc>
            </a:pPr>
            <a:r>
              <a:rPr lang="en-US" sz="1600" dirty="0"/>
              <a:t>Clearly define </a:t>
            </a:r>
            <a:r>
              <a:rPr lang="en-US" sz="1600" b="1" dirty="0"/>
              <a:t>all variables </a:t>
            </a:r>
            <a:r>
              <a:rPr lang="en-US" sz="1600" dirty="0"/>
              <a:t>(independent, dependent, mediating)</a:t>
            </a:r>
            <a:endParaRPr lang="en-US" altLang="zh-CN" sz="1600" b="1" dirty="0"/>
          </a:p>
        </p:txBody>
      </p:sp>
      <p:sp>
        <p:nvSpPr>
          <p:cNvPr id="4" name="Slide Number Placeholder 3">
            <a:extLst>
              <a:ext uri="{FF2B5EF4-FFF2-40B4-BE49-F238E27FC236}">
                <a16:creationId xmlns:a16="http://schemas.microsoft.com/office/drawing/2014/main" id="{CE6E6A72-BB7F-9929-A960-AFFD6B11AFD0}"/>
              </a:ext>
            </a:extLst>
          </p:cNvPr>
          <p:cNvSpPr>
            <a:spLocks noGrp="1"/>
          </p:cNvSpPr>
          <p:nvPr>
            <p:ph type="sldNum" sz="quarter" idx="10"/>
          </p:nvPr>
        </p:nvSpPr>
        <p:spPr/>
        <p:txBody>
          <a:bodyPr/>
          <a:lstStyle/>
          <a:p>
            <a:fld id="{48F63A3B-78C7-47BE-AE5E-E10140E04643}" type="slidenum">
              <a:rPr lang="en-US" sz="1400" smtClean="0"/>
              <a:pPr/>
              <a:t>15</a:t>
            </a:fld>
            <a:endParaRPr lang="en-US" sz="1400" dirty="0"/>
          </a:p>
        </p:txBody>
      </p:sp>
    </p:spTree>
    <p:extLst>
      <p:ext uri="{BB962C8B-B14F-4D97-AF65-F5344CB8AC3E}">
        <p14:creationId xmlns:p14="http://schemas.microsoft.com/office/powerpoint/2010/main" val="27853972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16938-B59B-3BF7-882B-87298F23C42B}"/>
              </a:ext>
            </a:extLst>
          </p:cNvPr>
          <p:cNvSpPr>
            <a:spLocks noGrp="1"/>
          </p:cNvSpPr>
          <p:nvPr>
            <p:ph type="title"/>
          </p:nvPr>
        </p:nvSpPr>
        <p:spPr/>
        <p:txBody>
          <a:bodyPr/>
          <a:lstStyle/>
          <a:p>
            <a:r>
              <a:rPr lang="en-US" sz="2800" b="1" kern="1200" cap="all" baseline="0" dirty="0">
                <a:solidFill>
                  <a:srgbClr val="1F2C8F"/>
                </a:solidFill>
                <a:effectLst/>
                <a:latin typeface="Arial Black" panose="020B0A04020102020204" pitchFamily="34" charset="0"/>
                <a:ea typeface="+mj-ea"/>
                <a:cs typeface="Arial" panose="020B0604020202020204" pitchFamily="34" charset="0"/>
              </a:rPr>
              <a:t>Chapter 3 : </a:t>
            </a:r>
            <a:r>
              <a:rPr lang="en-US" sz="2800" dirty="0">
                <a:solidFill>
                  <a:srgbClr val="1F2C8F"/>
                </a:solidFill>
                <a:latin typeface="Arial Black" panose="020B0A04020102020204" pitchFamily="34" charset="0"/>
              </a:rPr>
              <a:t>Research framework</a:t>
            </a:r>
            <a:endParaRPr lang="en-US" sz="2800" dirty="0"/>
          </a:p>
        </p:txBody>
      </p:sp>
      <p:sp>
        <p:nvSpPr>
          <p:cNvPr id="3" name="Content Placeholder 2">
            <a:extLst>
              <a:ext uri="{FF2B5EF4-FFF2-40B4-BE49-F238E27FC236}">
                <a16:creationId xmlns:a16="http://schemas.microsoft.com/office/drawing/2014/main" id="{F52B9A01-D672-8311-90A7-2DC02637700F}"/>
              </a:ext>
            </a:extLst>
          </p:cNvPr>
          <p:cNvSpPr>
            <a:spLocks noGrp="1"/>
          </p:cNvSpPr>
          <p:nvPr>
            <p:ph sz="half" idx="2"/>
          </p:nvPr>
        </p:nvSpPr>
        <p:spPr/>
        <p:txBody>
          <a:bodyPr/>
          <a:lstStyle/>
          <a:p>
            <a:pPr marL="0" indent="0">
              <a:buNone/>
            </a:pPr>
            <a:r>
              <a:rPr lang="en-US" b="1" dirty="0">
                <a:latin typeface="Times New Roman" panose="02020603050405020304" pitchFamily="18" charset="0"/>
              </a:rPr>
              <a:t>3.3 Research </a:t>
            </a:r>
            <a:r>
              <a:rPr lang="en-US" sz="1800" b="1" dirty="0">
                <a:effectLst/>
                <a:latin typeface="Times New Roman" panose="02020603050405020304" pitchFamily="18" charset="0"/>
                <a:ea typeface="Times New Roman" panose="02020603050405020304" pitchFamily="18" charset="0"/>
              </a:rPr>
              <a:t>Hypotheses</a:t>
            </a:r>
          </a:p>
          <a:p>
            <a:r>
              <a:rPr lang="en-US" dirty="0"/>
              <a:t>Based on the conceptual framework and review of related literature.</a:t>
            </a:r>
          </a:p>
          <a:p>
            <a:pPr marL="0" indent="0">
              <a:lnSpc>
                <a:spcPct val="150000"/>
              </a:lnSpc>
              <a:buNone/>
            </a:pPr>
            <a:r>
              <a:rPr lang="en-US" b="1" dirty="0"/>
              <a:t>Option 1: Causal Hypothesis</a:t>
            </a:r>
            <a:br>
              <a:rPr lang="en-US" b="1" dirty="0"/>
            </a:br>
            <a:r>
              <a:rPr lang="en-US" b="1" dirty="0"/>
              <a:t>H1:</a:t>
            </a:r>
            <a:r>
              <a:rPr lang="en-US" dirty="0"/>
              <a:t> Social media marketing (IV) has a positive (one tail) effect on brand engagement (DV) among Thai consumers (target population).</a:t>
            </a:r>
          </a:p>
          <a:p>
            <a:pPr marL="0" indent="0">
              <a:buNone/>
            </a:pPr>
            <a:endParaRPr lang="en-US" dirty="0"/>
          </a:p>
          <a:p>
            <a:pPr marL="0" indent="0">
              <a:buNone/>
            </a:pPr>
            <a:r>
              <a:rPr lang="en-US" dirty="0"/>
              <a:t>R</a:t>
            </a:r>
            <a:r>
              <a:rPr lang="en-US" altLang="zh-CN" dirty="0"/>
              <a:t>esult: Supported not Supported</a:t>
            </a:r>
            <a:endParaRPr lang="en-US" dirty="0"/>
          </a:p>
        </p:txBody>
      </p:sp>
      <p:sp>
        <p:nvSpPr>
          <p:cNvPr id="4" name="Slide Number Placeholder 3">
            <a:extLst>
              <a:ext uri="{FF2B5EF4-FFF2-40B4-BE49-F238E27FC236}">
                <a16:creationId xmlns:a16="http://schemas.microsoft.com/office/drawing/2014/main" id="{71605990-403E-48B7-78AF-5EE3DC7157C3}"/>
              </a:ext>
            </a:extLst>
          </p:cNvPr>
          <p:cNvSpPr>
            <a:spLocks noGrp="1"/>
          </p:cNvSpPr>
          <p:nvPr>
            <p:ph type="sldNum" sz="quarter" idx="10"/>
          </p:nvPr>
        </p:nvSpPr>
        <p:spPr/>
        <p:txBody>
          <a:bodyPr/>
          <a:lstStyle/>
          <a:p>
            <a:fld id="{48F63A3B-78C7-47BE-AE5E-E10140E04643}" type="slidenum">
              <a:rPr lang="en-US" smtClean="0"/>
              <a:pPr/>
              <a:t>16</a:t>
            </a:fld>
            <a:endParaRPr lang="en-US" dirty="0"/>
          </a:p>
        </p:txBody>
      </p:sp>
    </p:spTree>
    <p:extLst>
      <p:ext uri="{BB962C8B-B14F-4D97-AF65-F5344CB8AC3E}">
        <p14:creationId xmlns:p14="http://schemas.microsoft.com/office/powerpoint/2010/main" val="16474590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C91E5-F645-3C03-D13E-259ABC2802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A76D73-6D4C-7AFC-82AC-D89ECA60EDCB}"/>
              </a:ext>
            </a:extLst>
          </p:cNvPr>
          <p:cNvSpPr>
            <a:spLocks noGrp="1"/>
          </p:cNvSpPr>
          <p:nvPr>
            <p:ph type="title"/>
          </p:nvPr>
        </p:nvSpPr>
        <p:spPr/>
        <p:txBody>
          <a:bodyPr/>
          <a:lstStyle/>
          <a:p>
            <a:r>
              <a:rPr lang="en-US" sz="2800" b="1" kern="1200" cap="all" baseline="0" dirty="0">
                <a:solidFill>
                  <a:srgbClr val="1F2C8F"/>
                </a:solidFill>
                <a:effectLst/>
                <a:latin typeface="Arial Black" panose="020B0A04020102020204" pitchFamily="34" charset="0"/>
                <a:ea typeface="+mj-ea"/>
                <a:cs typeface="Arial" panose="020B0604020202020204" pitchFamily="34" charset="0"/>
              </a:rPr>
              <a:t>Chapter 3 : </a:t>
            </a:r>
            <a:r>
              <a:rPr lang="en-US" sz="2800" dirty="0">
                <a:solidFill>
                  <a:srgbClr val="1F2C8F"/>
                </a:solidFill>
                <a:latin typeface="Arial Black" panose="020B0A04020102020204" pitchFamily="34" charset="0"/>
              </a:rPr>
              <a:t>Research framework</a:t>
            </a:r>
            <a:endParaRPr lang="en-US" sz="2800" dirty="0"/>
          </a:p>
        </p:txBody>
      </p:sp>
      <p:sp>
        <p:nvSpPr>
          <p:cNvPr id="3" name="Content Placeholder 2">
            <a:extLst>
              <a:ext uri="{FF2B5EF4-FFF2-40B4-BE49-F238E27FC236}">
                <a16:creationId xmlns:a16="http://schemas.microsoft.com/office/drawing/2014/main" id="{3B7D1268-7F33-8E9C-3119-46BA8EBB8525}"/>
              </a:ext>
            </a:extLst>
          </p:cNvPr>
          <p:cNvSpPr>
            <a:spLocks noGrp="1"/>
          </p:cNvSpPr>
          <p:nvPr>
            <p:ph sz="half" idx="2"/>
          </p:nvPr>
        </p:nvSpPr>
        <p:spPr/>
        <p:txBody>
          <a:bodyPr/>
          <a:lstStyle/>
          <a:p>
            <a:pPr marL="0" indent="0">
              <a:buNone/>
            </a:pPr>
            <a:r>
              <a:rPr lang="en-US" b="1" dirty="0">
                <a:latin typeface="Times New Roman" panose="02020603050405020304" pitchFamily="18" charset="0"/>
              </a:rPr>
              <a:t>3.3 Research </a:t>
            </a:r>
            <a:r>
              <a:rPr lang="en-US" sz="1800" b="1" dirty="0">
                <a:effectLst/>
                <a:latin typeface="Times New Roman" panose="02020603050405020304" pitchFamily="18" charset="0"/>
                <a:ea typeface="Times New Roman" panose="02020603050405020304" pitchFamily="18" charset="0"/>
              </a:rPr>
              <a:t>Hypotheses</a:t>
            </a:r>
          </a:p>
          <a:p>
            <a:pPr marL="0" indent="0">
              <a:buNone/>
            </a:pPr>
            <a:r>
              <a:rPr lang="en-US" b="1" dirty="0"/>
              <a:t>Option 2:</a:t>
            </a:r>
          </a:p>
          <a:p>
            <a:pPr marL="0" indent="0">
              <a:buNone/>
            </a:pPr>
            <a:r>
              <a:rPr lang="en-US" dirty="0"/>
              <a:t>Null Hypothesis (H₀): There is </a:t>
            </a:r>
            <a:r>
              <a:rPr lang="en-US" b="1" dirty="0"/>
              <a:t>no significant effect</a:t>
            </a:r>
            <a:r>
              <a:rPr lang="en-US" dirty="0"/>
              <a:t> of social media marketing on brand engagement among Thai consumers. </a:t>
            </a:r>
          </a:p>
          <a:p>
            <a:pPr marL="0" indent="0">
              <a:buNone/>
            </a:pPr>
            <a:r>
              <a:rPr lang="en-US" dirty="0"/>
              <a:t>Alternative Hypothesis </a:t>
            </a:r>
            <a:r>
              <a:rPr lang="en-US"/>
              <a:t>(Ha₁</a:t>
            </a:r>
            <a:r>
              <a:rPr lang="en-US" dirty="0"/>
              <a:t>):</a:t>
            </a:r>
            <a:r>
              <a:rPr lang="en-US" dirty="0">
                <a:solidFill>
                  <a:srgbClr val="1F2C8F"/>
                </a:solidFill>
                <a:latin typeface="Sabon Next LT" panose="02000500000000000000" pitchFamily="2" charset="0"/>
              </a:rPr>
              <a:t> </a:t>
            </a:r>
            <a:r>
              <a:rPr lang="en-US" dirty="0"/>
              <a:t>There is a </a:t>
            </a:r>
            <a:r>
              <a:rPr lang="en-US" b="1" dirty="0"/>
              <a:t>significant effect</a:t>
            </a:r>
            <a:r>
              <a:rPr lang="en-US" dirty="0"/>
              <a:t> of social media marketing on brand engagement among Thai consumers.</a:t>
            </a:r>
          </a:p>
          <a:p>
            <a:pPr marL="0" indent="0">
              <a:buNone/>
            </a:pPr>
            <a:endParaRPr lang="en-US" dirty="0"/>
          </a:p>
          <a:p>
            <a:pPr marL="0" indent="0">
              <a:buNone/>
            </a:pPr>
            <a:r>
              <a:rPr lang="en-US" dirty="0"/>
              <a:t>Result: Rejected or not rejected Null hypothesis</a:t>
            </a:r>
          </a:p>
        </p:txBody>
      </p:sp>
      <p:sp>
        <p:nvSpPr>
          <p:cNvPr id="4" name="Slide Number Placeholder 3">
            <a:extLst>
              <a:ext uri="{FF2B5EF4-FFF2-40B4-BE49-F238E27FC236}">
                <a16:creationId xmlns:a16="http://schemas.microsoft.com/office/drawing/2014/main" id="{6C6BE557-2506-2C72-D9F6-28EDED90EFA3}"/>
              </a:ext>
            </a:extLst>
          </p:cNvPr>
          <p:cNvSpPr>
            <a:spLocks noGrp="1"/>
          </p:cNvSpPr>
          <p:nvPr>
            <p:ph type="sldNum" sz="quarter" idx="10"/>
          </p:nvPr>
        </p:nvSpPr>
        <p:spPr/>
        <p:txBody>
          <a:bodyPr/>
          <a:lstStyle/>
          <a:p>
            <a:fld id="{48F63A3B-78C7-47BE-AE5E-E10140E04643}" type="slidenum">
              <a:rPr lang="en-US" smtClean="0"/>
              <a:pPr/>
              <a:t>17</a:t>
            </a:fld>
            <a:endParaRPr lang="en-US" dirty="0"/>
          </a:p>
        </p:txBody>
      </p:sp>
    </p:spTree>
    <p:extLst>
      <p:ext uri="{BB962C8B-B14F-4D97-AF65-F5344CB8AC3E}">
        <p14:creationId xmlns:p14="http://schemas.microsoft.com/office/powerpoint/2010/main" val="21818588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6B655-0B78-A397-873E-5C4642A0D868}"/>
              </a:ext>
            </a:extLst>
          </p:cNvPr>
          <p:cNvSpPr>
            <a:spLocks noGrp="1"/>
          </p:cNvSpPr>
          <p:nvPr>
            <p:ph type="title"/>
          </p:nvPr>
        </p:nvSpPr>
        <p:spPr/>
        <p:txBody>
          <a:bodyPr/>
          <a:lstStyle/>
          <a:p>
            <a:r>
              <a:rPr lang="en-US" sz="2800" b="1" kern="1200" cap="all" baseline="0" dirty="0">
                <a:solidFill>
                  <a:srgbClr val="1F2C8F"/>
                </a:solidFill>
                <a:effectLst/>
                <a:latin typeface="Arial Black" panose="020B0A04020102020204" pitchFamily="34" charset="0"/>
                <a:ea typeface="+mj-ea"/>
                <a:cs typeface="Arial" panose="020B0604020202020204" pitchFamily="34" charset="0"/>
              </a:rPr>
              <a:t>Chapter 3 : </a:t>
            </a:r>
            <a:r>
              <a:rPr lang="en-US" sz="2800" dirty="0">
                <a:solidFill>
                  <a:srgbClr val="1F2C8F"/>
                </a:solidFill>
                <a:latin typeface="Arial Black" panose="020B0A04020102020204" pitchFamily="34" charset="0"/>
              </a:rPr>
              <a:t>Research framework</a:t>
            </a:r>
            <a:endParaRPr lang="en-US" sz="2800" dirty="0"/>
          </a:p>
        </p:txBody>
      </p:sp>
      <p:sp>
        <p:nvSpPr>
          <p:cNvPr id="3" name="Content Placeholder 2">
            <a:extLst>
              <a:ext uri="{FF2B5EF4-FFF2-40B4-BE49-F238E27FC236}">
                <a16:creationId xmlns:a16="http://schemas.microsoft.com/office/drawing/2014/main" id="{CCFA701D-14DB-4AE6-9F34-FE0A8A724F88}"/>
              </a:ext>
            </a:extLst>
          </p:cNvPr>
          <p:cNvSpPr>
            <a:spLocks noGrp="1"/>
          </p:cNvSpPr>
          <p:nvPr>
            <p:ph sz="half" idx="2"/>
          </p:nvPr>
        </p:nvSpPr>
        <p:spPr/>
        <p:txBody>
          <a:bodyPr/>
          <a:lstStyle/>
          <a:p>
            <a:pPr marL="0" indent="0">
              <a:buNone/>
            </a:pPr>
            <a:r>
              <a:rPr lang="en-US" b="1" dirty="0">
                <a:latin typeface="Times New Roman" panose="02020603050405020304" pitchFamily="18" charset="0"/>
              </a:rPr>
              <a:t>3.4 </a:t>
            </a:r>
            <a:r>
              <a:rPr lang="en-US" sz="1800" b="1" dirty="0">
                <a:effectLst/>
                <a:latin typeface="Times New Roman" panose="02020603050405020304" pitchFamily="18" charset="0"/>
                <a:ea typeface="Times New Roman" panose="02020603050405020304" pitchFamily="18" charset="0"/>
              </a:rPr>
              <a:t>Operationalization table:</a:t>
            </a:r>
          </a:p>
          <a:p>
            <a:pPr marL="342900" indent="-342900">
              <a:buFont typeface="+mj-lt"/>
              <a:buAutoNum type="arabicPeriod"/>
            </a:pPr>
            <a:r>
              <a:rPr lang="en-US" b="1" dirty="0"/>
              <a:t>Variable</a:t>
            </a:r>
            <a:r>
              <a:rPr lang="en-US" dirty="0"/>
              <a:t> – The construct or concept being measured</a:t>
            </a:r>
            <a:endParaRPr lang="en-US" sz="1800" dirty="0">
              <a:effectLst/>
              <a:latin typeface="Times New Roman" panose="02020603050405020304" pitchFamily="18" charset="0"/>
              <a:ea typeface="Times New Roman" panose="02020603050405020304" pitchFamily="18" charset="0"/>
            </a:endParaRPr>
          </a:p>
          <a:p>
            <a:pPr marL="342900" indent="-342900">
              <a:buFont typeface="+mj-lt"/>
              <a:buAutoNum type="arabicPeriod"/>
            </a:pPr>
            <a:r>
              <a:rPr lang="en-US" b="1" dirty="0"/>
              <a:t>Definition</a:t>
            </a:r>
            <a:r>
              <a:rPr lang="en-US" dirty="0"/>
              <a:t> – A brief conceptual definition (with source).</a:t>
            </a:r>
          </a:p>
          <a:p>
            <a:pPr marL="342900" indent="-342900">
              <a:buFont typeface="+mj-lt"/>
              <a:buAutoNum type="arabicPeriod"/>
            </a:pPr>
            <a:r>
              <a:rPr lang="en-US" b="1" dirty="0"/>
              <a:t>Measurement Items</a:t>
            </a:r>
            <a:r>
              <a:rPr lang="en-US" dirty="0"/>
              <a:t> –question items used to measure the variable</a:t>
            </a:r>
          </a:p>
          <a:p>
            <a:pPr marL="342900" indent="-342900">
              <a:buFont typeface="+mj-lt"/>
              <a:buAutoNum type="arabicPeriod"/>
            </a:pPr>
            <a:r>
              <a:rPr lang="en-US" b="1" dirty="0"/>
              <a:t>Scale</a:t>
            </a:r>
            <a:r>
              <a:rPr lang="en-US" dirty="0"/>
              <a:t> – Type of measurement scale (e.g., 5-point Likert).</a:t>
            </a:r>
          </a:p>
          <a:p>
            <a:pPr marL="342900" indent="-342900">
              <a:buFont typeface="+mj-lt"/>
              <a:buAutoNum type="arabicPeriod"/>
            </a:pPr>
            <a:r>
              <a:rPr lang="en-US" b="1" dirty="0"/>
              <a:t>Source/Reference</a:t>
            </a:r>
            <a:r>
              <a:rPr lang="en-US" dirty="0"/>
              <a:t> – The origin of the measurement items.</a:t>
            </a:r>
          </a:p>
        </p:txBody>
      </p:sp>
      <p:sp>
        <p:nvSpPr>
          <p:cNvPr id="4" name="Slide Number Placeholder 3">
            <a:extLst>
              <a:ext uri="{FF2B5EF4-FFF2-40B4-BE49-F238E27FC236}">
                <a16:creationId xmlns:a16="http://schemas.microsoft.com/office/drawing/2014/main" id="{11A50782-BEE7-1396-6AA5-CC23C7F75311}"/>
              </a:ext>
            </a:extLst>
          </p:cNvPr>
          <p:cNvSpPr>
            <a:spLocks noGrp="1"/>
          </p:cNvSpPr>
          <p:nvPr>
            <p:ph type="sldNum" sz="quarter" idx="10"/>
          </p:nvPr>
        </p:nvSpPr>
        <p:spPr/>
        <p:txBody>
          <a:bodyPr/>
          <a:lstStyle/>
          <a:p>
            <a:fld id="{48F63A3B-78C7-47BE-AE5E-E10140E04643}" type="slidenum">
              <a:rPr lang="en-US" smtClean="0"/>
              <a:pPr/>
              <a:t>18</a:t>
            </a:fld>
            <a:endParaRPr lang="en-US" dirty="0"/>
          </a:p>
        </p:txBody>
      </p:sp>
    </p:spTree>
    <p:extLst>
      <p:ext uri="{BB962C8B-B14F-4D97-AF65-F5344CB8AC3E}">
        <p14:creationId xmlns:p14="http://schemas.microsoft.com/office/powerpoint/2010/main" val="38832819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AD413-4E26-5522-7723-C70F475C77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F6F250-3849-B3A2-F7DF-D08632951657}"/>
              </a:ext>
            </a:extLst>
          </p:cNvPr>
          <p:cNvSpPr>
            <a:spLocks noGrp="1"/>
          </p:cNvSpPr>
          <p:nvPr>
            <p:ph type="title"/>
          </p:nvPr>
        </p:nvSpPr>
        <p:spPr/>
        <p:txBody>
          <a:bodyPr/>
          <a:lstStyle/>
          <a:p>
            <a:r>
              <a:rPr lang="en-US" sz="2800" b="1" kern="1200" cap="all" baseline="0" dirty="0">
                <a:solidFill>
                  <a:srgbClr val="1F2C8F"/>
                </a:solidFill>
                <a:effectLst/>
                <a:latin typeface="Arial Black" panose="020B0A04020102020204" pitchFamily="34" charset="0"/>
                <a:ea typeface="+mj-ea"/>
                <a:cs typeface="Arial" panose="020B0604020202020204" pitchFamily="34" charset="0"/>
              </a:rPr>
              <a:t>Chapter 3 : </a:t>
            </a:r>
            <a:r>
              <a:rPr lang="en-US" sz="2800" dirty="0">
                <a:solidFill>
                  <a:srgbClr val="1F2C8F"/>
                </a:solidFill>
                <a:latin typeface="Arial Black" panose="020B0A04020102020204" pitchFamily="34" charset="0"/>
              </a:rPr>
              <a:t>Research framework</a:t>
            </a:r>
            <a:endParaRPr lang="en-US" sz="2800" dirty="0"/>
          </a:p>
        </p:txBody>
      </p:sp>
      <p:sp>
        <p:nvSpPr>
          <p:cNvPr id="4" name="Slide Number Placeholder 3">
            <a:extLst>
              <a:ext uri="{FF2B5EF4-FFF2-40B4-BE49-F238E27FC236}">
                <a16:creationId xmlns:a16="http://schemas.microsoft.com/office/drawing/2014/main" id="{4135B65D-825C-33EF-B42F-D0DAECC23761}"/>
              </a:ext>
            </a:extLst>
          </p:cNvPr>
          <p:cNvSpPr>
            <a:spLocks noGrp="1"/>
          </p:cNvSpPr>
          <p:nvPr>
            <p:ph type="sldNum" sz="quarter" idx="10"/>
          </p:nvPr>
        </p:nvSpPr>
        <p:spPr/>
        <p:txBody>
          <a:bodyPr/>
          <a:lstStyle/>
          <a:p>
            <a:fld id="{48F63A3B-78C7-47BE-AE5E-E10140E04643}" type="slidenum">
              <a:rPr lang="en-US" smtClean="0"/>
              <a:pPr/>
              <a:t>19</a:t>
            </a:fld>
            <a:endParaRPr lang="en-US" dirty="0"/>
          </a:p>
        </p:txBody>
      </p:sp>
      <p:graphicFrame>
        <p:nvGraphicFramePr>
          <p:cNvPr id="7" name="Content Placeholder 6">
            <a:extLst>
              <a:ext uri="{FF2B5EF4-FFF2-40B4-BE49-F238E27FC236}">
                <a16:creationId xmlns:a16="http://schemas.microsoft.com/office/drawing/2014/main" id="{32F3FB46-4D2B-AE1C-1FB8-415DF2CE5EDA}"/>
              </a:ext>
            </a:extLst>
          </p:cNvPr>
          <p:cNvGraphicFramePr>
            <a:graphicFrameLocks noGrp="1"/>
          </p:cNvGraphicFramePr>
          <p:nvPr>
            <p:ph sz="half" idx="2"/>
            <p:extLst>
              <p:ext uri="{D42A27DB-BD31-4B8C-83A1-F6EECF244321}">
                <p14:modId xmlns:p14="http://schemas.microsoft.com/office/powerpoint/2010/main" val="2240600569"/>
              </p:ext>
            </p:extLst>
          </p:nvPr>
        </p:nvGraphicFramePr>
        <p:xfrm>
          <a:off x="3326568" y="2194781"/>
          <a:ext cx="7831465" cy="4476804"/>
        </p:xfrm>
        <a:graphic>
          <a:graphicData uri="http://schemas.openxmlformats.org/drawingml/2006/table">
            <a:tbl>
              <a:tblPr/>
              <a:tblGrid>
                <a:gridCol w="1566293">
                  <a:extLst>
                    <a:ext uri="{9D8B030D-6E8A-4147-A177-3AD203B41FA5}">
                      <a16:colId xmlns:a16="http://schemas.microsoft.com/office/drawing/2014/main" val="1849664360"/>
                    </a:ext>
                  </a:extLst>
                </a:gridCol>
                <a:gridCol w="1566293">
                  <a:extLst>
                    <a:ext uri="{9D8B030D-6E8A-4147-A177-3AD203B41FA5}">
                      <a16:colId xmlns:a16="http://schemas.microsoft.com/office/drawing/2014/main" val="3128234484"/>
                    </a:ext>
                  </a:extLst>
                </a:gridCol>
                <a:gridCol w="1566293">
                  <a:extLst>
                    <a:ext uri="{9D8B030D-6E8A-4147-A177-3AD203B41FA5}">
                      <a16:colId xmlns:a16="http://schemas.microsoft.com/office/drawing/2014/main" val="1002114955"/>
                    </a:ext>
                  </a:extLst>
                </a:gridCol>
                <a:gridCol w="1566293">
                  <a:extLst>
                    <a:ext uri="{9D8B030D-6E8A-4147-A177-3AD203B41FA5}">
                      <a16:colId xmlns:a16="http://schemas.microsoft.com/office/drawing/2014/main" val="372419659"/>
                    </a:ext>
                  </a:extLst>
                </a:gridCol>
                <a:gridCol w="1566293">
                  <a:extLst>
                    <a:ext uri="{9D8B030D-6E8A-4147-A177-3AD203B41FA5}">
                      <a16:colId xmlns:a16="http://schemas.microsoft.com/office/drawing/2014/main" val="2124786455"/>
                    </a:ext>
                  </a:extLst>
                </a:gridCol>
              </a:tblGrid>
              <a:tr h="297814">
                <a:tc>
                  <a:txBody>
                    <a:bodyPr/>
                    <a:lstStyle/>
                    <a:p>
                      <a:r>
                        <a:rPr lang="en-US" sz="1100"/>
                        <a:t>Variable</a:t>
                      </a:r>
                    </a:p>
                  </a:txBody>
                  <a:tcPr marL="37605" marR="37605" marT="18802" marB="18802" anchor="ctr">
                    <a:lnL>
                      <a:noFill/>
                    </a:lnL>
                    <a:lnR>
                      <a:noFill/>
                    </a:lnR>
                    <a:lnT>
                      <a:noFill/>
                    </a:lnT>
                    <a:lnB>
                      <a:noFill/>
                    </a:lnB>
                    <a:noFill/>
                  </a:tcPr>
                </a:tc>
                <a:tc>
                  <a:txBody>
                    <a:bodyPr/>
                    <a:lstStyle/>
                    <a:p>
                      <a:r>
                        <a:rPr lang="en-US" sz="1100"/>
                        <a:t>Definition</a:t>
                      </a:r>
                    </a:p>
                  </a:txBody>
                  <a:tcPr marL="37605" marR="37605" marT="18802" marB="18802" anchor="ctr">
                    <a:lnL>
                      <a:noFill/>
                    </a:lnL>
                    <a:lnR>
                      <a:noFill/>
                    </a:lnR>
                    <a:lnT>
                      <a:noFill/>
                    </a:lnT>
                    <a:lnB>
                      <a:noFill/>
                    </a:lnB>
                    <a:noFill/>
                  </a:tcPr>
                </a:tc>
                <a:tc>
                  <a:txBody>
                    <a:bodyPr/>
                    <a:lstStyle/>
                    <a:p>
                      <a:r>
                        <a:rPr lang="en-US" sz="1100"/>
                        <a:t>Measurement Items (Examples)</a:t>
                      </a:r>
                    </a:p>
                  </a:txBody>
                  <a:tcPr marL="37605" marR="37605" marT="18802" marB="18802" anchor="ctr">
                    <a:lnL>
                      <a:noFill/>
                    </a:lnL>
                    <a:lnR>
                      <a:noFill/>
                    </a:lnR>
                    <a:lnT>
                      <a:noFill/>
                    </a:lnT>
                    <a:lnB>
                      <a:noFill/>
                    </a:lnB>
                    <a:noFill/>
                  </a:tcPr>
                </a:tc>
                <a:tc>
                  <a:txBody>
                    <a:bodyPr/>
                    <a:lstStyle/>
                    <a:p>
                      <a:r>
                        <a:rPr lang="en-US" sz="1100"/>
                        <a:t>Scale</a:t>
                      </a:r>
                    </a:p>
                  </a:txBody>
                  <a:tcPr marL="37605" marR="37605" marT="18802" marB="18802" anchor="ctr">
                    <a:lnL>
                      <a:noFill/>
                    </a:lnL>
                    <a:lnR>
                      <a:noFill/>
                    </a:lnR>
                    <a:lnT>
                      <a:noFill/>
                    </a:lnT>
                    <a:lnB>
                      <a:noFill/>
                    </a:lnB>
                    <a:noFill/>
                  </a:tcPr>
                </a:tc>
                <a:tc>
                  <a:txBody>
                    <a:bodyPr/>
                    <a:lstStyle/>
                    <a:p>
                      <a:r>
                        <a:rPr lang="en-US" sz="1100"/>
                        <a:t>Source/Reference</a:t>
                      </a:r>
                    </a:p>
                  </a:txBody>
                  <a:tcPr marL="37605" marR="37605" marT="18802" marB="18802" anchor="ctr">
                    <a:lnL>
                      <a:noFill/>
                    </a:lnL>
                    <a:lnR>
                      <a:noFill/>
                    </a:lnR>
                    <a:lnT>
                      <a:noFill/>
                    </a:lnT>
                    <a:lnB>
                      <a:noFill/>
                    </a:lnB>
                    <a:noFill/>
                  </a:tcPr>
                </a:tc>
                <a:extLst>
                  <a:ext uri="{0D108BD9-81ED-4DB2-BD59-A6C34878D82A}">
                    <a16:rowId xmlns:a16="http://schemas.microsoft.com/office/drawing/2014/main" val="853711461"/>
                  </a:ext>
                </a:extLst>
              </a:tr>
              <a:tr h="808350">
                <a:tc>
                  <a:txBody>
                    <a:bodyPr/>
                    <a:lstStyle/>
                    <a:p>
                      <a:r>
                        <a:rPr lang="en-US" sz="1100"/>
                        <a:t>Social Media Marketing</a:t>
                      </a:r>
                    </a:p>
                  </a:txBody>
                  <a:tcPr marL="37605" marR="37605" marT="18802" marB="18802" anchor="ctr">
                    <a:lnL>
                      <a:noFill/>
                    </a:lnL>
                    <a:lnR>
                      <a:noFill/>
                    </a:lnR>
                    <a:lnT>
                      <a:noFill/>
                    </a:lnT>
                    <a:lnB>
                      <a:noFill/>
                    </a:lnB>
                    <a:noFill/>
                  </a:tcPr>
                </a:tc>
                <a:tc>
                  <a:txBody>
                    <a:bodyPr/>
                    <a:lstStyle/>
                    <a:p>
                      <a:r>
                        <a:rPr lang="en-US" sz="1100"/>
                        <a:t>Activities using social media to promote the brand (Tuten &amp; Solomon, 2021)</a:t>
                      </a:r>
                    </a:p>
                  </a:txBody>
                  <a:tcPr marL="37605" marR="37605" marT="18802" marB="18802" anchor="ctr">
                    <a:lnL>
                      <a:noFill/>
                    </a:lnL>
                    <a:lnR>
                      <a:noFill/>
                    </a:lnR>
                    <a:lnT>
                      <a:noFill/>
                    </a:lnT>
                    <a:lnB>
                      <a:noFill/>
                    </a:lnB>
                    <a:noFill/>
                  </a:tcPr>
                </a:tc>
                <a:tc>
                  <a:txBody>
                    <a:bodyPr/>
                    <a:lstStyle/>
                    <a:p>
                      <a:r>
                        <a:rPr lang="en-US" sz="1100"/>
                        <a:t>“The brand frequently updates content on social media.” “I often see this brand’s campaigns online.”</a:t>
                      </a:r>
                    </a:p>
                  </a:txBody>
                  <a:tcPr marL="37605" marR="37605" marT="18802" marB="18802" anchor="ctr">
                    <a:lnL>
                      <a:noFill/>
                    </a:lnL>
                    <a:lnR>
                      <a:noFill/>
                    </a:lnR>
                    <a:lnT>
                      <a:noFill/>
                    </a:lnT>
                    <a:lnB>
                      <a:noFill/>
                    </a:lnB>
                    <a:noFill/>
                  </a:tcPr>
                </a:tc>
                <a:tc>
                  <a:txBody>
                    <a:bodyPr/>
                    <a:lstStyle/>
                    <a:p>
                      <a:r>
                        <a:rPr lang="en-US" sz="1100"/>
                        <a:t>5-point Likert</a:t>
                      </a:r>
                    </a:p>
                  </a:txBody>
                  <a:tcPr marL="37605" marR="37605" marT="18802" marB="18802" anchor="ctr">
                    <a:lnL>
                      <a:noFill/>
                    </a:lnL>
                    <a:lnR>
                      <a:noFill/>
                    </a:lnR>
                    <a:lnT>
                      <a:noFill/>
                    </a:lnT>
                    <a:lnB>
                      <a:noFill/>
                    </a:lnB>
                    <a:noFill/>
                  </a:tcPr>
                </a:tc>
                <a:tc>
                  <a:txBody>
                    <a:bodyPr/>
                    <a:lstStyle/>
                    <a:p>
                      <a:r>
                        <a:rPr lang="en-US" sz="1100"/>
                        <a:t>Tuten &amp; Solomon (2021)</a:t>
                      </a:r>
                    </a:p>
                  </a:txBody>
                  <a:tcPr marL="37605" marR="37605" marT="18802" marB="18802" anchor="ctr">
                    <a:lnL>
                      <a:noFill/>
                    </a:lnL>
                    <a:lnR>
                      <a:noFill/>
                    </a:lnR>
                    <a:lnT>
                      <a:noFill/>
                    </a:lnT>
                    <a:lnB>
                      <a:noFill/>
                    </a:lnB>
                    <a:noFill/>
                  </a:tcPr>
                </a:tc>
                <a:extLst>
                  <a:ext uri="{0D108BD9-81ED-4DB2-BD59-A6C34878D82A}">
                    <a16:rowId xmlns:a16="http://schemas.microsoft.com/office/drawing/2014/main" val="1379594070"/>
                  </a:ext>
                </a:extLst>
              </a:tr>
              <a:tr h="553082">
                <a:tc>
                  <a:txBody>
                    <a:bodyPr/>
                    <a:lstStyle/>
                    <a:p>
                      <a:r>
                        <a:rPr lang="en-US" sz="1100"/>
                        <a:t>Brand Authenticity</a:t>
                      </a:r>
                    </a:p>
                  </a:txBody>
                  <a:tcPr marL="37605" marR="37605" marT="18802" marB="18802" anchor="ctr">
                    <a:lnL>
                      <a:noFill/>
                    </a:lnL>
                    <a:lnR>
                      <a:noFill/>
                    </a:lnR>
                    <a:lnT>
                      <a:noFill/>
                    </a:lnT>
                    <a:lnB>
                      <a:noFill/>
                    </a:lnB>
                    <a:noFill/>
                  </a:tcPr>
                </a:tc>
                <a:tc>
                  <a:txBody>
                    <a:bodyPr/>
                    <a:lstStyle/>
                    <a:p>
                      <a:r>
                        <a:rPr lang="en-US" sz="1100"/>
                        <a:t>The extent to which a brand is perceived as genuine (Napoli et al., 2014)</a:t>
                      </a:r>
                    </a:p>
                  </a:txBody>
                  <a:tcPr marL="37605" marR="37605" marT="18802" marB="18802" anchor="ctr">
                    <a:lnL>
                      <a:noFill/>
                    </a:lnL>
                    <a:lnR>
                      <a:noFill/>
                    </a:lnR>
                    <a:lnT>
                      <a:noFill/>
                    </a:lnT>
                    <a:lnB>
                      <a:noFill/>
                    </a:lnB>
                    <a:noFill/>
                  </a:tcPr>
                </a:tc>
                <a:tc>
                  <a:txBody>
                    <a:bodyPr/>
                    <a:lstStyle/>
                    <a:p>
                      <a:r>
                        <a:rPr lang="en-US" sz="1100" dirty="0"/>
                        <a:t>“This brand is true to its values.” “This brand is genuine.”</a:t>
                      </a:r>
                    </a:p>
                  </a:txBody>
                  <a:tcPr marL="37605" marR="37605" marT="18802" marB="18802" anchor="ctr">
                    <a:lnL>
                      <a:noFill/>
                    </a:lnL>
                    <a:lnR>
                      <a:noFill/>
                    </a:lnR>
                    <a:lnT>
                      <a:noFill/>
                    </a:lnT>
                    <a:lnB>
                      <a:noFill/>
                    </a:lnB>
                    <a:noFill/>
                  </a:tcPr>
                </a:tc>
                <a:tc>
                  <a:txBody>
                    <a:bodyPr/>
                    <a:lstStyle/>
                    <a:p>
                      <a:r>
                        <a:rPr lang="en-US" sz="1100"/>
                        <a:t>5-point Likert</a:t>
                      </a:r>
                    </a:p>
                  </a:txBody>
                  <a:tcPr marL="37605" marR="37605" marT="18802" marB="18802" anchor="ctr">
                    <a:lnL>
                      <a:noFill/>
                    </a:lnL>
                    <a:lnR>
                      <a:noFill/>
                    </a:lnR>
                    <a:lnT>
                      <a:noFill/>
                    </a:lnT>
                    <a:lnB>
                      <a:noFill/>
                    </a:lnB>
                    <a:noFill/>
                  </a:tcPr>
                </a:tc>
                <a:tc>
                  <a:txBody>
                    <a:bodyPr/>
                    <a:lstStyle/>
                    <a:p>
                      <a:r>
                        <a:rPr lang="en-US" sz="1100"/>
                        <a:t>Napoli et al. (2014)</a:t>
                      </a:r>
                    </a:p>
                  </a:txBody>
                  <a:tcPr marL="37605" marR="37605" marT="18802" marB="18802" anchor="ctr">
                    <a:lnL>
                      <a:noFill/>
                    </a:lnL>
                    <a:lnR>
                      <a:noFill/>
                    </a:lnR>
                    <a:lnT>
                      <a:noFill/>
                    </a:lnT>
                    <a:lnB>
                      <a:noFill/>
                    </a:lnB>
                    <a:noFill/>
                  </a:tcPr>
                </a:tc>
                <a:extLst>
                  <a:ext uri="{0D108BD9-81ED-4DB2-BD59-A6C34878D82A}">
                    <a16:rowId xmlns:a16="http://schemas.microsoft.com/office/drawing/2014/main" val="3861879013"/>
                  </a:ext>
                </a:extLst>
              </a:tr>
              <a:tr h="680716">
                <a:tc>
                  <a:txBody>
                    <a:bodyPr/>
                    <a:lstStyle/>
                    <a:p>
                      <a:r>
                        <a:rPr lang="en-US" sz="1100"/>
                        <a:t>e-WOM</a:t>
                      </a:r>
                    </a:p>
                  </a:txBody>
                  <a:tcPr marL="37605" marR="37605" marT="18802" marB="18802" anchor="ctr">
                    <a:lnL>
                      <a:noFill/>
                    </a:lnL>
                    <a:lnR>
                      <a:noFill/>
                    </a:lnR>
                    <a:lnT>
                      <a:noFill/>
                    </a:lnT>
                    <a:lnB>
                      <a:noFill/>
                    </a:lnB>
                    <a:noFill/>
                  </a:tcPr>
                </a:tc>
                <a:tc>
                  <a:txBody>
                    <a:bodyPr/>
                    <a:lstStyle/>
                    <a:p>
                      <a:r>
                        <a:rPr lang="en-US" sz="1100"/>
                        <a:t>Consumer sharing of brand information online (Hennig-Thurau et al., 2004)</a:t>
                      </a:r>
                    </a:p>
                  </a:txBody>
                  <a:tcPr marL="37605" marR="37605" marT="18802" marB="18802" anchor="ctr">
                    <a:lnL>
                      <a:noFill/>
                    </a:lnL>
                    <a:lnR>
                      <a:noFill/>
                    </a:lnR>
                    <a:lnT>
                      <a:noFill/>
                    </a:lnT>
                    <a:lnB>
                      <a:noFill/>
                    </a:lnB>
                    <a:noFill/>
                  </a:tcPr>
                </a:tc>
                <a:tc>
                  <a:txBody>
                    <a:bodyPr/>
                    <a:lstStyle/>
                    <a:p>
                      <a:r>
                        <a:rPr lang="en-US" sz="1100"/>
                        <a:t>“I often read online reviews about this brand.” “I would recommend this brand online.”</a:t>
                      </a:r>
                    </a:p>
                  </a:txBody>
                  <a:tcPr marL="37605" marR="37605" marT="18802" marB="18802" anchor="ctr">
                    <a:lnL>
                      <a:noFill/>
                    </a:lnL>
                    <a:lnR>
                      <a:noFill/>
                    </a:lnR>
                    <a:lnT>
                      <a:noFill/>
                    </a:lnT>
                    <a:lnB>
                      <a:noFill/>
                    </a:lnB>
                    <a:noFill/>
                  </a:tcPr>
                </a:tc>
                <a:tc>
                  <a:txBody>
                    <a:bodyPr/>
                    <a:lstStyle/>
                    <a:p>
                      <a:r>
                        <a:rPr lang="en-US" sz="1100"/>
                        <a:t>5-point Likert</a:t>
                      </a:r>
                    </a:p>
                  </a:txBody>
                  <a:tcPr marL="37605" marR="37605" marT="18802" marB="18802" anchor="ctr">
                    <a:lnL>
                      <a:noFill/>
                    </a:lnL>
                    <a:lnR>
                      <a:noFill/>
                    </a:lnR>
                    <a:lnT>
                      <a:noFill/>
                    </a:lnT>
                    <a:lnB>
                      <a:noFill/>
                    </a:lnB>
                    <a:noFill/>
                  </a:tcPr>
                </a:tc>
                <a:tc>
                  <a:txBody>
                    <a:bodyPr/>
                    <a:lstStyle/>
                    <a:p>
                      <a:r>
                        <a:rPr lang="en-US" sz="1100"/>
                        <a:t>Hennig-Thurau et al. (2004)</a:t>
                      </a:r>
                    </a:p>
                  </a:txBody>
                  <a:tcPr marL="37605" marR="37605" marT="18802" marB="18802" anchor="ctr">
                    <a:lnL>
                      <a:noFill/>
                    </a:lnL>
                    <a:lnR>
                      <a:noFill/>
                    </a:lnR>
                    <a:lnT>
                      <a:noFill/>
                    </a:lnT>
                    <a:lnB>
                      <a:noFill/>
                    </a:lnB>
                    <a:noFill/>
                  </a:tcPr>
                </a:tc>
                <a:extLst>
                  <a:ext uri="{0D108BD9-81ED-4DB2-BD59-A6C34878D82A}">
                    <a16:rowId xmlns:a16="http://schemas.microsoft.com/office/drawing/2014/main" val="2307652545"/>
                  </a:ext>
                </a:extLst>
              </a:tr>
              <a:tr h="935984">
                <a:tc>
                  <a:txBody>
                    <a:bodyPr/>
                    <a:lstStyle/>
                    <a:p>
                      <a:r>
                        <a:rPr lang="en-US" sz="1100" dirty="0"/>
                        <a:t>Brand Engagement</a:t>
                      </a:r>
                    </a:p>
                  </a:txBody>
                  <a:tcPr marL="37605" marR="37605" marT="18802" marB="18802" anchor="ctr">
                    <a:lnL>
                      <a:noFill/>
                    </a:lnL>
                    <a:lnR>
                      <a:noFill/>
                    </a:lnR>
                    <a:lnT>
                      <a:noFill/>
                    </a:lnT>
                    <a:lnB>
                      <a:noFill/>
                    </a:lnB>
                    <a:noFill/>
                  </a:tcPr>
                </a:tc>
                <a:tc>
                  <a:txBody>
                    <a:bodyPr/>
                    <a:lstStyle/>
                    <a:p>
                      <a:r>
                        <a:rPr lang="en-US" sz="1100" dirty="0"/>
                        <a:t>The cognitive, emotional, and behavioral connection with a brand (Brodie et al., 2011)</a:t>
                      </a:r>
                    </a:p>
                  </a:txBody>
                  <a:tcPr marL="37605" marR="37605" marT="18802" marB="18802" anchor="ctr">
                    <a:lnL>
                      <a:noFill/>
                    </a:lnL>
                    <a:lnR>
                      <a:noFill/>
                    </a:lnR>
                    <a:lnT>
                      <a:noFill/>
                    </a:lnT>
                    <a:lnB>
                      <a:noFill/>
                    </a:lnB>
                    <a:noFill/>
                  </a:tcPr>
                </a:tc>
                <a:tc>
                  <a:txBody>
                    <a:bodyPr/>
                    <a:lstStyle/>
                    <a:p>
                      <a:r>
                        <a:rPr lang="en-US" sz="1100" dirty="0"/>
                        <a:t>“I am actively involved with this brand’s online community.” “I feel emotionally connected to this brand.”</a:t>
                      </a:r>
                    </a:p>
                  </a:txBody>
                  <a:tcPr marL="37605" marR="37605" marT="18802" marB="18802" anchor="ctr">
                    <a:lnL>
                      <a:noFill/>
                    </a:lnL>
                    <a:lnR>
                      <a:noFill/>
                    </a:lnR>
                    <a:lnT>
                      <a:noFill/>
                    </a:lnT>
                    <a:lnB>
                      <a:noFill/>
                    </a:lnB>
                    <a:noFill/>
                  </a:tcPr>
                </a:tc>
                <a:tc>
                  <a:txBody>
                    <a:bodyPr/>
                    <a:lstStyle/>
                    <a:p>
                      <a:r>
                        <a:rPr lang="en-US" sz="1100" dirty="0"/>
                        <a:t>5-point Likert</a:t>
                      </a:r>
                    </a:p>
                  </a:txBody>
                  <a:tcPr marL="37605" marR="37605" marT="18802" marB="18802" anchor="ctr">
                    <a:lnL>
                      <a:noFill/>
                    </a:lnL>
                    <a:lnR>
                      <a:noFill/>
                    </a:lnR>
                    <a:lnT>
                      <a:noFill/>
                    </a:lnT>
                    <a:lnB>
                      <a:noFill/>
                    </a:lnB>
                    <a:noFill/>
                  </a:tcPr>
                </a:tc>
                <a:tc>
                  <a:txBody>
                    <a:bodyPr/>
                    <a:lstStyle/>
                    <a:p>
                      <a:r>
                        <a:rPr lang="en-US" sz="1100"/>
                        <a:t>Brodie et al. (2011)</a:t>
                      </a:r>
                    </a:p>
                  </a:txBody>
                  <a:tcPr marL="37605" marR="37605" marT="18802" marB="18802" anchor="ctr">
                    <a:lnL>
                      <a:noFill/>
                    </a:lnL>
                    <a:lnR>
                      <a:noFill/>
                    </a:lnR>
                    <a:lnT>
                      <a:noFill/>
                    </a:lnT>
                    <a:lnB>
                      <a:noFill/>
                    </a:lnB>
                    <a:noFill/>
                  </a:tcPr>
                </a:tc>
                <a:extLst>
                  <a:ext uri="{0D108BD9-81ED-4DB2-BD59-A6C34878D82A}">
                    <a16:rowId xmlns:a16="http://schemas.microsoft.com/office/drawing/2014/main" val="3075061531"/>
                  </a:ext>
                </a:extLst>
              </a:tr>
              <a:tr h="680716">
                <a:tc>
                  <a:txBody>
                    <a:bodyPr/>
                    <a:lstStyle/>
                    <a:p>
                      <a:r>
                        <a:rPr lang="en-US" sz="1100"/>
                        <a:t>Consumer Trust</a:t>
                      </a:r>
                    </a:p>
                  </a:txBody>
                  <a:tcPr marL="37605" marR="37605" marT="18802" marB="18802" anchor="ctr">
                    <a:lnL>
                      <a:noFill/>
                    </a:lnL>
                    <a:lnR>
                      <a:noFill/>
                    </a:lnR>
                    <a:lnT>
                      <a:noFill/>
                    </a:lnT>
                    <a:lnB>
                      <a:noFill/>
                    </a:lnB>
                    <a:noFill/>
                  </a:tcPr>
                </a:tc>
                <a:tc>
                  <a:txBody>
                    <a:bodyPr/>
                    <a:lstStyle/>
                    <a:p>
                      <a:r>
                        <a:rPr lang="en-US" sz="1100"/>
                        <a:t>The willingness to rely on a brand’s actions (Morgan &amp; Hunt, 1994)</a:t>
                      </a:r>
                    </a:p>
                  </a:txBody>
                  <a:tcPr marL="37605" marR="37605" marT="18802" marB="18802" anchor="ctr">
                    <a:lnL>
                      <a:noFill/>
                    </a:lnL>
                    <a:lnR>
                      <a:noFill/>
                    </a:lnR>
                    <a:lnT>
                      <a:noFill/>
                    </a:lnT>
                    <a:lnB>
                      <a:noFill/>
                    </a:lnB>
                    <a:noFill/>
                  </a:tcPr>
                </a:tc>
                <a:tc>
                  <a:txBody>
                    <a:bodyPr/>
                    <a:lstStyle/>
                    <a:p>
                      <a:r>
                        <a:rPr lang="en-US" sz="1100"/>
                        <a:t>“I trust this brand to keep its promises.” “I consider this brand reliable.”</a:t>
                      </a:r>
                    </a:p>
                  </a:txBody>
                  <a:tcPr marL="37605" marR="37605" marT="18802" marB="18802" anchor="ctr">
                    <a:lnL>
                      <a:noFill/>
                    </a:lnL>
                    <a:lnR>
                      <a:noFill/>
                    </a:lnR>
                    <a:lnT>
                      <a:noFill/>
                    </a:lnT>
                    <a:lnB>
                      <a:noFill/>
                    </a:lnB>
                    <a:noFill/>
                  </a:tcPr>
                </a:tc>
                <a:tc>
                  <a:txBody>
                    <a:bodyPr/>
                    <a:lstStyle/>
                    <a:p>
                      <a:r>
                        <a:rPr lang="en-US" sz="1100" dirty="0"/>
                        <a:t>5-point Likert</a:t>
                      </a:r>
                    </a:p>
                  </a:txBody>
                  <a:tcPr marL="37605" marR="37605" marT="18802" marB="18802" anchor="ctr">
                    <a:lnL>
                      <a:noFill/>
                    </a:lnL>
                    <a:lnR>
                      <a:noFill/>
                    </a:lnR>
                    <a:lnT>
                      <a:noFill/>
                    </a:lnT>
                    <a:lnB>
                      <a:noFill/>
                    </a:lnB>
                    <a:noFill/>
                  </a:tcPr>
                </a:tc>
                <a:tc>
                  <a:txBody>
                    <a:bodyPr/>
                    <a:lstStyle/>
                    <a:p>
                      <a:r>
                        <a:rPr lang="en-US" sz="1100" dirty="0"/>
                        <a:t>Morgan &amp; Hunt (1994)</a:t>
                      </a:r>
                    </a:p>
                  </a:txBody>
                  <a:tcPr marL="37605" marR="37605" marT="18802" marB="18802" anchor="ctr">
                    <a:lnL>
                      <a:noFill/>
                    </a:lnL>
                    <a:lnR>
                      <a:noFill/>
                    </a:lnR>
                    <a:lnT>
                      <a:noFill/>
                    </a:lnT>
                    <a:lnB>
                      <a:noFill/>
                    </a:lnB>
                    <a:noFill/>
                  </a:tcPr>
                </a:tc>
                <a:extLst>
                  <a:ext uri="{0D108BD9-81ED-4DB2-BD59-A6C34878D82A}">
                    <a16:rowId xmlns:a16="http://schemas.microsoft.com/office/drawing/2014/main" val="4180181846"/>
                  </a:ext>
                </a:extLst>
              </a:tr>
            </a:tbl>
          </a:graphicData>
        </a:graphic>
      </p:graphicFrame>
    </p:spTree>
    <p:extLst>
      <p:ext uri="{BB962C8B-B14F-4D97-AF65-F5344CB8AC3E}">
        <p14:creationId xmlns:p14="http://schemas.microsoft.com/office/powerpoint/2010/main" val="37365773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22C5-0C9E-B582-A8FE-B45E70A01E7F}"/>
              </a:ext>
            </a:extLst>
          </p:cNvPr>
          <p:cNvSpPr>
            <a:spLocks noGrp="1"/>
          </p:cNvSpPr>
          <p:nvPr>
            <p:ph type="ctrTitle"/>
          </p:nvPr>
        </p:nvSpPr>
        <p:spPr>
          <a:xfrm>
            <a:off x="914401" y="849782"/>
            <a:ext cx="5715000" cy="2727709"/>
          </a:xfrm>
        </p:spPr>
        <p:txBody>
          <a:bodyPr/>
          <a:lstStyle/>
          <a:p>
            <a:r>
              <a:rPr lang="en-US" dirty="0"/>
              <a:t>Thank </a:t>
            </a:r>
            <a:br>
              <a:rPr lang="en-US" dirty="0"/>
            </a:br>
            <a:r>
              <a:rPr lang="en-US" dirty="0"/>
              <a:t>you</a:t>
            </a:r>
          </a:p>
        </p:txBody>
      </p:sp>
      <p:sp>
        <p:nvSpPr>
          <p:cNvPr id="3" name="Subtitle 2">
            <a:extLst>
              <a:ext uri="{FF2B5EF4-FFF2-40B4-BE49-F238E27FC236}">
                <a16:creationId xmlns:a16="http://schemas.microsoft.com/office/drawing/2014/main" id="{D8B5CEF2-E667-BBB5-2EA6-C06F93B6DE12}"/>
              </a:ext>
            </a:extLst>
          </p:cNvPr>
          <p:cNvSpPr>
            <a:spLocks noGrp="1"/>
          </p:cNvSpPr>
          <p:nvPr>
            <p:ph type="subTitle" idx="1"/>
          </p:nvPr>
        </p:nvSpPr>
        <p:spPr>
          <a:xfrm>
            <a:off x="914401" y="3813606"/>
            <a:ext cx="5715000" cy="2234642"/>
          </a:xfrm>
        </p:spPr>
        <p:txBody>
          <a:bodyPr/>
          <a:lstStyle/>
          <a:p>
            <a:r>
              <a:rPr lang="en-US" sz="1800" dirty="0">
                <a:effectLst/>
                <a:latin typeface="Calibri" panose="020F0502020204030204" pitchFamily="34" charset="0"/>
                <a:ea typeface="等线" panose="02010600030101010101" pitchFamily="2" charset="-122"/>
                <a:cs typeface="Cordia New" panose="020B0304020202020204" pitchFamily="34" charset="-34"/>
              </a:rPr>
              <a:t>Faculty member of </a:t>
            </a:r>
            <a:r>
              <a:rPr lang="en-US" sz="1800" dirty="0">
                <a:latin typeface="Calibri" panose="020F0502020204030204" pitchFamily="34" charset="0"/>
                <a:ea typeface="等线" panose="02010600030101010101" pitchFamily="2" charset="-122"/>
                <a:cs typeface="Cordia New" panose="020B0304020202020204" pitchFamily="34" charset="-34"/>
              </a:rPr>
              <a:t>ITM</a:t>
            </a:r>
            <a:endParaRPr lang="en-US" sz="1800" dirty="0">
              <a:effectLst/>
              <a:latin typeface="Calibri" panose="020F0502020204030204" pitchFamily="34" charset="0"/>
              <a:ea typeface="等线" panose="02010600030101010101" pitchFamily="2" charset="-122"/>
              <a:cs typeface="Cordia New" panose="020B0304020202020204" pitchFamily="34" charset="-34"/>
            </a:endParaRPr>
          </a:p>
          <a:p>
            <a:r>
              <a:rPr lang="en-US" sz="1800" dirty="0">
                <a:effectLst/>
                <a:latin typeface="Calibri" panose="020F0502020204030204" pitchFamily="34" charset="0"/>
                <a:ea typeface="宋体" panose="02010600030101010101" pitchFamily="2" charset="-122"/>
                <a:cs typeface="Cordia New" panose="020B0304020202020204" pitchFamily="34" charset="-34"/>
              </a:rPr>
              <a:t>guqizhen@au.edu</a:t>
            </a:r>
            <a:endParaRPr lang="en-US" dirty="0"/>
          </a:p>
        </p:txBody>
      </p:sp>
    </p:spTree>
    <p:extLst>
      <p:ext uri="{BB962C8B-B14F-4D97-AF65-F5344CB8AC3E}">
        <p14:creationId xmlns:p14="http://schemas.microsoft.com/office/powerpoint/2010/main" val="31045360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E3A02-F1CD-4EDC-6FC2-39B27D380670}"/>
              </a:ext>
            </a:extLst>
          </p:cNvPr>
          <p:cNvSpPr>
            <a:spLocks noGrp="1"/>
          </p:cNvSpPr>
          <p:nvPr>
            <p:ph type="ctrTitle"/>
          </p:nvPr>
        </p:nvSpPr>
        <p:spPr/>
        <p:txBody>
          <a:bodyPr/>
          <a:lstStyle/>
          <a:p>
            <a:r>
              <a:rPr lang="en-US" dirty="0"/>
              <a:t>G</a:t>
            </a:r>
            <a:r>
              <a:rPr lang="en-US" altLang="zh-CN" dirty="0"/>
              <a:t>uest speaker</a:t>
            </a:r>
            <a:br>
              <a:rPr lang="en-US" altLang="zh-CN" dirty="0"/>
            </a:br>
            <a:r>
              <a:rPr lang="en-US" altLang="zh-CN" dirty="0" err="1"/>
              <a:t>Prof.Dr.lars</a:t>
            </a:r>
            <a:endParaRPr lang="en-US" dirty="0"/>
          </a:p>
        </p:txBody>
      </p:sp>
      <p:sp>
        <p:nvSpPr>
          <p:cNvPr id="3" name="Subtitle 2">
            <a:extLst>
              <a:ext uri="{FF2B5EF4-FFF2-40B4-BE49-F238E27FC236}">
                <a16:creationId xmlns:a16="http://schemas.microsoft.com/office/drawing/2014/main" id="{B4155E92-D042-6CD2-7E36-36492A6570C7}"/>
              </a:ext>
            </a:extLst>
          </p:cNvPr>
          <p:cNvSpPr>
            <a:spLocks noGrp="1"/>
          </p:cNvSpPr>
          <p:nvPr>
            <p:ph type="subTitle" idx="1"/>
          </p:nvPr>
        </p:nvSpPr>
        <p:spPr/>
        <p:txBody>
          <a:bodyPr/>
          <a:lstStyle/>
          <a:p>
            <a:r>
              <a:rPr lang="en-US" dirty="0"/>
              <a:t>Wed,4 June 2025</a:t>
            </a:r>
          </a:p>
          <a:p>
            <a:r>
              <a:rPr lang="en-US" dirty="0"/>
              <a:t>AI BASED TECHNOLOGY AND SMART MARKETING</a:t>
            </a:r>
          </a:p>
          <a:p>
            <a:r>
              <a:rPr lang="en-US" dirty="0"/>
              <a:t>A72 HUAMAK CAMPUS, 10:00-11:45</a:t>
            </a:r>
          </a:p>
        </p:txBody>
      </p:sp>
    </p:spTree>
    <p:extLst>
      <p:ext uri="{BB962C8B-B14F-4D97-AF65-F5344CB8AC3E}">
        <p14:creationId xmlns:p14="http://schemas.microsoft.com/office/powerpoint/2010/main" val="2847660897"/>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16DBB56F-4362-4386-A1A1-3DF898896616}">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{273FF5E8-D330-4081-9A14-EF3138E780D2}tf78438558_win32</Template>
  <TotalTime>701</TotalTime>
  <Words>1813</Words>
  <Application>Microsoft Office PowerPoint</Application>
  <PresentationFormat>Widescreen</PresentationFormat>
  <Paragraphs>189</Paragraphs>
  <Slides>21</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Arial Black</vt:lpstr>
      <vt:lpstr>Calibri</vt:lpstr>
      <vt:lpstr>georgia</vt:lpstr>
      <vt:lpstr>Sabon Next LT</vt:lpstr>
      <vt:lpstr>Times New Roman</vt:lpstr>
      <vt:lpstr>Custom</vt:lpstr>
      <vt:lpstr>ITM7000 Master project</vt:lpstr>
      <vt:lpstr>RESEARCH PAPER</vt:lpstr>
      <vt:lpstr>Chapter 2 : Literature review</vt:lpstr>
      <vt:lpstr>Chapter 2 : Literature review</vt:lpstr>
      <vt:lpstr>Chapter 2 : Literature review</vt:lpstr>
      <vt:lpstr>Chapter 2 : Literature review</vt:lpstr>
      <vt:lpstr>Chapter 2 : Literature review</vt:lpstr>
      <vt:lpstr>Chapter 2 : Literature review</vt:lpstr>
      <vt:lpstr>Chapter 2 : Literature review</vt:lpstr>
      <vt:lpstr>Chapter 2 : Literature review</vt:lpstr>
      <vt:lpstr>Chapter 2 : Literature review</vt:lpstr>
      <vt:lpstr>Chapter 2 : Literature review</vt:lpstr>
      <vt:lpstr>Chapter 3 : Research framework</vt:lpstr>
      <vt:lpstr>Chapter 3 : Research framework</vt:lpstr>
      <vt:lpstr>Chapter 3 : Research framework</vt:lpstr>
      <vt:lpstr>Chapter 3 : Research framework</vt:lpstr>
      <vt:lpstr>Chapter 3 : Research framework</vt:lpstr>
      <vt:lpstr>Chapter 3 : Research framework</vt:lpstr>
      <vt:lpstr>Chapter 3 : Research framework</vt:lpstr>
      <vt:lpstr>Thank  you</vt:lpstr>
      <vt:lpstr>Guest speaker Prof.Dr.lars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Gu Qizhen</dc:creator>
  <cp:lastModifiedBy>Gu Qizhen</cp:lastModifiedBy>
  <cp:revision>9</cp:revision>
  <dcterms:created xsi:type="dcterms:W3CDTF">2025-05-18T09:29:06Z</dcterms:created>
  <dcterms:modified xsi:type="dcterms:W3CDTF">2025-05-31T08:33:05Z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